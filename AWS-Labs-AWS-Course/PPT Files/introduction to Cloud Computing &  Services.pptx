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05" r:id="rId2"/>
    <p:sldId id="406" r:id="rId3"/>
    <p:sldId id="367" r:id="rId4"/>
    <p:sldId id="346" r:id="rId5"/>
    <p:sldId id="384" r:id="rId6"/>
    <p:sldId id="393" r:id="rId7"/>
    <p:sldId id="385" r:id="rId8"/>
    <p:sldId id="386" r:id="rId9"/>
    <p:sldId id="387" r:id="rId10"/>
    <p:sldId id="388" r:id="rId11"/>
    <p:sldId id="389" r:id="rId12"/>
    <p:sldId id="362" r:id="rId13"/>
    <p:sldId id="40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1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A04F7-E117-4986-8CD6-C708654956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EABF0C-849D-4956-940C-C8E69B4C07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E8A211-BD30-44C5-A56D-9D4A58DC4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BB34A-61BF-4322-B9B3-4A4B0EBA3765}" type="datetimeFigureOut">
              <a:rPr lang="en-US" smtClean="0"/>
              <a:t>5/1/2021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89A700-3353-4420-9438-B6052E05B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0BE550-D067-43A5-A951-444138793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84523-6E08-46E5-92B4-78B745EDE0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431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9B072-3050-4CCD-A9A1-EF51F9482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ACC38F-F0B1-46C5-880C-84D1E7CBCE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4CD191-C82B-4E4F-B8D5-C0500E57F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BB34A-61BF-4322-B9B3-4A4B0EBA3765}" type="datetimeFigureOut">
              <a:rPr lang="en-US" smtClean="0"/>
              <a:t>5/1/2021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33F2D4-24FB-496E-A4DF-57A51D458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D591CC-922B-410A-B5C0-0C5ED32BA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84523-6E08-46E5-92B4-78B745EDE0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520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1DB2A-F0AD-4F97-B2F6-0D2F6171C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C16AEA-C5EC-4DD7-8DDC-7D4AA394AB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C17242-0001-474D-A203-19173A9D9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BB34A-61BF-4322-B9B3-4A4B0EBA3765}" type="datetimeFigureOut">
              <a:rPr lang="en-US" smtClean="0"/>
              <a:t>5/1/2021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6586D-5670-4855-875F-2E9664BC2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C8AA9D-1E5C-45D8-BFDD-77BD274F9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84523-6E08-46E5-92B4-78B745EDE0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2790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4E2AB-ECD5-45F1-926F-45DD663FE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823538-6C24-4DF6-A6BC-7E0814E01C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08EF7D-01C7-4F5D-B669-2DDD7A394B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AC14F9-4D16-41C2-990B-58C74BB18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BB34A-61BF-4322-B9B3-4A4B0EBA3765}" type="datetimeFigureOut">
              <a:rPr lang="en-US" smtClean="0"/>
              <a:t>5/1/2021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39EB3E-E45D-4F2A-9C56-103F2B4C1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34A2BA-C746-482F-9873-0D636C2D7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84523-6E08-46E5-92B4-78B745EDE0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80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FF0F3-96F4-48E1-B131-DF93D58DA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4AE4DE-90CD-49F5-8B11-A0C9AB3B1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76A361-E8FA-4834-A823-D544697C1F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033747-8CEC-4B0C-AFB7-F577BAA61B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71E863-4496-49DF-9B46-E071B2FC43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1DD85C-259D-46AD-9F23-BF70C4894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BB34A-61BF-4322-B9B3-4A4B0EBA3765}" type="datetimeFigureOut">
              <a:rPr lang="en-US" smtClean="0"/>
              <a:t>5/1/2021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5646B9-63C8-4032-85BC-D8E493AEE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6BBCB4-F381-45DC-9A04-4FC60AD43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84523-6E08-46E5-92B4-78B745EDE0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651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4EE17-E9FF-43AC-ADC7-44D1FB5D7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E781A6-CAAC-48CE-B31E-4637256A6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BB34A-61BF-4322-B9B3-4A4B0EBA3765}" type="datetimeFigureOut">
              <a:rPr lang="en-US" smtClean="0"/>
              <a:t>5/1/2021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FD64F6-ECE1-4EAA-A030-E41B7F6EF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4E78FF-7A7A-4D7D-BB35-3DFC37CC2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84523-6E08-46E5-92B4-78B745EDE0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529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34ED1E-9CB1-42E9-BB81-9594B4632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BB34A-61BF-4322-B9B3-4A4B0EBA3765}" type="datetimeFigureOut">
              <a:rPr lang="en-US" smtClean="0"/>
              <a:t>5/1/2021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7BE580-185E-49CC-B726-B98AFF2D1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1833EC-1244-4A3B-9DC8-7312B99E3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84523-6E08-46E5-92B4-78B745EDE0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24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9A65E-C7C1-4CD0-A9AD-CC50D6FED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331BFE-01FB-4A2D-BA73-458FA95E96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8E99BA-1D98-4E3D-9E18-6AD55A449B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A02521-FC0A-483B-A7B4-9329318C9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BB34A-61BF-4322-B9B3-4A4B0EBA3765}" type="datetimeFigureOut">
              <a:rPr lang="en-US" smtClean="0"/>
              <a:t>5/1/2021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05B662-DE78-459B-B978-A2AD3BC88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BA14E1-E43C-45FE-B249-9301C2F9D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84523-6E08-46E5-92B4-78B745EDE0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603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DF033-0391-4F45-B6B2-26DBE74BA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34DBD3-904B-4537-A000-816BFF419A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244C30-4D81-452D-BB1E-54BABB796E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3F725B-8D44-4370-8527-F85A7133B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BB34A-61BF-4322-B9B3-4A4B0EBA3765}" type="datetimeFigureOut">
              <a:rPr lang="en-US" smtClean="0"/>
              <a:t>5/1/2021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6469E5-C1C1-4BB2-A6DA-E29E476C7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B01176-B0CC-4676-A54F-4AF419E3C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84523-6E08-46E5-92B4-78B745EDE0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6200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699A9-413A-4CC3-A901-D9E9C8455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52D731-70E1-482F-989C-EBF3ACC8AF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A959D6-A68C-4659-8A91-24D02C545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BB34A-61BF-4322-B9B3-4A4B0EBA3765}" type="datetimeFigureOut">
              <a:rPr lang="en-US" smtClean="0"/>
              <a:t>5/1/2021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F262D1-4992-4639-A81C-7682D5DE4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88A30F-0672-46D1-A97A-3E85F6408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84523-6E08-46E5-92B4-78B745EDE0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596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CC3B32-628E-487D-891A-A52BD54436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2804B2-1E29-4DF4-80C2-062331B5C5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160CC-1E0C-4F97-A142-8AA296B61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BB34A-61BF-4322-B9B3-4A4B0EBA3765}" type="datetimeFigureOut">
              <a:rPr lang="en-US" smtClean="0"/>
              <a:t>5/1/2021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361E48-B973-43F7-848C-3B11168C7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7B5D2E-25B9-4B2A-B957-595F2C0E4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84523-6E08-46E5-92B4-78B745EDE0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73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426CD2-7DB4-4E14-9C03-C910E3ADB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BE61B4-D014-40CB-BDEC-C9066AB114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F9B775-8882-404B-8D26-884B463631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1BB34A-61BF-4322-B9B3-4A4B0EBA3765}" type="datetimeFigureOut">
              <a:rPr lang="en-US" smtClean="0"/>
              <a:t>5/1/2021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4C53F6-D9F8-43A6-99B7-B991802646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8E8636-D4A3-47C5-BC0C-1E1EBBB49A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84523-6E08-46E5-92B4-78B745EDE0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8398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BF9AD67-E017-4C8F-AF9D-7608CA215AA8}"/>
              </a:ext>
            </a:extLst>
          </p:cNvPr>
          <p:cNvSpPr/>
          <p:nvPr/>
        </p:nvSpPr>
        <p:spPr>
          <a:xfrm>
            <a:off x="0" y="0"/>
            <a:ext cx="12192000" cy="45719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0001DF-A15F-4E9F-997B-0BAFE18A7A80}"/>
              </a:ext>
            </a:extLst>
          </p:cNvPr>
          <p:cNvSpPr txBox="1"/>
          <p:nvPr/>
        </p:nvSpPr>
        <p:spPr>
          <a:xfrm>
            <a:off x="369452" y="985878"/>
            <a:ext cx="11822547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br>
              <a:rPr lang="en-US" b="0" dirty="0">
                <a:effectLst/>
              </a:rPr>
            </a:br>
            <a:br>
              <a:rPr lang="en-US" b="0" dirty="0">
                <a:effectLst/>
              </a:rPr>
            </a:b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Data Center Approach:</a:t>
            </a:r>
            <a:endParaRPr lang="en-US" b="1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br>
              <a:rPr lang="en-US" b="0" dirty="0">
                <a:effectLst/>
              </a:rPr>
            </a:br>
            <a:r>
              <a:rPr lang="en-US" sz="1800" b="1" i="0" u="sng" dirty="0"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Requirement</a:t>
            </a:r>
            <a:r>
              <a:rPr lang="en-US" sz="1800" b="1" i="0" u="none" strike="noStrike" dirty="0"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: 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Your company wants to host their website.</a:t>
            </a:r>
            <a:endParaRPr lang="en-US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</a:t>
            </a:r>
            <a:endParaRPr lang="en-US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800" b="1" i="0" u="sng" dirty="0"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Solution</a:t>
            </a:r>
            <a:r>
              <a:rPr lang="en-US" sz="1800" b="0" i="0" u="sng" dirty="0"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: </a:t>
            </a:r>
            <a:br>
              <a:rPr lang="en-US" sz="1800" b="0" i="0" u="sng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en-US" sz="1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              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System Administrator’s responsibility.</a:t>
            </a:r>
            <a:br>
              <a:rPr lang="en-US" dirty="0"/>
            </a:br>
            <a:r>
              <a:rPr lang="en-US" dirty="0"/>
              <a:t>	 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Arranging all the entire things.</a:t>
            </a:r>
          </a:p>
          <a:p>
            <a:pPr marL="28575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b="0" dirty="0">
              <a:effectLst/>
            </a:endParaRPr>
          </a:p>
          <a:p>
            <a:pPr marL="285750" indent="231775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sz="1800" i="0" u="none" strike="noStrike" dirty="0">
                <a:solidFill>
                  <a:srgbClr val="000000"/>
                </a:solidFill>
                <a:latin typeface="Arial" panose="020B0604020202020204" pitchFamily="34" charset="0"/>
              </a:rPr>
              <a:t> 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Choose the Datacenter / Hosting Provider.</a:t>
            </a:r>
            <a:endParaRPr lang="en-US" b="0" dirty="0">
              <a:effectLst/>
            </a:endParaRPr>
          </a:p>
          <a:p>
            <a:pPr marL="285750" indent="231775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 You need to typically send them an enquiry about your requirements.</a:t>
            </a:r>
            <a:endParaRPr lang="en-US" b="0" dirty="0">
              <a:effectLst/>
            </a:endParaRPr>
          </a:p>
          <a:p>
            <a:pPr marL="285750" indent="231775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 They will contact you and price negotiations.</a:t>
            </a:r>
            <a:endParaRPr lang="en-US" b="0" dirty="0">
              <a:effectLst/>
            </a:endParaRPr>
          </a:p>
          <a:p>
            <a:br>
              <a:rPr lang="en-US" dirty="0"/>
            </a:b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F544B6-BE91-44BB-8162-EC51043E8728}"/>
              </a:ext>
            </a:extLst>
          </p:cNvPr>
          <p:cNvSpPr txBox="1"/>
          <p:nvPr/>
        </p:nvSpPr>
        <p:spPr>
          <a:xfrm>
            <a:off x="0" y="507574"/>
            <a:ext cx="3777673" cy="407035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07000"/>
              </a:lnSpc>
              <a:spcAft>
                <a:spcPts val="2250"/>
              </a:spcAft>
              <a:defRPr sz="3200" b="1">
                <a:solidFill>
                  <a:srgbClr val="002060"/>
                </a:solidFill>
              </a:defRPr>
            </a:lvl1pPr>
          </a:lstStyle>
          <a:p>
            <a:r>
              <a:rPr lang="en-US" sz="2000" dirty="0">
                <a:solidFill>
                  <a:schemeClr val="bg1"/>
                </a:solidFill>
              </a:rPr>
              <a:t>Introduction to Cloud Computing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B736B62-4EA7-407C-A5A6-955D68CFE5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7078" y="1624805"/>
            <a:ext cx="3410961" cy="2266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B4530CF-15F3-4381-B405-A137E34717BC}"/>
              </a:ext>
            </a:extLst>
          </p:cNvPr>
          <p:cNvSpPr txBox="1"/>
          <p:nvPr/>
        </p:nvSpPr>
        <p:spPr>
          <a:xfrm>
            <a:off x="369452" y="4973025"/>
            <a:ext cx="694574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br>
              <a:rPr lang="en-US" b="0" dirty="0">
                <a:effectLst/>
              </a:rPr>
            </a:b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When there are any issues, the system administrator has to run</a:t>
            </a:r>
            <a:endParaRPr lang="en-US" b="0" dirty="0">
              <a:effectLst/>
            </a:endParaRPr>
          </a:p>
          <a:p>
            <a:br>
              <a:rPr lang="en-US" dirty="0"/>
            </a:br>
            <a:endParaRPr lang="en-US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4646E1A5-F809-4C0C-B507-CF34013052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7077" y="4355617"/>
            <a:ext cx="3410961" cy="2266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D70B2E8-C1C8-462F-8751-4921C1A12E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8054" y="147093"/>
            <a:ext cx="2203253" cy="970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363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BF9AD67-E017-4C8F-AF9D-7608CA215AA8}"/>
              </a:ext>
            </a:extLst>
          </p:cNvPr>
          <p:cNvSpPr/>
          <p:nvPr/>
        </p:nvSpPr>
        <p:spPr>
          <a:xfrm>
            <a:off x="0" y="0"/>
            <a:ext cx="12192000" cy="45719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0001DF-A15F-4E9F-997B-0BAFE18A7A80}"/>
              </a:ext>
            </a:extLst>
          </p:cNvPr>
          <p:cNvSpPr txBox="1"/>
          <p:nvPr/>
        </p:nvSpPr>
        <p:spPr>
          <a:xfrm>
            <a:off x="369453" y="1272113"/>
            <a:ext cx="11822547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b="0" dirty="0">
                <a:effectLst/>
              </a:rPr>
              <a:t>                                                                                </a:t>
            </a:r>
            <a:r>
              <a:rPr lang="en-US" b="1" dirty="0">
                <a:effectLst/>
              </a:rPr>
              <a:t> Challenges with Data Center Model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endParaRPr lang="en-US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solidFill>
                  <a:schemeClr val="tx2">
                    <a:lumMod val="75000"/>
                  </a:schemeClr>
                </a:solidFill>
                <a:effectLst/>
              </a:rPr>
              <a:t>Example 1:-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endParaRPr lang="en-US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b="0" dirty="0">
                <a:effectLst/>
              </a:rPr>
              <a:t>Due to some big promotion, server capacity needs to be increased from 4GB RAM to 32 GB RAM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endParaRPr lang="en-US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effectLst/>
              </a:rPr>
              <a:t>Data Center  Provider Way:- 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endParaRPr lang="en-US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b="0" dirty="0">
                <a:effectLst/>
              </a:rPr>
              <a:t>     		Buy a 32 GB RAM stick &amp; install it onto your server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endParaRPr lang="en-US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effectLst/>
              </a:rPr>
              <a:t>Hosting Provider Way:- 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endParaRPr lang="en-US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b="0" dirty="0">
                <a:effectLst/>
              </a:rPr>
              <a:t>		Raise a support ticket and expect a response within 15 minutes to 12 hours for a response.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b="0" dirty="0">
                <a:effectLst/>
              </a:rPr>
              <a:t>		Get the DC guys to resize your Server.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endParaRPr lang="en-US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effectLst/>
              </a:rPr>
              <a:t>Cloud Way:-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endParaRPr lang="en-US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b="0" dirty="0">
                <a:effectLst/>
              </a:rPr>
              <a:t>		Stop the Server &amp; change the instance size.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F544B6-BE91-44BB-8162-EC51043E8728}"/>
              </a:ext>
            </a:extLst>
          </p:cNvPr>
          <p:cNvSpPr txBox="1"/>
          <p:nvPr/>
        </p:nvSpPr>
        <p:spPr>
          <a:xfrm>
            <a:off x="0" y="507574"/>
            <a:ext cx="3777673" cy="407035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07000"/>
              </a:lnSpc>
              <a:spcAft>
                <a:spcPts val="2250"/>
              </a:spcAft>
              <a:defRPr sz="3200" b="1">
                <a:solidFill>
                  <a:srgbClr val="002060"/>
                </a:solidFill>
              </a:defRPr>
            </a:lvl1pPr>
          </a:lstStyle>
          <a:p>
            <a:r>
              <a:rPr lang="en-US" sz="2000" dirty="0">
                <a:solidFill>
                  <a:schemeClr val="bg1"/>
                </a:solidFill>
              </a:rPr>
              <a:t>Introduction to Cloud Computing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C4248B-1F7B-4952-BB5C-9263CCFEA6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8054" y="147093"/>
            <a:ext cx="2203253" cy="970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5621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BF9AD67-E017-4C8F-AF9D-7608CA215AA8}"/>
              </a:ext>
            </a:extLst>
          </p:cNvPr>
          <p:cNvSpPr/>
          <p:nvPr/>
        </p:nvSpPr>
        <p:spPr>
          <a:xfrm>
            <a:off x="0" y="0"/>
            <a:ext cx="12192000" cy="45719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D96998-52C3-48C0-86F6-7C308D81F4CE}"/>
              </a:ext>
            </a:extLst>
          </p:cNvPr>
          <p:cNvSpPr txBox="1"/>
          <p:nvPr/>
        </p:nvSpPr>
        <p:spPr>
          <a:xfrm>
            <a:off x="0" y="985669"/>
            <a:ext cx="2066544" cy="421654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07000"/>
              </a:lnSpc>
              <a:spcAft>
                <a:spcPts val="2250"/>
              </a:spcAft>
              <a:defRPr sz="3200" b="1">
                <a:solidFill>
                  <a:srgbClr val="002060"/>
                </a:solidFill>
              </a:defRPr>
            </a:lvl1pPr>
          </a:lstStyle>
          <a:p>
            <a:r>
              <a:rPr lang="en-US" sz="2000" dirty="0">
                <a:solidFill>
                  <a:schemeClr val="bg1"/>
                </a:solidFill>
              </a:rPr>
              <a:t>Cloud Computing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81889" y="1911371"/>
            <a:ext cx="1100632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Cloud computing provides access to shared computing resources e-g servers, storage, networks, applications, services etc.</a:t>
            </a:r>
          </a:p>
          <a:p>
            <a:r>
              <a:rPr lang="en-US" dirty="0"/>
              <a:t>Features of cloud include:-</a:t>
            </a:r>
          </a:p>
          <a:p>
            <a:pPr marL="742950" lvl="1" indent="-285750"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dirty="0"/>
              <a:t>On-demand self service</a:t>
            </a:r>
          </a:p>
          <a:p>
            <a:pPr marL="742950" lvl="1" indent="-285750"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dirty="0"/>
              <a:t>Network access</a:t>
            </a:r>
          </a:p>
          <a:p>
            <a:pPr marL="742950" lvl="1" indent="-285750"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dirty="0"/>
              <a:t>Resource pooling</a:t>
            </a:r>
          </a:p>
          <a:p>
            <a:pPr marL="742950" lvl="1" indent="-285750"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dirty="0"/>
              <a:t>Elasticity</a:t>
            </a:r>
          </a:p>
          <a:p>
            <a:pPr marL="742950" lvl="1" indent="-285750"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dirty="0"/>
              <a:t>Metered or measured service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1572" y="2272616"/>
            <a:ext cx="5227168" cy="473494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F1B9DA2-0101-4DF6-9209-435899791E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8054" y="147093"/>
            <a:ext cx="2203253" cy="970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8670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BF9AD67-E017-4C8F-AF9D-7608CA215AA8}"/>
              </a:ext>
            </a:extLst>
          </p:cNvPr>
          <p:cNvSpPr/>
          <p:nvPr/>
        </p:nvSpPr>
        <p:spPr>
          <a:xfrm>
            <a:off x="0" y="0"/>
            <a:ext cx="12192000" cy="45719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D96998-52C3-48C0-86F6-7C308D81F4CE}"/>
              </a:ext>
            </a:extLst>
          </p:cNvPr>
          <p:cNvSpPr txBox="1"/>
          <p:nvPr/>
        </p:nvSpPr>
        <p:spPr>
          <a:xfrm>
            <a:off x="0" y="1130218"/>
            <a:ext cx="2066544" cy="421654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07000"/>
              </a:lnSpc>
              <a:spcAft>
                <a:spcPts val="2250"/>
              </a:spcAft>
              <a:defRPr sz="3200" b="1">
                <a:solidFill>
                  <a:srgbClr val="002060"/>
                </a:solidFill>
              </a:defRPr>
            </a:lvl1pPr>
          </a:lstStyle>
          <a:p>
            <a:r>
              <a:rPr lang="en-US" sz="2000" dirty="0">
                <a:solidFill>
                  <a:schemeClr val="bg1"/>
                </a:solidFill>
              </a:rPr>
              <a:t>Cloud Computing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27" t="17874" r="7492" b="9075"/>
          <a:stretch/>
        </p:blipFill>
        <p:spPr>
          <a:xfrm>
            <a:off x="1232978" y="2056096"/>
            <a:ext cx="9726044" cy="463731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1226D81-1E3A-4BE3-BE7C-8D13265E79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8054" y="147093"/>
            <a:ext cx="2203253" cy="970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552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BF9AD67-E017-4C8F-AF9D-7608CA215AA8}"/>
              </a:ext>
            </a:extLst>
          </p:cNvPr>
          <p:cNvSpPr/>
          <p:nvPr/>
        </p:nvSpPr>
        <p:spPr>
          <a:xfrm>
            <a:off x="0" y="0"/>
            <a:ext cx="12192000" cy="45719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289EF8-308D-4A50-AF95-BDC9D896CDB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00" t="16808" b="3515"/>
          <a:stretch/>
        </p:blipFill>
        <p:spPr>
          <a:xfrm>
            <a:off x="1068369" y="1108907"/>
            <a:ext cx="10382258" cy="495014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A69DD73-1568-4004-A498-5D27588B92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8054" y="147093"/>
            <a:ext cx="2203253" cy="970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004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BF9AD67-E017-4C8F-AF9D-7608CA215AA8}"/>
              </a:ext>
            </a:extLst>
          </p:cNvPr>
          <p:cNvSpPr/>
          <p:nvPr/>
        </p:nvSpPr>
        <p:spPr>
          <a:xfrm>
            <a:off x="0" y="0"/>
            <a:ext cx="12192000" cy="45719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D96998-52C3-48C0-86F6-7C308D81F4CE}"/>
              </a:ext>
            </a:extLst>
          </p:cNvPr>
          <p:cNvSpPr txBox="1"/>
          <p:nvPr/>
        </p:nvSpPr>
        <p:spPr>
          <a:xfrm>
            <a:off x="0" y="1059778"/>
            <a:ext cx="2365821" cy="595932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07000"/>
              </a:lnSpc>
              <a:spcAft>
                <a:spcPts val="2250"/>
              </a:spcAft>
              <a:defRPr sz="3200" b="1">
                <a:solidFill>
                  <a:srgbClr val="002060"/>
                </a:solidFill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What Is IaaS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ACDB1BF-BE10-46B1-ADC7-FDF5074C55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6364" y="2149301"/>
            <a:ext cx="4124037" cy="41240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1AB9466-7A6C-41A3-943F-F6122F63DF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8054" y="147093"/>
            <a:ext cx="2203253" cy="970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194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BF9AD67-E017-4C8F-AF9D-7608CA215AA8}"/>
              </a:ext>
            </a:extLst>
          </p:cNvPr>
          <p:cNvSpPr/>
          <p:nvPr/>
        </p:nvSpPr>
        <p:spPr>
          <a:xfrm>
            <a:off x="0" y="0"/>
            <a:ext cx="12192000" cy="45719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15BA3D-41B4-4277-BDC3-B2B512243A26}"/>
              </a:ext>
            </a:extLst>
          </p:cNvPr>
          <p:cNvSpPr txBox="1"/>
          <p:nvPr/>
        </p:nvSpPr>
        <p:spPr>
          <a:xfrm>
            <a:off x="4225637" y="4294909"/>
            <a:ext cx="77585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D96998-52C3-48C0-86F6-7C308D81F4CE}"/>
              </a:ext>
            </a:extLst>
          </p:cNvPr>
          <p:cNvSpPr txBox="1"/>
          <p:nvPr/>
        </p:nvSpPr>
        <p:spPr>
          <a:xfrm>
            <a:off x="92364" y="640923"/>
            <a:ext cx="849745" cy="53290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07000"/>
              </a:lnSpc>
              <a:spcAft>
                <a:spcPts val="2250"/>
              </a:spcAft>
              <a:defRPr sz="3200" b="1">
                <a:solidFill>
                  <a:srgbClr val="002060"/>
                </a:solidFill>
              </a:defRPr>
            </a:lvl1pPr>
          </a:lstStyle>
          <a:p>
            <a:r>
              <a:rPr lang="en-US" sz="2800" dirty="0"/>
              <a:t>IaaS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051BBD-C94F-4FB3-8A19-C3694773F094}"/>
              </a:ext>
            </a:extLst>
          </p:cNvPr>
          <p:cNvSpPr txBox="1"/>
          <p:nvPr/>
        </p:nvSpPr>
        <p:spPr>
          <a:xfrm>
            <a:off x="378691" y="1339437"/>
            <a:ext cx="11905675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dirty="0"/>
              <a:t>Infrastructure as a Service is, where you have a hypervisor, you can provision virtual machines.</a:t>
            </a:r>
            <a:br>
              <a:rPr lang="en-US" dirty="0"/>
            </a:br>
            <a:endParaRPr lang="en-US" dirty="0"/>
          </a:p>
          <a:p>
            <a:pPr marL="285750" indent="-285750"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dirty="0"/>
              <a:t>Infrastructure as a Service could also be where you're actually renting the physical server itself.</a:t>
            </a:r>
            <a:br>
              <a:rPr lang="en-US" dirty="0"/>
            </a:br>
            <a:endParaRPr lang="en-US" dirty="0"/>
          </a:p>
          <a:p>
            <a:pPr marL="285750" indent="-285750"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dirty="0"/>
              <a:t>It's a couple of different definitions, but essentially it allows you to host an operating system on the cloud, which then is unique to you.</a:t>
            </a:r>
            <a:br>
              <a:rPr lang="en-US" dirty="0"/>
            </a:br>
            <a:endParaRPr lang="en-US" dirty="0"/>
          </a:p>
          <a:p>
            <a:pPr marL="285750" indent="-285750"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dirty="0"/>
              <a:t>Nobody else can log into it, you go in and then manage it yourself.</a:t>
            </a:r>
            <a:br>
              <a:rPr lang="en-US" dirty="0"/>
            </a:br>
            <a:endParaRPr lang="en-US" dirty="0"/>
          </a:p>
          <a:p>
            <a:pPr marL="285750" indent="-285750"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dirty="0"/>
              <a:t>So that's what Infrastructure as a Service is at a very high level.</a:t>
            </a:r>
            <a:br>
              <a:rPr lang="en-US" dirty="0"/>
            </a:br>
            <a:endParaRPr lang="en-US" dirty="0"/>
          </a:p>
          <a:p>
            <a:pPr marL="285750" indent="-285750"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dirty="0"/>
              <a:t>So with Infrastructure as a Service you only pay for what you use, so it depends on the model.</a:t>
            </a:r>
          </a:p>
          <a:p>
            <a:pPr marL="285750" indent="-285750"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dirty="0"/>
              <a:t>On Amazon, it's a per second billing model right now for Linux instances.</a:t>
            </a:r>
            <a:br>
              <a:rPr lang="en-US" dirty="0"/>
            </a:br>
            <a:endParaRPr lang="en-US" dirty="0"/>
          </a:p>
          <a:p>
            <a:pPr marL="285750" indent="-285750"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dirty="0"/>
              <a:t>Windows instances are on a per hour basis.</a:t>
            </a:r>
            <a:br>
              <a:rPr lang="en-US" dirty="0"/>
            </a:br>
            <a:endParaRPr lang="en-US" dirty="0"/>
          </a:p>
          <a:p>
            <a:pPr marL="285750" indent="-285750"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dirty="0"/>
              <a:t>The idea is there's no long-term or fixed contract.</a:t>
            </a:r>
            <a:br>
              <a:rPr lang="en-US" dirty="0"/>
            </a:br>
            <a:endParaRPr lang="en-US" dirty="0"/>
          </a:p>
          <a:p>
            <a:pPr marL="285750" indent="-285750"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dirty="0"/>
              <a:t>So if you need to stop using that service you can just power it down and you'll stop being billed for it.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5A17DDF-DECC-4C55-9BFF-F5AA650E57A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3" t="78057" b="73"/>
          <a:stretch/>
        </p:blipFill>
        <p:spPr>
          <a:xfrm>
            <a:off x="7647709" y="5028650"/>
            <a:ext cx="4544291" cy="9798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26B53C3-73C4-4063-BB1E-8199A1FF20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8054" y="147093"/>
            <a:ext cx="2203253" cy="970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216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BF9AD67-E017-4C8F-AF9D-7608CA215AA8}"/>
              </a:ext>
            </a:extLst>
          </p:cNvPr>
          <p:cNvSpPr/>
          <p:nvPr/>
        </p:nvSpPr>
        <p:spPr>
          <a:xfrm>
            <a:off x="0" y="0"/>
            <a:ext cx="12192000" cy="45719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D96998-52C3-48C0-86F6-7C308D81F4CE}"/>
              </a:ext>
            </a:extLst>
          </p:cNvPr>
          <p:cNvSpPr txBox="1"/>
          <p:nvPr/>
        </p:nvSpPr>
        <p:spPr>
          <a:xfrm>
            <a:off x="0" y="983024"/>
            <a:ext cx="2365821" cy="595932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07000"/>
              </a:lnSpc>
              <a:spcAft>
                <a:spcPts val="2250"/>
              </a:spcAft>
              <a:defRPr sz="3200" b="1">
                <a:solidFill>
                  <a:srgbClr val="002060"/>
                </a:solidFill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What Is PaaS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345A17-2DD8-4DC8-9273-BABC3601D9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4249" y="1680556"/>
            <a:ext cx="5534806" cy="48753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DC65484-471B-4AAA-A958-2B3EEDABF8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8054" y="147093"/>
            <a:ext cx="2203253" cy="970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830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BF9AD67-E017-4C8F-AF9D-7608CA215AA8}"/>
              </a:ext>
            </a:extLst>
          </p:cNvPr>
          <p:cNvSpPr/>
          <p:nvPr/>
        </p:nvSpPr>
        <p:spPr>
          <a:xfrm>
            <a:off x="0" y="0"/>
            <a:ext cx="12192000" cy="45719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15BA3D-41B4-4277-BDC3-B2B512243A26}"/>
              </a:ext>
            </a:extLst>
          </p:cNvPr>
          <p:cNvSpPr txBox="1"/>
          <p:nvPr/>
        </p:nvSpPr>
        <p:spPr>
          <a:xfrm>
            <a:off x="4225637" y="4294909"/>
            <a:ext cx="77585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D96998-52C3-48C0-86F6-7C308D81F4CE}"/>
              </a:ext>
            </a:extLst>
          </p:cNvPr>
          <p:cNvSpPr txBox="1"/>
          <p:nvPr/>
        </p:nvSpPr>
        <p:spPr>
          <a:xfrm>
            <a:off x="1" y="1006268"/>
            <a:ext cx="923636" cy="53290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07000"/>
              </a:lnSpc>
              <a:spcAft>
                <a:spcPts val="2250"/>
              </a:spcAft>
              <a:defRPr sz="3200" b="1">
                <a:solidFill>
                  <a:srgbClr val="002060"/>
                </a:solidFill>
              </a:defRPr>
            </a:lvl1pPr>
          </a:lstStyle>
          <a:p>
            <a:r>
              <a:rPr lang="en-US" sz="2800" dirty="0"/>
              <a:t>PaaS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051BBD-C94F-4FB3-8A19-C3694773F094}"/>
              </a:ext>
            </a:extLst>
          </p:cNvPr>
          <p:cNvSpPr txBox="1"/>
          <p:nvPr/>
        </p:nvSpPr>
        <p:spPr>
          <a:xfrm>
            <a:off x="508000" y="1717606"/>
            <a:ext cx="1190567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dirty="0"/>
              <a:t>Platform as a Service is basically something like Elastic Beanstalk.</a:t>
            </a:r>
          </a:p>
          <a:p>
            <a:pPr>
              <a:buClr>
                <a:srgbClr val="C00000"/>
              </a:buClr>
            </a:pPr>
            <a:endParaRPr lang="en-US" dirty="0"/>
          </a:p>
          <a:p>
            <a:pPr marL="285750" indent="-285750"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dirty="0"/>
              <a:t>This is where you don't necessarily know what resources you need but you've just got your code.</a:t>
            </a:r>
            <a:br>
              <a:rPr lang="en-US" dirty="0"/>
            </a:br>
            <a:endParaRPr lang="en-US" dirty="0"/>
          </a:p>
          <a:p>
            <a:pPr marL="285750" indent="-285750"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dirty="0"/>
              <a:t>You will then use Platform as a Service to go in and provision those resources for you.</a:t>
            </a:r>
            <a:br>
              <a:rPr lang="en-US" dirty="0"/>
            </a:br>
            <a:endParaRPr lang="en-US" dirty="0"/>
          </a:p>
          <a:p>
            <a:pPr marL="285750" indent="-285750"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dirty="0"/>
              <a:t>So Elastic Beanstalk will provision you, with elastic load balances, with EC2 instances, with databases etc.</a:t>
            </a:r>
            <a:br>
              <a:rPr lang="en-US" dirty="0"/>
            </a:br>
            <a:endParaRPr lang="en-US" dirty="0"/>
          </a:p>
          <a:p>
            <a:pPr marL="285750" indent="-285750"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dirty="0"/>
              <a:t>So Platform as a Service, Azure was really strong in the Platform as a Service market, but Elastic Beanstalk came out with Amazon.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21A268-152F-4AA9-8593-8CB274165F3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74" t="58054" b="19659"/>
          <a:stretch/>
        </p:blipFill>
        <p:spPr>
          <a:xfrm>
            <a:off x="6326908" y="5469702"/>
            <a:ext cx="5425786" cy="118998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D56E6D1-9754-412D-B316-4CF4236F7BA8}"/>
              </a:ext>
            </a:extLst>
          </p:cNvPr>
          <p:cNvSpPr txBox="1"/>
          <p:nvPr/>
        </p:nvSpPr>
        <p:spPr>
          <a:xfrm>
            <a:off x="1161473" y="4891615"/>
            <a:ext cx="24407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 u="none" strike="noStrike" dirty="0"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Google App Engine</a:t>
            </a:r>
            <a:endParaRPr lang="en-US" b="1"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4E0867F-961E-4DD1-8578-ED110528C1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8054" y="147093"/>
            <a:ext cx="2203253" cy="970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115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BF9AD67-E017-4C8F-AF9D-7608CA215AA8}"/>
              </a:ext>
            </a:extLst>
          </p:cNvPr>
          <p:cNvSpPr/>
          <p:nvPr/>
        </p:nvSpPr>
        <p:spPr>
          <a:xfrm>
            <a:off x="0" y="0"/>
            <a:ext cx="12192000" cy="45719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D96998-52C3-48C0-86F6-7C308D81F4CE}"/>
              </a:ext>
            </a:extLst>
          </p:cNvPr>
          <p:cNvSpPr txBox="1"/>
          <p:nvPr/>
        </p:nvSpPr>
        <p:spPr>
          <a:xfrm>
            <a:off x="0" y="1167751"/>
            <a:ext cx="2365821" cy="595932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07000"/>
              </a:lnSpc>
              <a:spcAft>
                <a:spcPts val="2250"/>
              </a:spcAft>
              <a:defRPr sz="3200" b="1">
                <a:solidFill>
                  <a:srgbClr val="002060"/>
                </a:solidFill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What Is SaaS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B28595A-B309-49AE-86BA-66B6F1C972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2190" y="2403763"/>
            <a:ext cx="9931400" cy="304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FF46808-C45E-4E07-BE7E-5988FC39ED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8054" y="147093"/>
            <a:ext cx="2203253" cy="970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756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BF9AD67-E017-4C8F-AF9D-7608CA215AA8}"/>
              </a:ext>
            </a:extLst>
          </p:cNvPr>
          <p:cNvSpPr/>
          <p:nvPr/>
        </p:nvSpPr>
        <p:spPr>
          <a:xfrm>
            <a:off x="0" y="0"/>
            <a:ext cx="12192000" cy="45719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15BA3D-41B4-4277-BDC3-B2B512243A26}"/>
              </a:ext>
            </a:extLst>
          </p:cNvPr>
          <p:cNvSpPr txBox="1"/>
          <p:nvPr/>
        </p:nvSpPr>
        <p:spPr>
          <a:xfrm>
            <a:off x="4225637" y="4294909"/>
            <a:ext cx="77585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D96998-52C3-48C0-86F6-7C308D81F4CE}"/>
              </a:ext>
            </a:extLst>
          </p:cNvPr>
          <p:cNvSpPr txBox="1"/>
          <p:nvPr/>
        </p:nvSpPr>
        <p:spPr>
          <a:xfrm>
            <a:off x="147782" y="432329"/>
            <a:ext cx="942110" cy="53290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07000"/>
              </a:lnSpc>
              <a:spcAft>
                <a:spcPts val="2250"/>
              </a:spcAft>
              <a:defRPr sz="3200" b="1">
                <a:solidFill>
                  <a:srgbClr val="002060"/>
                </a:solidFill>
              </a:defRPr>
            </a:lvl1pPr>
          </a:lstStyle>
          <a:p>
            <a:r>
              <a:rPr lang="en-US" sz="2800" dirty="0"/>
              <a:t>SaaS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051BBD-C94F-4FB3-8A19-C3694773F094}"/>
              </a:ext>
            </a:extLst>
          </p:cNvPr>
          <p:cNvSpPr txBox="1"/>
          <p:nvPr/>
        </p:nvSpPr>
        <p:spPr>
          <a:xfrm>
            <a:off x="374070" y="1120676"/>
            <a:ext cx="1190567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dirty="0"/>
              <a:t>Software as a Service is the easiest thing to understand, if you just think about something like Gmail.</a:t>
            </a:r>
            <a:br>
              <a:rPr lang="en-US" dirty="0"/>
            </a:br>
            <a:endParaRPr lang="en-US" dirty="0"/>
          </a:p>
          <a:p>
            <a:pPr marL="285750" indent="-285750"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dirty="0"/>
              <a:t>With Gmail all you worry about is the actual software.</a:t>
            </a:r>
            <a:br>
              <a:rPr lang="en-US" dirty="0"/>
            </a:br>
            <a:endParaRPr lang="en-US" dirty="0"/>
          </a:p>
          <a:p>
            <a:pPr marL="285750" indent="-285750"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dirty="0"/>
              <a:t>You worry about your inbox, you worry about spam filters, that sort of thing.</a:t>
            </a:r>
            <a:br>
              <a:rPr lang="en-US" dirty="0"/>
            </a:br>
            <a:endParaRPr lang="en-US" dirty="0"/>
          </a:p>
          <a:p>
            <a:pPr marL="285750" indent="-285750"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dirty="0"/>
              <a:t>You're not worried about the underlying servers</a:t>
            </a:r>
            <a:br>
              <a:rPr lang="en-US" dirty="0"/>
            </a:br>
            <a:endParaRPr lang="en-US" dirty="0"/>
          </a:p>
          <a:p>
            <a:pPr marL="285750" indent="-285750"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dirty="0"/>
              <a:t>That's Google's problem.</a:t>
            </a:r>
            <a:br>
              <a:rPr lang="en-US" dirty="0"/>
            </a:br>
            <a:endParaRPr lang="en-US" dirty="0"/>
          </a:p>
          <a:p>
            <a:pPr marL="285750" indent="-285750"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dirty="0"/>
              <a:t>You don't have to worry about how they load balance it, how they provide high availability, how they do their DNS reading, all of that.</a:t>
            </a:r>
            <a:br>
              <a:rPr lang="en-US" dirty="0"/>
            </a:br>
            <a:endParaRPr lang="en-US" dirty="0"/>
          </a:p>
          <a:p>
            <a:pPr marL="285750" indent="-285750"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dirty="0"/>
              <a:t>Software as a Service is where you just focus on the actual software itself.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B8F7F0-FFE7-47C9-AF4B-7AD23A6EAAF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8" t="35549" b="40058"/>
          <a:stretch/>
        </p:blipFill>
        <p:spPr>
          <a:xfrm>
            <a:off x="6539345" y="5561354"/>
            <a:ext cx="4547754" cy="105436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409E819-F110-4810-B618-74ECF02B56EC}"/>
              </a:ext>
            </a:extLst>
          </p:cNvPr>
          <p:cNvSpPr txBox="1"/>
          <p:nvPr/>
        </p:nvSpPr>
        <p:spPr>
          <a:xfrm>
            <a:off x="1283855" y="5765371"/>
            <a:ext cx="61698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i="0" u="none" strike="noStrike" dirty="0"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Google Docs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i="0" u="none" strike="noStrike" dirty="0"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Office 365</a:t>
            </a:r>
            <a:endParaRPr lang="en-US" b="1"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012DB34-3CE0-4852-A696-73F51BC025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8054" y="147093"/>
            <a:ext cx="2203253" cy="970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277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BF9AD67-E017-4C8F-AF9D-7608CA215AA8}"/>
              </a:ext>
            </a:extLst>
          </p:cNvPr>
          <p:cNvSpPr/>
          <p:nvPr/>
        </p:nvSpPr>
        <p:spPr>
          <a:xfrm>
            <a:off x="0" y="0"/>
            <a:ext cx="12192000" cy="45719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D96998-52C3-48C0-86F6-7C308D81F4CE}"/>
              </a:ext>
            </a:extLst>
          </p:cNvPr>
          <p:cNvSpPr txBox="1"/>
          <p:nvPr/>
        </p:nvSpPr>
        <p:spPr>
          <a:xfrm>
            <a:off x="0" y="634992"/>
            <a:ext cx="3703320" cy="421654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07000"/>
              </a:lnSpc>
              <a:spcAft>
                <a:spcPts val="2250"/>
              </a:spcAft>
              <a:defRPr sz="3200" b="1">
                <a:solidFill>
                  <a:srgbClr val="002060"/>
                </a:solidFill>
              </a:defRPr>
            </a:lvl1pPr>
          </a:lstStyle>
          <a:p>
            <a:r>
              <a:rPr lang="en-US" sz="2000" dirty="0">
                <a:solidFill>
                  <a:schemeClr val="bg1"/>
                </a:solidFill>
              </a:rPr>
              <a:t>Difference b/w IaaS, PaaS &amp; SaaS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27" t="19071" r="14546" b="6262"/>
          <a:stretch/>
        </p:blipFill>
        <p:spPr>
          <a:xfrm>
            <a:off x="1746226" y="1645920"/>
            <a:ext cx="9273441" cy="52120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2CBADDF-35AB-46AA-8A63-D8285301CB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8054" y="147093"/>
            <a:ext cx="2203253" cy="970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114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BF9AD67-E017-4C8F-AF9D-7608CA215AA8}"/>
              </a:ext>
            </a:extLst>
          </p:cNvPr>
          <p:cNvSpPr/>
          <p:nvPr/>
        </p:nvSpPr>
        <p:spPr>
          <a:xfrm>
            <a:off x="0" y="0"/>
            <a:ext cx="12192000" cy="45719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15BA3D-41B4-4277-BDC3-B2B512243A26}"/>
              </a:ext>
            </a:extLst>
          </p:cNvPr>
          <p:cNvSpPr txBox="1"/>
          <p:nvPr/>
        </p:nvSpPr>
        <p:spPr>
          <a:xfrm>
            <a:off x="4225637" y="4294909"/>
            <a:ext cx="77585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D96998-52C3-48C0-86F6-7C308D81F4CE}"/>
              </a:ext>
            </a:extLst>
          </p:cNvPr>
          <p:cNvSpPr txBox="1"/>
          <p:nvPr/>
        </p:nvSpPr>
        <p:spPr>
          <a:xfrm>
            <a:off x="78506" y="434445"/>
            <a:ext cx="7065818" cy="5959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07000"/>
              </a:lnSpc>
              <a:spcAft>
                <a:spcPts val="2250"/>
              </a:spcAft>
              <a:defRPr sz="3200" b="1"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Architecture of Cloud Environments</a:t>
            </a:r>
            <a:endParaRPr lang="en-US" sz="28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23B1656-586A-4EC0-A4FD-1EAB48D0E0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364" y="3306618"/>
            <a:ext cx="6908799" cy="3324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1FA5457-ED97-4EA5-A032-0473610494CB}"/>
              </a:ext>
            </a:extLst>
          </p:cNvPr>
          <p:cNvSpPr txBox="1"/>
          <p:nvPr/>
        </p:nvSpPr>
        <p:spPr>
          <a:xfrm>
            <a:off x="474807" y="1247921"/>
            <a:ext cx="1190567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dirty="0"/>
              <a:t>The cloud from behind the scenes is the data center only.</a:t>
            </a:r>
          </a:p>
          <a:p>
            <a:pPr marL="285750" indent="-285750">
              <a:buClr>
                <a:srgbClr val="C00000"/>
              </a:buClr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dirty="0"/>
              <a:t>Virtualization Technology plays a very important role in Cloud Computing.</a:t>
            </a:r>
          </a:p>
          <a:p>
            <a:pPr marL="285750" indent="-28575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dirty="0"/>
              <a:t>Virtualization allows us to run multiple OS on a single hardware.</a:t>
            </a:r>
          </a:p>
          <a:p>
            <a:pPr marL="285750" indent="-28575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spcBef>
                <a:spcPts val="0"/>
              </a:spcBef>
              <a:spcAft>
                <a:spcPts val="0"/>
              </a:spcAft>
              <a:buClr>
                <a:srgbClr val="C00000"/>
              </a:buClr>
            </a:pPr>
            <a:r>
              <a:rPr lang="en-US" dirty="0"/>
              <a:t>       There are many virtualization software available like:</a:t>
            </a:r>
            <a:br>
              <a:rPr lang="en-US" dirty="0"/>
            </a:br>
            <a:endParaRPr lang="en-US" dirty="0"/>
          </a:p>
          <a:p>
            <a:pPr marL="628650" rtl="0" fontAlgn="base">
              <a:spcBef>
                <a:spcPts val="0"/>
              </a:spcBef>
              <a:spcAft>
                <a:spcPts val="0"/>
              </a:spcAft>
            </a:pPr>
            <a:r>
              <a:rPr lang="en-US" sz="1800" i="0" u="none" strike="noStrike" dirty="0">
                <a:solidFill>
                  <a:srgbClr val="000000"/>
                </a:solidFill>
                <a:latin typeface="Arial" panose="020B0604020202020204" pitchFamily="34" charset="0"/>
              </a:rPr>
              <a:t>   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VMware Workstation / vSphere</a:t>
            </a:r>
          </a:p>
          <a:p>
            <a:pPr marL="628650" rtl="0" fontAlgn="base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   KVM</a:t>
            </a:r>
          </a:p>
          <a:p>
            <a:pPr marL="628650" rtl="0" fontAlgn="base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   XEN</a:t>
            </a:r>
          </a:p>
          <a:p>
            <a:pPr marL="628650" rtl="0" fontAlgn="base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   VirtualBox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3E7581F-10C9-4E09-A6E1-364054C1A5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8054" y="147093"/>
            <a:ext cx="2203253" cy="970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696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708</Words>
  <Application>Microsoft Office PowerPoint</Application>
  <PresentationFormat>Widescreen</PresentationFormat>
  <Paragraphs>85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Hamad</dc:creator>
  <cp:lastModifiedBy>Hamad</cp:lastModifiedBy>
  <cp:revision>6</cp:revision>
  <dcterms:created xsi:type="dcterms:W3CDTF">2020-12-20T17:51:50Z</dcterms:created>
  <dcterms:modified xsi:type="dcterms:W3CDTF">2021-05-01T00:16:39Z</dcterms:modified>
</cp:coreProperties>
</file>