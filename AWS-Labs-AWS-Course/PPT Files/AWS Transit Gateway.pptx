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E28A-E8D9-90FB-E627-BE29437AE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9C0F7-2471-E1D6-8AB4-171A62678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9F960-F7D7-2C9A-EA59-4756C13D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41823-2FBD-6FDB-93B2-EBA9451A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40A59-E83C-4CCD-A242-5AB04B62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6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23D4D-1822-D348-73B8-ABF578996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A6C2-87CA-D451-9C0B-C191EC04B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585EA-F845-3DD0-096A-105257DE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BD3ED-EB5D-14C6-DD5E-848DF72B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377B0-2A1D-62E3-CCBA-386C10A6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1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FDEC-B758-AD0E-9BF8-F44F54431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CCEA5-99FF-AC88-5C84-3E9B8DE93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912AA-EF20-5203-F218-873181BF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823C8-C9FD-008B-F410-A40214DBF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6CA1F-9AE8-67D7-2DFB-DACAD1BD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0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49F3A-594E-756E-89A9-3E8CC077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B3884-D1E5-7835-BAE8-B2DA10B70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673EE-D181-1D2F-76A0-33AC80CCF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FA351-81F2-2E9F-839D-656515F1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24BBE-7E6F-9945-6214-9A96B62C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D54ED-D9E5-05FC-628C-9FF017C3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02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CC4-E8AC-737A-2BE7-E6790B9A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A0853-E9B0-B4F8-3383-A85558862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89676-4EFF-4B40-A978-7BF104016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83EC4-5504-88BA-7160-AE414E8F0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39BBB-1A03-6F5F-F2C1-871C56236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FAD4BD-138C-9D29-72F0-090D15764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C43A1-60D7-98DE-6A3E-7D02B27F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A8A2B-C747-A24B-4A04-8117FFE2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9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22626-CDA9-FDD2-C549-C03B9BD0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AF806-12A4-5ECE-39A4-6FB43E23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356CD-3EAD-6B90-8DD1-17B31D34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8F68F-099C-7F20-6108-B89B6299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7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969DD-1F09-81E8-6193-9C2B7810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6A45C-E859-2CEE-4C78-537DFA6A9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86EEF-59B6-56EC-8F55-812E4417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28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145E1-7961-8DF3-7F1D-319A6ECD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541B5-AFE1-A48A-9C24-F1C0A12D7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7B9B8-92E1-F2B4-6F74-41EC8BFAD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D21B2-BE59-249F-8BA2-A6D13ADB7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41B1F-201C-614F-E8F5-7FC919F2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85FB2-FEF7-2224-5692-C3C5EDF1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72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265C-9D24-2B76-A336-E7D0647B6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2F52B-27C7-B863-5A4B-8FDEA63E7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BE823-C121-4C35-4021-E95FE1723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15192-31D7-7391-27DB-6979ED0A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2E662-C25B-4FDF-ABD2-0FD01014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9652D-1571-2695-054C-71C5F0AA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1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5D69-433C-0F35-A450-9A2856D9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56CA8-B200-76A3-B898-F237B5892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96C2-473E-A727-B525-2B545410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D2645-18C2-1845-50C0-8133B278B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B1B4A-D120-1241-2A25-81E924493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178A2-B33D-FAF4-320D-E0F1ABB17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E6256-4A13-90D0-BA18-FD03142A0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44C6E-1928-38AD-0DD8-DF6F2029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0ACBA-36B6-3618-9B58-A264EC96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55A2F-6141-D609-84EC-C8376E32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4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1FE52-AAA6-3386-F7CE-B348BF23F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1018B-67C5-5830-21EC-2002E1C6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9DBCC-2A3B-CAD1-39C0-6EE8D5602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92957-8166-404A-AFA9-57B2DCD8CB0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3E33C-5544-3401-C601-069B37DA2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A8375-0AC5-4301-E9C6-977B0A257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C8559-FB77-487E-BC9C-C8E9EF3B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6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90250-DBD7-E227-0CC2-16F448EF3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988" y="320041"/>
            <a:ext cx="6707084" cy="3892668"/>
          </a:xfrm>
        </p:spPr>
        <p:txBody>
          <a:bodyPr>
            <a:normAutofit/>
          </a:bodyPr>
          <a:lstStyle/>
          <a:p>
            <a:pPr algn="l"/>
            <a:r>
              <a:rPr lang="en-US" sz="6600" b="1"/>
              <a:t>AWS Transit Gateway</a:t>
            </a:r>
            <a:endParaRPr lang="en-US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313F2-7678-04A7-9C07-49807AE30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699" y="4631161"/>
            <a:ext cx="6707366" cy="1569486"/>
          </a:xfrm>
        </p:spPr>
        <p:txBody>
          <a:bodyPr>
            <a:normAutofit/>
          </a:bodyPr>
          <a:lstStyle/>
          <a:p>
            <a:pPr algn="l"/>
            <a:r>
              <a:rPr lang="en-US" b="1"/>
              <a:t>(TGW)</a:t>
            </a:r>
            <a:br>
              <a:rPr lang="en-US" b="1"/>
            </a:br>
            <a:endParaRPr lang="en-US"/>
          </a:p>
        </p:txBody>
      </p:sp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F659150D-8905-D97B-F00C-00D00E308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1226248"/>
            <a:ext cx="4087368" cy="4087368"/>
          </a:xfrm>
          <a:prstGeom prst="rect">
            <a:avLst/>
          </a:prstGeom>
        </p:spPr>
      </p:pic>
      <p:sp>
        <p:nvSpPr>
          <p:cNvPr id="2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7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71065223-2CDF-C865-A7CD-51B53F92CA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51" r="4417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8637B-CF48-EEDB-D528-219470FE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/>
              <a:t>Definition</a:t>
            </a:r>
            <a:br>
              <a:rPr lang="en-US" sz="4000" b="1"/>
            </a:br>
            <a:endParaRPr lang="en-US" sz="400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7EC0A9F-7452-72A8-4E2D-EB3217C43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/>
              <a:t>A </a:t>
            </a:r>
            <a:r>
              <a:rPr lang="en-US" sz="2000" b="1"/>
              <a:t>managed AWS networking service</a:t>
            </a:r>
            <a:r>
              <a:rPr lang="en-US" sz="2000"/>
              <a:t> that acts as a </a:t>
            </a:r>
            <a:r>
              <a:rPr lang="en-US" sz="2000" b="1"/>
              <a:t>central hub (router)</a:t>
            </a:r>
            <a:r>
              <a:rPr lang="en-US" sz="2000"/>
              <a:t> to connect:</a:t>
            </a:r>
          </a:p>
          <a:p>
            <a:r>
              <a:rPr lang="en-US" sz="2000"/>
              <a:t>Multiple </a:t>
            </a:r>
            <a:r>
              <a:rPr lang="en-US" sz="2000" b="1"/>
              <a:t>VPCs</a:t>
            </a:r>
            <a:endParaRPr lang="en-US" sz="2000"/>
          </a:p>
          <a:p>
            <a:r>
              <a:rPr lang="en-US" sz="2000" b="1"/>
              <a:t>On-premises networks</a:t>
            </a:r>
            <a:r>
              <a:rPr lang="en-US" sz="2000"/>
              <a:t> (via VPN or Direct Connect)</a:t>
            </a:r>
          </a:p>
          <a:p>
            <a:r>
              <a:rPr lang="en-US" sz="2000"/>
              <a:t>Other </a:t>
            </a:r>
            <a:r>
              <a:rPr lang="en-US" sz="2000" b="1"/>
              <a:t>AWS services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2956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EA8BC-CA83-22C2-CCC8-D116571B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Key Features</a:t>
            </a:r>
            <a:br>
              <a:rPr lang="en-US" sz="3600" b="1">
                <a:solidFill>
                  <a:schemeClr val="tx2"/>
                </a:solidFill>
              </a:rPr>
            </a:b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5500093A-BF59-F16A-1658-E660E228F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5300264-3C1B-7F17-0BA8-79F097AD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Central Hub</a:t>
            </a:r>
            <a:r>
              <a:rPr lang="en-US" sz="1800">
                <a:solidFill>
                  <a:schemeClr val="tx2"/>
                </a:solidFill>
              </a:rPr>
              <a:t> → One gateway to interconnect multiple networks.</a:t>
            </a:r>
          </a:p>
          <a:p>
            <a:r>
              <a:rPr lang="en-US" sz="1800" b="1">
                <a:solidFill>
                  <a:schemeClr val="tx2"/>
                </a:solidFill>
              </a:rPr>
              <a:t>Scalability</a:t>
            </a:r>
            <a:r>
              <a:rPr lang="en-US" sz="1800">
                <a:solidFill>
                  <a:schemeClr val="tx2"/>
                </a:solidFill>
              </a:rPr>
              <a:t> → Supports </a:t>
            </a:r>
            <a:r>
              <a:rPr lang="en-US" sz="1800" b="1">
                <a:solidFill>
                  <a:schemeClr val="tx2"/>
                </a:solidFill>
              </a:rPr>
              <a:t>thousands of VPCs/attachments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r>
              <a:rPr lang="en-US" sz="1800" b="1">
                <a:solidFill>
                  <a:schemeClr val="tx2"/>
                </a:solidFill>
              </a:rPr>
              <a:t>Simplification</a:t>
            </a:r>
            <a:r>
              <a:rPr lang="en-US" sz="1800">
                <a:solidFill>
                  <a:schemeClr val="tx2"/>
                </a:solidFill>
              </a:rPr>
              <a:t> → Removes complex </a:t>
            </a:r>
            <a:r>
              <a:rPr lang="en-US" sz="1800" b="1">
                <a:solidFill>
                  <a:schemeClr val="tx2"/>
                </a:solidFill>
              </a:rPr>
              <a:t>VPC peering mesh</a:t>
            </a:r>
            <a:r>
              <a:rPr lang="en-US" sz="1800">
                <a:solidFill>
                  <a:schemeClr val="tx2"/>
                </a:solidFill>
              </a:rPr>
              <a:t> and </a:t>
            </a:r>
            <a:r>
              <a:rPr lang="en-US" sz="1800" b="1">
                <a:solidFill>
                  <a:schemeClr val="tx2"/>
                </a:solidFill>
              </a:rPr>
              <a:t>multiple VPNs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r>
              <a:rPr lang="en-US" sz="1800" b="1">
                <a:solidFill>
                  <a:schemeClr val="tx2"/>
                </a:solidFill>
              </a:rPr>
              <a:t>Security &amp; Control</a:t>
            </a:r>
            <a:r>
              <a:rPr lang="en-US" sz="1800">
                <a:solidFill>
                  <a:schemeClr val="tx2"/>
                </a:solidFill>
              </a:rPr>
              <a:t> →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Routing tables (like a router).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Bandwidth controls.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Domain-based access policies.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9387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BFB7F-ACA1-410F-E29C-B9A1398D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/>
              <a:t>Why Use a Transit Gateway (TGW)</a:t>
            </a:r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7" name="Graphic 36" descr="User Network">
            <a:extLst>
              <a:ext uri="{FF2B5EF4-FFF2-40B4-BE49-F238E27FC236}">
                <a16:creationId xmlns:a16="http://schemas.microsoft.com/office/drawing/2014/main" id="{A3E5D275-FEAF-0AD9-501F-39B088FDC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2289FB5C-DBDB-2DAD-E811-6AE7C716E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b="1"/>
              <a:t> </a:t>
            </a:r>
          </a:p>
          <a:p>
            <a:pPr marL="0" indent="0">
              <a:buNone/>
            </a:pPr>
            <a:r>
              <a:rPr lang="en-US" sz="1300" b="1"/>
              <a:t>Simplified Network Management</a:t>
            </a:r>
          </a:p>
          <a:p>
            <a:r>
              <a:rPr lang="en-US" sz="1300"/>
              <a:t>TGW replaces many complex peering connections with one central hub.</a:t>
            </a:r>
          </a:p>
          <a:p>
            <a:r>
              <a:rPr lang="en-US" sz="1300"/>
              <a:t>No need for full mesh (n × (n-1)/2 connections).</a:t>
            </a:r>
          </a:p>
          <a:p>
            <a:r>
              <a:rPr lang="en-US" sz="1300"/>
              <a:t>Fewer VPNs to manage → easier operations.</a:t>
            </a:r>
          </a:p>
          <a:p>
            <a:r>
              <a:rPr lang="en-US" sz="1300"/>
              <a:t> Example: Instead of connecting VPC-A ↔ VPC-B ↔ VPC-C, you just connect all VPCs to TGW.</a:t>
            </a:r>
            <a:br>
              <a:rPr lang="en-US" sz="1300"/>
            </a:br>
            <a:endParaRPr lang="en-US" sz="1300"/>
          </a:p>
          <a:p>
            <a:pPr marL="0" indent="0">
              <a:buNone/>
            </a:pPr>
            <a:r>
              <a:rPr lang="en-US" sz="1300" b="1"/>
              <a:t>Scalability for Large Architectures</a:t>
            </a:r>
          </a:p>
          <a:p>
            <a:r>
              <a:rPr lang="en-US" sz="1300"/>
              <a:t>Supports up to 5,000 VPCs/attachments.</a:t>
            </a:r>
          </a:p>
          <a:p>
            <a:r>
              <a:rPr lang="en-US" sz="1300"/>
              <a:t>Each connection can scale up to 50 Gbps bandwidth.</a:t>
            </a:r>
          </a:p>
          <a:p>
            <a:r>
              <a:rPr lang="en-US" sz="1300"/>
              <a:t>Suitable for enterprises with many VPCs across accounts.</a:t>
            </a:r>
          </a:p>
          <a:p>
            <a:r>
              <a:rPr lang="en-US" sz="1300"/>
              <a:t> Example: A multinational company can connect hundreds of VPCs across multiple regions.</a:t>
            </a:r>
          </a:p>
          <a:p>
            <a:endParaRPr lang="en-US" sz="1300"/>
          </a:p>
          <a:p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94705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A8997-BC65-D16F-801D-22A932032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319088"/>
            <a:ext cx="6906491" cy="585787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500" b="1" dirty="0"/>
              <a:t> Centralized Control &amp; Security</a:t>
            </a:r>
          </a:p>
          <a:p>
            <a:r>
              <a:rPr lang="en-US" sz="1500" dirty="0"/>
              <a:t>One place to manage all VPC connections.</a:t>
            </a:r>
          </a:p>
          <a:p>
            <a:r>
              <a:rPr lang="en-US" sz="1500" dirty="0"/>
              <a:t>Uses route tables to decide which VPCs can talk.</a:t>
            </a:r>
          </a:p>
          <a:p>
            <a:r>
              <a:rPr lang="en-US" sz="1500" dirty="0"/>
              <a:t>Easier to monitor and control traffic flow.</a:t>
            </a:r>
          </a:p>
          <a:p>
            <a:r>
              <a:rPr lang="en-US" sz="1500" dirty="0"/>
              <a:t>Example: Only allow “Prod VPC” to access “Database VPC,” block others.</a:t>
            </a: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 Multi-Region Connectivity</a:t>
            </a:r>
          </a:p>
          <a:p>
            <a:r>
              <a:rPr lang="en-US" sz="1500" dirty="0"/>
              <a:t>Connects VPCs across AWS Regions.</a:t>
            </a:r>
          </a:p>
          <a:p>
            <a:r>
              <a:rPr lang="en-US" sz="1500" dirty="0"/>
              <a:t>Reduces latency compared to VPN-only solutions.</a:t>
            </a:r>
          </a:p>
          <a:p>
            <a:r>
              <a:rPr lang="en-US" sz="1500" dirty="0"/>
              <a:t>Ideal for global applications.</a:t>
            </a:r>
          </a:p>
          <a:p>
            <a:r>
              <a:rPr lang="en-US" sz="1500" dirty="0"/>
              <a:t>Example: A gaming app in US-East region communicates with player data in EU-West region via TGW.</a:t>
            </a:r>
          </a:p>
          <a:p>
            <a:pPr marL="0" indent="0">
              <a:buNone/>
            </a:pPr>
            <a:r>
              <a:rPr lang="en-US" sz="1500" b="1" dirty="0"/>
              <a:t> Integration with AWS Services</a:t>
            </a:r>
          </a:p>
          <a:p>
            <a:r>
              <a:rPr lang="en-US" sz="1500" dirty="0"/>
              <a:t>Works smoothly with Direct Connect (private dedicated link) and Site-to-Site VPN.</a:t>
            </a:r>
          </a:p>
          <a:p>
            <a:r>
              <a:rPr lang="en-US" sz="1500" dirty="0"/>
              <a:t>Perfect for hybrid cloud (on-premises + AWS).</a:t>
            </a:r>
          </a:p>
          <a:p>
            <a:r>
              <a:rPr lang="en-US" sz="1500" dirty="0"/>
              <a:t> Example: Your corporate data center connects to TGW via Direct Connect, which then links to multiple AWS VPCs.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4020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8E4EE3-9B90-3E44-AEC3-FDFFF7DF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/>
              <a:t>How Transit Gateway Works</a:t>
            </a:r>
            <a:br>
              <a:rPr lang="en-US" sz="4000" b="1"/>
            </a:br>
            <a:endParaRPr lang="en-US" sz="4000"/>
          </a:p>
        </p:txBody>
      </p:sp>
      <p:pic>
        <p:nvPicPr>
          <p:cNvPr id="7" name="Graphic 6" descr="Paperclip">
            <a:extLst>
              <a:ext uri="{FF2B5EF4-FFF2-40B4-BE49-F238E27FC236}">
                <a16:creationId xmlns:a16="http://schemas.microsoft.com/office/drawing/2014/main" id="{4E952E6B-C5C9-295D-7EED-E2CB45BB3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5E542-86E1-BC0B-3B71-68C484A84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r>
              <a:rPr lang="en-US" sz="1500" b="1" dirty="0"/>
              <a:t>Attachments</a:t>
            </a:r>
          </a:p>
          <a:p>
            <a:r>
              <a:rPr lang="en-US" sz="1500" dirty="0"/>
              <a:t>Think of </a:t>
            </a:r>
            <a:r>
              <a:rPr lang="en-US" sz="1500" b="1" dirty="0"/>
              <a:t>attachments as cables</a:t>
            </a:r>
            <a:r>
              <a:rPr lang="en-US" sz="1500" dirty="0"/>
              <a:t> that connect networks to TGW.</a:t>
            </a:r>
          </a:p>
          <a:p>
            <a:r>
              <a:rPr lang="en-US" sz="1500" dirty="0"/>
              <a:t>You can attach:</a:t>
            </a:r>
          </a:p>
          <a:p>
            <a:pPr lvl="1"/>
            <a:r>
              <a:rPr lang="en-US" sz="1500" dirty="0"/>
              <a:t>VPCs</a:t>
            </a:r>
          </a:p>
          <a:p>
            <a:pPr lvl="1"/>
            <a:r>
              <a:rPr lang="en-US" sz="1500" dirty="0"/>
              <a:t>Direct Connect gateways</a:t>
            </a:r>
          </a:p>
          <a:p>
            <a:pPr lvl="1"/>
            <a:r>
              <a:rPr lang="en-US" sz="1500" dirty="0"/>
              <a:t>Site-to-Site VPNs</a:t>
            </a:r>
          </a:p>
          <a:p>
            <a:r>
              <a:rPr lang="en-US" sz="1500" dirty="0"/>
              <a:t>Once attached → traffic can flow through TGW.</a:t>
            </a:r>
          </a:p>
          <a:p>
            <a:r>
              <a:rPr lang="en-US" sz="1500" dirty="0"/>
              <a:t>Example: VPC-A, VPC-B, and On-Premises Data Center all attach to TGW.</a:t>
            </a:r>
            <a:br>
              <a:rPr lang="en-US" sz="1500" dirty="0"/>
            </a:br>
            <a:endParaRPr lang="en-US" sz="1500" dirty="0"/>
          </a:p>
          <a:p>
            <a:r>
              <a:rPr lang="en-US" sz="1500" b="1" dirty="0"/>
              <a:t>Route Tables</a:t>
            </a:r>
          </a:p>
          <a:p>
            <a:r>
              <a:rPr lang="en-US" sz="1500" dirty="0"/>
              <a:t>TGW has its own route tables (like a big router).</a:t>
            </a:r>
          </a:p>
          <a:p>
            <a:r>
              <a:rPr lang="en-US" sz="1500" dirty="0"/>
              <a:t>These tables decide which attachment can talk to which.</a:t>
            </a:r>
          </a:p>
          <a:p>
            <a:r>
              <a:rPr lang="en-US" sz="1500" dirty="0"/>
              <a:t>You can create multiple TGW route tables to separate environments (Prod vs Dev).</a:t>
            </a:r>
          </a:p>
          <a:p>
            <a:r>
              <a:rPr lang="en-US" sz="1500" dirty="0"/>
              <a:t>Example: VPC-A can talk to VPC-B, but route table blocks traffic to VPC-C.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87227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93243-8B45-C14E-1C33-B40C79F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b="1" dirty="0"/>
              <a:t>Transit Gateway Components</a:t>
            </a:r>
            <a:br>
              <a:rPr lang="en-US" b="1" dirty="0"/>
            </a:b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B63F907-FD65-41FB-AD1B-0958AE171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2200" b="1"/>
              <a:t>Attachments (How resources connect to TGW)</a:t>
            </a:r>
          </a:p>
          <a:p>
            <a:r>
              <a:rPr lang="en-US" sz="2200" b="1"/>
              <a:t>VPC Attachments</a:t>
            </a:r>
            <a:r>
              <a:rPr lang="en-US" sz="2200"/>
              <a:t> → Connect AWS VPCs to TGW.</a:t>
            </a:r>
          </a:p>
          <a:p>
            <a:r>
              <a:rPr lang="en-US" sz="2200" b="1"/>
              <a:t>Site-to-Site VPN Attachments</a:t>
            </a:r>
            <a:r>
              <a:rPr lang="en-US" sz="2200"/>
              <a:t> → Connect on-premises networks via VPN.</a:t>
            </a:r>
          </a:p>
          <a:p>
            <a:r>
              <a:rPr lang="en-US" sz="2200" b="1"/>
              <a:t>Direct Connect Gateway Attachments</a:t>
            </a:r>
            <a:r>
              <a:rPr lang="en-US" sz="2200"/>
              <a:t> → Connect on-premises networks using dedicated private links.</a:t>
            </a:r>
          </a:p>
          <a:p>
            <a:r>
              <a:rPr lang="en-US" sz="2200"/>
              <a:t>Example: TGW can connect VPC-A, VPC-B, and an On-Prem Data Center all at once.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92935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036FD-58CF-DE4A-2981-E9B60FE3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br>
              <a:rPr lang="en-US" sz="3400" b="1"/>
            </a:br>
            <a:r>
              <a:rPr lang="en-US" sz="3400" b="1"/>
              <a:t> Route Tables (How traffic is routed inside TGW)</a:t>
            </a:r>
            <a:br>
              <a:rPr lang="en-US" sz="3400" b="1"/>
            </a:br>
            <a:endParaRPr lang="en-US" sz="3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C4F6C-1289-5C93-4311-9ED37A2CE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1500" dirty="0"/>
              <a:t>TGW has its own route tables, separate from VPC route tables.</a:t>
            </a:r>
          </a:p>
          <a:p>
            <a:r>
              <a:rPr lang="en-US" sz="1500" dirty="0"/>
              <a:t>They define which attachment can talk to which.</a:t>
            </a:r>
          </a:p>
          <a:p>
            <a:r>
              <a:rPr lang="en-US" sz="1500" dirty="0"/>
              <a:t>You can create multiple route tables for network segmentation.</a:t>
            </a:r>
          </a:p>
          <a:p>
            <a:r>
              <a:rPr lang="en-US" sz="1500" dirty="0"/>
              <a:t> Example: Prod VPC ↔ DB VPC allowed, but Dev VPC ❌ DB VPC.</a:t>
            </a:r>
          </a:p>
          <a:p>
            <a:endParaRPr lang="en-US" sz="1500" dirty="0"/>
          </a:p>
          <a:p>
            <a:r>
              <a:rPr lang="en-US" sz="1500" b="1" dirty="0"/>
              <a:t>Propagation &amp; Static Routes (How TGW learns routes)</a:t>
            </a:r>
          </a:p>
          <a:p>
            <a:r>
              <a:rPr lang="en-US" sz="1500" b="1"/>
              <a:t>Propagation</a:t>
            </a:r>
            <a:r>
              <a:rPr lang="en-US" sz="1500"/>
              <a:t> : </a:t>
            </a:r>
            <a:r>
              <a:rPr lang="en-US" sz="1500" dirty="0"/>
              <a:t>TGW learns routes automatically from attachments.</a:t>
            </a:r>
          </a:p>
          <a:p>
            <a:r>
              <a:rPr lang="en-US" sz="1500" b="1" dirty="0"/>
              <a:t>Static Routes</a:t>
            </a:r>
            <a:r>
              <a:rPr lang="en-US" sz="1500" dirty="0"/>
              <a:t> : Admins manually add routes for fine control.</a:t>
            </a:r>
          </a:p>
          <a:p>
            <a:r>
              <a:rPr lang="en-US" sz="1500" dirty="0"/>
              <a:t>Example: A VPN connection advertises on-prem CIDR → TGW propagates it to VPCs.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9223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B1F87-DF30-5564-444A-1AE4FFB5F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4600" b="1" dirty="0"/>
              <a:t>Peering's (Multi-Region support)</a:t>
            </a:r>
            <a:br>
              <a:rPr lang="en-US" sz="4600" b="1" dirty="0"/>
            </a:br>
            <a:endParaRPr lang="en-US" sz="4600" dirty="0"/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tal buildings">
            <a:extLst>
              <a:ext uri="{FF2B5EF4-FFF2-40B4-BE49-F238E27FC236}">
                <a16:creationId xmlns:a16="http://schemas.microsoft.com/office/drawing/2014/main" id="{6C531C40-4405-696A-C1D8-28A82B106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64" r="10320" b="2"/>
          <a:stretch>
            <a:fillRect/>
          </a:stretch>
        </p:blipFill>
        <p:spPr>
          <a:xfrm>
            <a:off x="572492" y="2002056"/>
            <a:ext cx="3943849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BDB6FBA-BD1E-04F3-841A-8FE5C492E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955" y="2071316"/>
            <a:ext cx="6713552" cy="4114800"/>
          </a:xfrm>
        </p:spPr>
        <p:txBody>
          <a:bodyPr anchor="t">
            <a:normAutofit/>
          </a:bodyPr>
          <a:lstStyle/>
          <a:p>
            <a:r>
              <a:rPr lang="en-US" sz="2200" dirty="0"/>
              <a:t>You can connect Transit Gateways across AWS regions.</a:t>
            </a:r>
          </a:p>
          <a:p>
            <a:r>
              <a:rPr lang="en-US" sz="2200" dirty="0"/>
              <a:t>Enables global architectures with low-latency routing.</a:t>
            </a:r>
          </a:p>
          <a:p>
            <a:r>
              <a:rPr lang="en-US" sz="2200" dirty="0"/>
              <a:t> Example: A TGW in US-East-1 peered with TGW in EU-West-1 for global applications.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08072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8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E792ED-B160-8AAF-5BB6-CD0C6A9B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Example Scenarios for Transit Gateway</a:t>
            </a:r>
            <a:br>
              <a:rPr lang="en-US" sz="4800" b="1">
                <a:solidFill>
                  <a:schemeClr val="bg1"/>
                </a:solidFill>
              </a:rPr>
            </a:b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B900E-D8AB-F533-50D7-0D10BDA9D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584" y="540048"/>
            <a:ext cx="5652097" cy="56412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 VPC-to-VPC (Same Region)</a:t>
            </a:r>
          </a:p>
          <a:p>
            <a:r>
              <a:rPr lang="en-US" sz="1500" dirty="0">
                <a:solidFill>
                  <a:schemeClr val="tx2"/>
                </a:solidFill>
              </a:rPr>
              <a:t>Without TGW → Need many VPC </a:t>
            </a:r>
            <a:r>
              <a:rPr lang="en-US" sz="1500" dirty="0" err="1">
                <a:solidFill>
                  <a:schemeClr val="tx2"/>
                </a:solidFill>
              </a:rPr>
              <a:t>peerings</a:t>
            </a:r>
            <a:r>
              <a:rPr lang="en-US" sz="1500" dirty="0">
                <a:solidFill>
                  <a:schemeClr val="tx2"/>
                </a:solidFill>
              </a:rPr>
              <a:t> → messy &amp; hard to manage (formula: n × (n−1)/2).</a:t>
            </a:r>
          </a:p>
          <a:p>
            <a:r>
              <a:rPr lang="en-US" sz="1500" b="1" dirty="0">
                <a:solidFill>
                  <a:schemeClr val="tx2"/>
                </a:solidFill>
              </a:rPr>
              <a:t>With TGW : </a:t>
            </a:r>
            <a:r>
              <a:rPr lang="en-US" sz="1500" dirty="0">
                <a:solidFill>
                  <a:schemeClr val="tx2"/>
                </a:solidFill>
              </a:rPr>
              <a:t>All VPCs connect to one hub → simple &amp; scalable.</a:t>
            </a:r>
          </a:p>
          <a:p>
            <a:r>
              <a:rPr lang="en-US" sz="1500" dirty="0">
                <a:solidFill>
                  <a:schemeClr val="tx2"/>
                </a:solidFill>
              </a:rPr>
              <a:t>Easy routing, easy scaling.</a:t>
            </a:r>
          </a:p>
          <a:p>
            <a:pPr marL="0" indent="0">
              <a:buNone/>
            </a:pPr>
            <a:endParaRPr lang="en-US" sz="15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 Multi-Region VPC Communication</a:t>
            </a:r>
          </a:p>
          <a:p>
            <a:r>
              <a:rPr lang="en-US" sz="1500" b="1" dirty="0">
                <a:solidFill>
                  <a:schemeClr val="tx2"/>
                </a:solidFill>
              </a:rPr>
              <a:t>Without TGW : </a:t>
            </a:r>
            <a:r>
              <a:rPr lang="en-US" sz="1500" dirty="0">
                <a:solidFill>
                  <a:schemeClr val="tx2"/>
                </a:solidFill>
              </a:rPr>
              <a:t>Cross-region VPC peering + manual route updates.</a:t>
            </a:r>
          </a:p>
          <a:p>
            <a:r>
              <a:rPr lang="en-US" sz="1500" b="1" dirty="0">
                <a:solidFill>
                  <a:schemeClr val="tx2"/>
                </a:solidFill>
              </a:rPr>
              <a:t>With TGW : </a:t>
            </a:r>
            <a:r>
              <a:rPr lang="en-US" sz="1500" dirty="0">
                <a:solidFill>
                  <a:schemeClr val="tx2"/>
                </a:solidFill>
              </a:rPr>
              <a:t>Use TGWs in each region + TGW peering.</a:t>
            </a:r>
          </a:p>
          <a:p>
            <a:r>
              <a:rPr lang="en-US" sz="1500" dirty="0">
                <a:solidFill>
                  <a:schemeClr val="tx2"/>
                </a:solidFill>
              </a:rPr>
              <a:t>Central routing, better security &amp; performance.</a:t>
            </a:r>
          </a:p>
          <a:p>
            <a:pPr marL="0" indent="0">
              <a:buNone/>
            </a:pPr>
            <a:endParaRPr lang="en-US" sz="15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 Hybrid Cloud (On-Prem ↔ AWS)</a:t>
            </a:r>
          </a:p>
          <a:p>
            <a:r>
              <a:rPr lang="en-US" sz="1500" b="1" dirty="0">
                <a:solidFill>
                  <a:schemeClr val="tx2"/>
                </a:solidFill>
              </a:rPr>
              <a:t>Without TGW : </a:t>
            </a:r>
            <a:r>
              <a:rPr lang="en-US" sz="1500" dirty="0">
                <a:solidFill>
                  <a:schemeClr val="tx2"/>
                </a:solidFill>
              </a:rPr>
              <a:t>Separate VPN/DX connections per VPC (complex).</a:t>
            </a:r>
          </a:p>
          <a:p>
            <a:r>
              <a:rPr lang="en-US" sz="1500" b="1" dirty="0">
                <a:solidFill>
                  <a:schemeClr val="tx2"/>
                </a:solidFill>
              </a:rPr>
              <a:t>With TGW : </a:t>
            </a:r>
            <a:r>
              <a:rPr lang="en-US" sz="1500" dirty="0">
                <a:solidFill>
                  <a:schemeClr val="tx2"/>
                </a:solidFill>
              </a:rPr>
              <a:t>One VPN/DX to TGW → TGW connects to all VPCs.</a:t>
            </a:r>
          </a:p>
          <a:p>
            <a:r>
              <a:rPr lang="en-US" sz="1500" dirty="0">
                <a:solidFill>
                  <a:schemeClr val="tx2"/>
                </a:solidFill>
              </a:rPr>
              <a:t>Single connection, easier routing, better performance.</a:t>
            </a:r>
          </a:p>
          <a:p>
            <a:endParaRPr lang="en-US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49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796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AWS Transit Gateway</vt:lpstr>
      <vt:lpstr>Definition </vt:lpstr>
      <vt:lpstr>Key Features </vt:lpstr>
      <vt:lpstr>Why Use a Transit Gateway (TGW)</vt:lpstr>
      <vt:lpstr>PowerPoint Presentation</vt:lpstr>
      <vt:lpstr>How Transit Gateway Works </vt:lpstr>
      <vt:lpstr>Transit Gateway Components </vt:lpstr>
      <vt:lpstr>  Route Tables (How traffic is routed inside TGW) </vt:lpstr>
      <vt:lpstr>Peering's (Multi-Region support) </vt:lpstr>
      <vt:lpstr>Example Scenarios for Transit Gateway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2025-09-17T07:42:47Z</dcterms:created>
  <dcterms:modified xsi:type="dcterms:W3CDTF">2025-09-17T09:20:43Z</dcterms:modified>
</cp:coreProperties>
</file>