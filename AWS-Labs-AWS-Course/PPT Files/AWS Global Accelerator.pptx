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67" r:id="rId2"/>
    <p:sldId id="268" r:id="rId3"/>
    <p:sldId id="269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D3B3C7E-BC2D-4436-8B03-AC421FA66787}"/>
              </a:ext>
            </a:extLst>
          </p:cNvPr>
          <p:cNvSpPr/>
          <p:nvPr/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66887E-4265-46F7-9DE0-605FFFC9076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35130" y="1066800"/>
            <a:ext cx="8112369" cy="2073119"/>
          </a:xfrm>
        </p:spPr>
        <p:txBody>
          <a:bodyPr anchor="b">
            <a:normAutofit/>
          </a:bodyPr>
          <a:lstStyle>
            <a:lvl1pPr algn="ctr">
              <a:lnSpc>
                <a:spcPct val="110000"/>
              </a:lnSpc>
              <a:defRPr sz="2800" cap="all" spc="39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DB1A74-54F5-45CA-8922-87FFD57515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5804" y="4876802"/>
            <a:ext cx="7821637" cy="102869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BE6EF-9D0F-4ABF-B92C-E967FE3F1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AB150-954C-4F02-89AC-DA7163D7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79965" y="6245352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16270-CBD7-4ACC-BFC5-9CADE7226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9B5D0C1-066E-4C02-A6B8-59FAE4A19724}"/>
              </a:ext>
            </a:extLst>
          </p:cNvPr>
          <p:cNvGrpSpPr/>
          <p:nvPr/>
        </p:nvGrpSpPr>
        <p:grpSpPr>
          <a:xfrm>
            <a:off x="5662258" y="4240546"/>
            <a:ext cx="867485" cy="115439"/>
            <a:chOff x="8910933" y="1861308"/>
            <a:chExt cx="867485" cy="11543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4386904-AFDC-449E-8D1B-906B305EBDA7}"/>
                </a:ext>
              </a:extLst>
            </p:cNvPr>
            <p:cNvSpPr/>
            <p:nvPr/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70778F2-11E8-428C-8324-479CA9D6FE92}"/>
                </a:ext>
              </a:extLst>
            </p:cNvPr>
            <p:cNvCxnSpPr/>
            <p:nvPr/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A0BE89E-CB2D-48BA-A8D2-533FAAAA725F}"/>
                </a:ext>
              </a:extLst>
            </p:cNvPr>
            <p:cNvCxnSpPr/>
            <p:nvPr/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5297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2DC87-4B97-4A7C-BC4C-6E7724561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59FD9-57FD-4ABA-9FCD-795405253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BD40E-B0AA-47B8-900F-488A8AEC1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E623C-1E35-4485-A5B4-A71969BE7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C6BB9-EF4F-465E-985B-34521F68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959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5577-D71B-4279-B07A-62F703E5D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8367D-C35C-4023-BEBE-F834D033B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FCF8A-B8C6-496A-98A5-BBB52DB70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CDE45C10-227D-42DF-A888-EEFD3784FA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3900" y="750338"/>
            <a:ext cx="4580642" cy="5494694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A214944-8898-48BC-AE6F-065DA7BBB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580478" y="4714704"/>
            <a:ext cx="867485" cy="115439"/>
            <a:chOff x="8910933" y="1861308"/>
            <a:chExt cx="867485" cy="11543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94B3AAB-30C4-441D-B481-D253F8325953}"/>
                </a:ext>
              </a:extLst>
            </p:cNvPr>
            <p:cNvSpPr/>
            <p:nvPr/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DCB6176-5585-40BC-BC9C-CA625F989F1B}"/>
                </a:ext>
              </a:extLst>
            </p:cNvPr>
            <p:cNvCxnSpPr/>
            <p:nvPr/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7C4F1D9-97D8-43DD-A319-C56367F97FCE}"/>
                </a:ext>
              </a:extLst>
            </p:cNvPr>
            <p:cNvCxnSpPr/>
            <p:nvPr/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25E64ED-B373-4866-B5A2-E805D3168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291" y="1274475"/>
            <a:ext cx="3761832" cy="2823913"/>
          </a:xfrm>
        </p:spPr>
        <p:txBody>
          <a:bodyPr anchor="b">
            <a:normAutofit/>
          </a:bodyPr>
          <a:lstStyle>
            <a:lvl1pPr algn="ctr">
              <a:defRPr sz="3200" cap="all" spc="6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D6168-DDAE-41B2-A0D5-42185A2D0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56756" y="2730304"/>
            <a:ext cx="4383030" cy="139739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1251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825EB-71EE-41B3-89D2-47A0C7C35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62F7D-C4AD-4BD4-AAC8-F0223EE4A3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7305" y="2155369"/>
            <a:ext cx="4953000" cy="399832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0FB088-28C6-4667-8DF2-0DE32AE3E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55369"/>
            <a:ext cx="4953000" cy="39983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36095F-AE34-4E94-B722-E3A1205AE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06A8E6-BD94-48EA-8F35-DA0DF910A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78AEF-56B8-49F5-81E8-663B1FFA0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368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F873F-001F-4254-97F3-05329E6A7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555171"/>
            <a:ext cx="10134600" cy="113551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7B575-060F-4296-A28A-93DA109F9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7306" y="1801620"/>
            <a:ext cx="4849036" cy="814387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81A51-F4D1-4A02-9918-C416F820B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7306" y="2619103"/>
            <a:ext cx="4849036" cy="3514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2916D0-3DFE-455D-9888-3FDEFD3DE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0108" y="1801620"/>
            <a:ext cx="4904585" cy="814387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93D763-0643-4A48-8007-93391C59F6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0108" y="2619103"/>
            <a:ext cx="4904585" cy="3514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A2D07B-3A5D-41C2-83B8-BD1AD6522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2C1367-FE5A-4CDD-B85B-724FFFE5B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2F244-23EB-4E1A-B74F-77F23F879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333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76C0A-BEF4-4DE4-A9D2-C60298FC7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67C0AC-3C98-4D68-AE72-CFFA1638C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A7722A-E2E4-45D2-8A20-4853ED683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6B9201-B20B-4412-B745-F2F6A9148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286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C4889A-9ABE-4409-BAD8-F84C36C1F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DA5A70-FE21-4CB6-A67B-1DC798E9E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4AD11-7FD2-432C-A6AB-395BE9275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163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397CF-9CDD-4E78-8F35-A2FFE7867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200"/>
            <a:ext cx="370522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94BFE-7A85-4123-B0F7-4DB1C141C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6800"/>
            <a:ext cx="6172200" cy="48386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1EFD6D-1929-4A73-A860-22A36FF5C1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B399A5-94A1-4452-AFF0-918BDA8B1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589D8-DD83-406C-A77A-176D23993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46024-82ED-40EF-8846-F6CC44BC5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984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D12FA-83A4-42AF-98D7-312C4C5A7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200"/>
            <a:ext cx="370522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CF1DC8-2932-4C6E-BFBB-8BA1C95984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5942012" cy="48387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6E0000-EF01-46A5-8A71-25FB7EA3F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1AD40B-9246-4532-9F73-5BA9061C3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6B9A0-5B1C-4F7B-828A-EF74E5147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2E99FB-C932-4165-A612-8B302D8F7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45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B1126-542A-43AD-8078-EE3565165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A5F98B-5F32-4561-BFBC-9F6E5DA0A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28700" y="2161903"/>
            <a:ext cx="10134600" cy="3743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3D0DD-B04E-4E48-8EE1-51E46131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1352D-F9C0-4442-9601-A09A7655E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C0801-9C45-40AE-AB33-5742CDA4D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063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946561-59BF-4566-AD2C-9B05C4771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6250" y="723899"/>
            <a:ext cx="2271849" cy="54102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DF7870-6CBD-47E2-854C-68141BAA10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23900" y="723899"/>
            <a:ext cx="8302534" cy="54102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2FAF3-C106-49CB-A845-1FC7F7313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D5CCC-00E8-48FA-91A6-921E7B644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E1751-E7AA-406D-A977-1ACEF1FBD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096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CE7638-D991-46E7-BF2C-67D1AC8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723900"/>
            <a:ext cx="10134600" cy="12884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C6B9C-4923-4DAB-9748-D5CD289EB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161903"/>
            <a:ext cx="10134600" cy="39693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78CF6-4B33-40E4-B881-5F4C568378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4765" y="6245032"/>
            <a:ext cx="5244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E857E-F564-4539-9984-10435B6140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4841" y="6245032"/>
            <a:ext cx="26593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C485584D-7D79-4248-9986-4CA35242F94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EABEF-B998-4B11-A878-8F492F8E39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9964" y="6245033"/>
            <a:ext cx="41122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EB54D17-3792-403D-9127-495845021D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60920 w 12192000"/>
              <a:gd name="connsiteY0" fmla="*/ 157606 h 6858000"/>
              <a:gd name="connsiteX1" fmla="*/ 160920 w 12192000"/>
              <a:gd name="connsiteY1" fmla="*/ 6700394 h 6858000"/>
              <a:gd name="connsiteX2" fmla="*/ 12031081 w 12192000"/>
              <a:gd name="connsiteY2" fmla="*/ 6700394 h 6858000"/>
              <a:gd name="connsiteX3" fmla="*/ 12031081 w 12192000"/>
              <a:gd name="connsiteY3" fmla="*/ 157606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60920" y="157606"/>
                </a:moveTo>
                <a:lnTo>
                  <a:pt x="160920" y="6700394"/>
                </a:lnTo>
                <a:lnTo>
                  <a:pt x="12031081" y="6700394"/>
                </a:lnTo>
                <a:lnTo>
                  <a:pt x="12031081" y="15760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842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kern="1200" cap="none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Tx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74320" indent="-228600" algn="l" defTabSz="914400" rtl="0" eaLnBrk="1" latinLnBrk="0" hangingPunct="1">
        <a:lnSpc>
          <a:spcPct val="11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54864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54864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AB7CFDD-E67B-4078-9BD0-D09D4200E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91E377-3C4E-4C42-B42C-858169F3A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metal dumbell">
            <a:extLst>
              <a:ext uri="{FF2B5EF4-FFF2-40B4-BE49-F238E27FC236}">
                <a16:creationId xmlns:a16="http://schemas.microsoft.com/office/drawing/2014/main" id="{1849C2CE-E4BF-1C61-A60C-9A9DE95DC29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1000"/>
          </a:blip>
          <a:srcRect t="13662" b="28940"/>
          <a:stretch>
            <a:fillRect/>
          </a:stretch>
        </p:blipFill>
        <p:spPr>
          <a:xfrm>
            <a:off x="-1" y="1"/>
            <a:ext cx="12192001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A6FAAD-E665-B140-7728-9F3AFDB274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55401" y="1066801"/>
            <a:ext cx="7272408" cy="2077328"/>
          </a:xfr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txBody>
          <a:bodyPr anchor="b">
            <a:normAutofit/>
          </a:bodyPr>
          <a:lstStyle/>
          <a:p>
            <a:r>
              <a:rPr lang="en-US" b="1" i="1">
                <a:solidFill>
                  <a:schemeClr val="bg1"/>
                </a:solidFill>
              </a:rPr>
              <a:t>AWS Global Accelerator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1B7537E-7B93-4306-B9DF-4CD583E0AA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2258" y="4237480"/>
            <a:ext cx="867485" cy="115439"/>
            <a:chOff x="8910933" y="1861308"/>
            <a:chExt cx="867485" cy="11543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0AB796C-11E6-468E-9C0D-38940D8E2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FC9ACE4-DF02-4B56-B482-DDAD2EC09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99CC309-9401-4122-8206-A304650EFC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33417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23076A4E-38BA-4BCB-BE40-AD144E24ED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8D0C60F-E7BC-47C4-989A-5CF3E68BD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5">
            <a:extLst>
              <a:ext uri="{FF2B5EF4-FFF2-40B4-BE49-F238E27FC236}">
                <a16:creationId xmlns:a16="http://schemas.microsoft.com/office/drawing/2014/main" id="{B572D2B0-57F9-4D28-8840-98CD62539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8700" y="1028700"/>
            <a:ext cx="4038600" cy="484107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D1B8C6-2F16-1783-9204-F86583939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420" y="1737360"/>
            <a:ext cx="3185159" cy="25241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/>
              <a:t>Global users for our application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D4445-B752-8D14-1C32-2EBA2EAA4AE1}"/>
              </a:ext>
            </a:extLst>
          </p:cNvPr>
          <p:cNvSpPr txBox="1"/>
          <p:nvPr/>
        </p:nvSpPr>
        <p:spPr>
          <a:xfrm>
            <a:off x="6972300" y="1028700"/>
            <a:ext cx="4419886" cy="28611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tx2"/>
                </a:solidFill>
              </a:rPr>
              <a:t>• You have deployed an application and have global users who want to access it directly. 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tx2"/>
                </a:solidFill>
              </a:rPr>
              <a:t>• They go over the public internet, which can add a lot of latency due to many hops. 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tx2"/>
                </a:solidFill>
              </a:rPr>
              <a:t>• We wish to go as fast as possible through AWS network to minimize latency.</a:t>
            </a:r>
          </a:p>
        </p:txBody>
      </p:sp>
      <p:pic>
        <p:nvPicPr>
          <p:cNvPr id="4" name="Content Placeholder 3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839D22E5-38A0-5DB2-ECC8-1B61D4A070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/>
          </a:blip>
          <a:srcRect t="6867"/>
          <a:stretch>
            <a:fillRect/>
          </a:stretch>
        </p:blipFill>
        <p:spPr>
          <a:xfrm>
            <a:off x="7372394" y="4137660"/>
            <a:ext cx="3543211" cy="199644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7CD49DFA-3E95-4EE4-8505-DADB9ABC7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614258" y="4550150"/>
            <a:ext cx="867485" cy="115439"/>
            <a:chOff x="8910933" y="1861308"/>
            <a:chExt cx="867485" cy="115439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6D817C6-71C0-49E6-8B19-E9E9217A2B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23AD9A9-354F-444B-9370-B698970FEF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27F4928-516E-4CF1-8E81-C485279708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25599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158E38A4-F699-490C-8D1F-E8AD332D9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39C6AAB-48AC-41A3-95C2-6BF83715DF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6EE861B-7D2F-4B7C-A6E3-5937E81B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081" y="159026"/>
            <a:ext cx="11886519" cy="6542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1771C2-98D2-430C-6EF9-D5D664CCF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723901"/>
            <a:ext cx="5836920" cy="1288884"/>
          </a:xfrm>
        </p:spPr>
        <p:txBody>
          <a:bodyPr anchor="b">
            <a:normAutofit/>
          </a:bodyPr>
          <a:lstStyle/>
          <a:p>
            <a:pPr algn="ctr"/>
            <a:r>
              <a:rPr lang="en-US" b="1" dirty="0"/>
              <a:t>Unicast IP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83375-8FB9-E1BE-1C56-D8C5E533D2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6529" y="2732545"/>
            <a:ext cx="5384169" cy="3232826"/>
          </a:xfrm>
        </p:spPr>
        <p:txBody>
          <a:bodyPr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400" b="1"/>
              <a:t>Definition:</a:t>
            </a:r>
            <a:br>
              <a:rPr lang="en-US" sz="1400"/>
            </a:br>
            <a:r>
              <a:rPr lang="en-US" sz="1400"/>
              <a:t>Unicast means </a:t>
            </a:r>
            <a:r>
              <a:rPr lang="en-US" sz="1400" b="1"/>
              <a:t>one-to-one communication</a:t>
            </a:r>
            <a:r>
              <a:rPr lang="en-US" sz="1400"/>
              <a:t> between a single sender and a single receiver.</a:t>
            </a:r>
            <a:br>
              <a:rPr lang="en-US" sz="1400"/>
            </a:br>
            <a:r>
              <a:rPr lang="en-US" sz="1400"/>
              <a:t>A </a:t>
            </a:r>
            <a:r>
              <a:rPr lang="en-US" sz="1400" b="1"/>
              <a:t>unique IP address</a:t>
            </a:r>
            <a:r>
              <a:rPr lang="en-US" sz="1400"/>
              <a:t> is assigned to </a:t>
            </a:r>
            <a:r>
              <a:rPr lang="en-US" sz="1400" b="1"/>
              <a:t>only one specific server</a:t>
            </a:r>
            <a:r>
              <a:rPr lang="en-US" sz="1400"/>
              <a:t>, and all clients using that IP are routed directly to that server.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400" b="1"/>
              <a:t>Example:</a:t>
            </a:r>
            <a:br>
              <a:rPr lang="en-US" sz="1400"/>
            </a:br>
            <a:r>
              <a:rPr lang="en-US" sz="1400"/>
              <a:t>If your web server has the IP address 203.0.113.10: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400"/>
              <a:t>Every client request to this IP will always reach </a:t>
            </a:r>
            <a:r>
              <a:rPr lang="en-US" sz="1400" b="1"/>
              <a:t>that same server</a:t>
            </a:r>
            <a:r>
              <a:rPr lang="en-US" sz="1400"/>
              <a:t>.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400"/>
              <a:t>If that server goes down, users cannot reach your application.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400" b="1"/>
              <a:t>Key Points:</a:t>
            </a:r>
            <a:r>
              <a:rPr lang="en-US" sz="1400"/>
              <a:t> 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400"/>
              <a:t>One IP → One server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400"/>
              <a:t>Simple setup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400"/>
              <a:t>Single point of failure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400"/>
              <a:t>Commonly used for local or single-region deployments</a:t>
            </a:r>
          </a:p>
          <a:p>
            <a:pPr algn="ctr">
              <a:lnSpc>
                <a:spcPct val="100000"/>
              </a:lnSpc>
            </a:pPr>
            <a:endParaRPr lang="en-US" sz="1400" dirty="0"/>
          </a:p>
          <a:p>
            <a:pPr algn="ctr">
              <a:lnSpc>
                <a:spcPct val="100000"/>
              </a:lnSpc>
            </a:pPr>
            <a:endParaRPr lang="en-US" sz="1400" dirty="0"/>
          </a:p>
          <a:p>
            <a:pPr algn="ctr">
              <a:lnSpc>
                <a:spcPct val="100000"/>
              </a:lnSpc>
            </a:pPr>
            <a:endParaRPr lang="en-US" sz="1400" dirty="0"/>
          </a:p>
          <a:p>
            <a:pPr algn="ctr">
              <a:lnSpc>
                <a:spcPct val="100000"/>
              </a:lnSpc>
            </a:pPr>
            <a:endParaRPr lang="en-US" sz="1400" dirty="0"/>
          </a:p>
          <a:p>
            <a:pPr algn="ctr">
              <a:lnSpc>
                <a:spcPct val="100000"/>
              </a:lnSpc>
            </a:pPr>
            <a:endParaRPr lang="en-US" sz="1400" dirty="0"/>
          </a:p>
          <a:p>
            <a:pPr algn="ctr">
              <a:lnSpc>
                <a:spcPct val="100000"/>
              </a:lnSpc>
            </a:pPr>
            <a:endParaRPr lang="en-US" sz="1400" dirty="0"/>
          </a:p>
        </p:txBody>
      </p:sp>
      <p:pic>
        <p:nvPicPr>
          <p:cNvPr id="5" name="Picture 4" descr="A computer and server diagram">
            <a:extLst>
              <a:ext uri="{FF2B5EF4-FFF2-40B4-BE49-F238E27FC236}">
                <a16:creationId xmlns:a16="http://schemas.microsoft.com/office/drawing/2014/main" id="{CC914552-1249-8761-B358-77837D9AF21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41239" y="2152662"/>
            <a:ext cx="3666392" cy="2456482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073091F1-AA5A-47C6-9502-D5870A72D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13418" y="2320171"/>
            <a:ext cx="867485" cy="115439"/>
            <a:chOff x="8910933" y="1861308"/>
            <a:chExt cx="867485" cy="115439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8085C4F7-6E91-4DF6-BB01-A46132BC35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5476588-B9AD-4662-A085-8E4D91493B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BCDB34B3-D348-476E-BE7F-1139370F43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13553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7B22176A-41DB-4D9A-9B6F-F2296F1ED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774A8DF5-445E-49C5-B10A-8DF5FEFBC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A4E38D9-EFB8-40B5-B42B-514FBF180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2D30DE-4641-3A0D-8C44-519AB562E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2995" y="722376"/>
            <a:ext cx="5129972" cy="1288825"/>
          </a:xfrm>
        </p:spPr>
        <p:txBody>
          <a:bodyPr anchor="b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500" b="1"/>
              <a:t>Anycast IP (Multiple Servers Share One IP Address)</a:t>
            </a:r>
            <a:br>
              <a:rPr lang="en-US" sz="2500" b="1"/>
            </a:br>
            <a:endParaRPr lang="en-US" sz="25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4203D-5EAB-188B-3415-96E73C7E7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5052" y="1698178"/>
            <a:ext cx="5581278" cy="4046533"/>
          </a:xfrm>
        </p:spPr>
        <p:txBody>
          <a:bodyPr anchor="ctr">
            <a:normAutofit fontScale="92500" lnSpcReduction="2000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600" b="1" dirty="0"/>
              <a:t>Definition:</a:t>
            </a:r>
            <a:br>
              <a:rPr lang="en-US" sz="1600" dirty="0"/>
            </a:br>
            <a:r>
              <a:rPr lang="en-US" sz="1600" dirty="0"/>
              <a:t>Anycast allows </a:t>
            </a:r>
            <a:r>
              <a:rPr lang="en-US" sz="1600" b="1" dirty="0"/>
              <a:t>multiple servers</a:t>
            </a:r>
            <a:r>
              <a:rPr lang="en-US" sz="1600" dirty="0"/>
              <a:t> in </a:t>
            </a:r>
            <a:r>
              <a:rPr lang="en-US" sz="1600" b="1" dirty="0"/>
              <a:t>different geographical locations</a:t>
            </a:r>
            <a:r>
              <a:rPr lang="en-US" sz="1600" dirty="0"/>
              <a:t> to share </a:t>
            </a:r>
            <a:r>
              <a:rPr lang="en-US" sz="1600" b="1" dirty="0"/>
              <a:t>the same IP address</a:t>
            </a:r>
            <a:r>
              <a:rPr lang="en-US" sz="1600" dirty="0"/>
              <a:t>.</a:t>
            </a:r>
            <a:br>
              <a:rPr lang="en-US" sz="1600" dirty="0"/>
            </a:br>
            <a:r>
              <a:rPr lang="en-US" sz="1600" dirty="0"/>
              <a:t>When a client sends a request, it is automatically routed to the </a:t>
            </a:r>
            <a:r>
              <a:rPr lang="en-US" sz="1600" b="1" dirty="0"/>
              <a:t>nearest or best-performing server</a:t>
            </a:r>
            <a:r>
              <a:rPr lang="en-US" sz="1600" dirty="0"/>
              <a:t> based on network routing policies (usually BGP).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600" b="1" dirty="0"/>
              <a:t>Example:</a:t>
            </a:r>
            <a:br>
              <a:rPr lang="en-US" sz="1600" dirty="0"/>
            </a:br>
            <a:r>
              <a:rPr lang="en-US" sz="1600" dirty="0"/>
              <a:t>Suppose you have three servers: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600" dirty="0"/>
              <a:t>One in the </a:t>
            </a:r>
            <a:r>
              <a:rPr lang="en-US" sz="1600" b="1" dirty="0"/>
              <a:t>USA</a:t>
            </a:r>
            <a:r>
              <a:rPr lang="en-US" sz="1600" dirty="0"/>
              <a:t>,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600" dirty="0"/>
              <a:t>One in </a:t>
            </a:r>
            <a:r>
              <a:rPr lang="en-US" sz="1600" b="1" dirty="0"/>
              <a:t>Europe</a:t>
            </a:r>
            <a:r>
              <a:rPr lang="en-US" sz="1600" dirty="0"/>
              <a:t>,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600" dirty="0"/>
              <a:t>One in </a:t>
            </a:r>
            <a:r>
              <a:rPr lang="en-US" sz="1600" b="1" dirty="0"/>
              <a:t>Asia</a:t>
            </a:r>
            <a:r>
              <a:rPr lang="en-US" sz="1600" dirty="0"/>
              <a:t>,</a:t>
            </a:r>
            <a:br>
              <a:rPr lang="en-US" sz="1600" dirty="0"/>
            </a:br>
            <a:r>
              <a:rPr lang="en-US" sz="1600" dirty="0"/>
              <a:t>and all share the same IP address: 192.0.2.1.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600" dirty="0"/>
              <a:t>Now: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600" dirty="0"/>
              <a:t>A user in </a:t>
            </a:r>
            <a:r>
              <a:rPr lang="en-US" sz="1600" b="1" dirty="0"/>
              <a:t>Pakistan</a:t>
            </a:r>
            <a:r>
              <a:rPr lang="en-US" sz="1600" dirty="0"/>
              <a:t> will be routed to the </a:t>
            </a:r>
            <a:r>
              <a:rPr lang="en-US" sz="1600" b="1" dirty="0"/>
              <a:t>Asia server</a:t>
            </a:r>
            <a:r>
              <a:rPr lang="en-US" sz="1600" dirty="0"/>
              <a:t>.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600" dirty="0"/>
              <a:t>A user in </a:t>
            </a:r>
            <a:r>
              <a:rPr lang="en-US" sz="1600" b="1" dirty="0"/>
              <a:t>Germany</a:t>
            </a:r>
            <a:r>
              <a:rPr lang="en-US" sz="1600" dirty="0"/>
              <a:t> will be routed to the </a:t>
            </a:r>
            <a:r>
              <a:rPr lang="en-US" sz="1600" b="1" dirty="0"/>
              <a:t>Europe server</a:t>
            </a:r>
            <a:r>
              <a:rPr lang="en-US" sz="1600" dirty="0"/>
              <a:t>.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600" dirty="0"/>
              <a:t>A user in the </a:t>
            </a:r>
            <a:r>
              <a:rPr lang="en-US" sz="1600" b="1" dirty="0"/>
              <a:t>US</a:t>
            </a:r>
            <a:r>
              <a:rPr lang="en-US" sz="1600" dirty="0"/>
              <a:t> will be routed to the </a:t>
            </a:r>
            <a:r>
              <a:rPr lang="en-US" sz="1600" b="1" dirty="0"/>
              <a:t>USA server</a:t>
            </a:r>
            <a:r>
              <a:rPr lang="en-US" sz="1600" dirty="0"/>
              <a:t>.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600" b="1" dirty="0"/>
              <a:t>Result:</a:t>
            </a:r>
            <a:endParaRPr lang="en-US" sz="1600" dirty="0"/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600" dirty="0"/>
              <a:t>Reduced latency (faster response)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600" dirty="0"/>
              <a:t>High availability (if one server fails, another serves traffic)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600" dirty="0"/>
              <a:t>Global scalability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endParaRPr lang="en-US" sz="1000" dirty="0"/>
          </a:p>
          <a:p>
            <a:pPr algn="ctr">
              <a:lnSpc>
                <a:spcPct val="100000"/>
              </a:lnSpc>
            </a:pPr>
            <a:endParaRPr lang="en-US" sz="1000" dirty="0"/>
          </a:p>
        </p:txBody>
      </p:sp>
      <p:pic>
        <p:nvPicPr>
          <p:cNvPr id="5" name="Picture 4" descr="A computer and a computer with numbers and a line&#10;&#10;AI-generated content may be incorrect.">
            <a:extLst>
              <a:ext uri="{FF2B5EF4-FFF2-40B4-BE49-F238E27FC236}">
                <a16:creationId xmlns:a16="http://schemas.microsoft.com/office/drawing/2014/main" id="{E60DC4C8-9147-5D27-9AB1-9B415E656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694" y="1939874"/>
            <a:ext cx="4395946" cy="2978252"/>
          </a:xfrm>
          <a:prstGeom prst="rect">
            <a:avLst/>
          </a:prstGeom>
        </p:spPr>
      </p:pic>
      <p:grpSp>
        <p:nvGrpSpPr>
          <p:cNvPr id="77" name="Group 76">
            <a:extLst>
              <a:ext uri="{FF2B5EF4-FFF2-40B4-BE49-F238E27FC236}">
                <a16:creationId xmlns:a16="http://schemas.microsoft.com/office/drawing/2014/main" id="{D87FFE71-34DC-4C53-AE0F-6B141D081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174239" y="5850225"/>
            <a:ext cx="867485" cy="115439"/>
            <a:chOff x="8910933" y="1861308"/>
            <a:chExt cx="867485" cy="115439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37DF92F1-0E20-46AC-BB8F-F66926B40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FFA14CB4-8459-4D23-B4FF-8F9868E3FC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7A0C763F-37C4-4E00-AEB2-8867F4AA25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28083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358860B5-4C8B-4A85-9C61-6C38237AA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C88D8DB-F336-4940-A141-657B45C9F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obile device with apps">
            <a:extLst>
              <a:ext uri="{FF2B5EF4-FFF2-40B4-BE49-F238E27FC236}">
                <a16:creationId xmlns:a16="http://schemas.microsoft.com/office/drawing/2014/main" id="{A0163203-8EF2-AC29-BC0B-11625CF5AA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1000"/>
          </a:blip>
          <a:srcRect/>
          <a:stretch>
            <a:fillRect/>
          </a:stretch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  <p:sp>
        <p:nvSpPr>
          <p:cNvPr id="27" name="Rectangle 5">
            <a:extLst>
              <a:ext uri="{FF2B5EF4-FFF2-40B4-BE49-F238E27FC236}">
                <a16:creationId xmlns:a16="http://schemas.microsoft.com/office/drawing/2014/main" id="{59F0F49B-3281-41C6-B073-D004251511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8701" y="1028406"/>
            <a:ext cx="4038600" cy="484107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A7E601-B799-CEAC-68AA-D08EFCBFC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940" y="1700294"/>
            <a:ext cx="3246119" cy="2608006"/>
          </a:xfrm>
        </p:spPr>
        <p:txBody>
          <a:bodyPr anchor="ctr">
            <a:normAutofit/>
          </a:bodyPr>
          <a:lstStyle/>
          <a:p>
            <a:pPr algn="ctr"/>
            <a:r>
              <a:rPr lang="en-US" b="1" dirty="0"/>
              <a:t>AWS Global Accelerator</a:t>
            </a:r>
            <a:br>
              <a:rPr lang="en-US" b="1" dirty="0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FD841-E2E1-72C3-E7AB-4B5F8BEA76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7877" y="1035050"/>
            <a:ext cx="4452968" cy="4800600"/>
          </a:xfr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Overview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AWS Global Accelerator is a </a:t>
            </a:r>
            <a:r>
              <a:rPr lang="en-US" b="1">
                <a:solidFill>
                  <a:schemeClr val="bg1"/>
                </a:solidFill>
              </a:rPr>
              <a:t>networking service</a:t>
            </a:r>
            <a:r>
              <a:rPr lang="en-US">
                <a:solidFill>
                  <a:schemeClr val="bg1"/>
                </a:solidFill>
              </a:rPr>
              <a:t> that improves the </a:t>
            </a:r>
            <a:r>
              <a:rPr lang="en-US" b="1">
                <a:solidFill>
                  <a:schemeClr val="bg1"/>
                </a:solidFill>
              </a:rPr>
              <a:t>availability, performance, and global reach</a:t>
            </a:r>
            <a:r>
              <a:rPr lang="en-US">
                <a:solidFill>
                  <a:schemeClr val="bg1"/>
                </a:solidFill>
              </a:rPr>
              <a:t> of your applications.</a:t>
            </a:r>
            <a:br>
              <a:rPr lang="en-US">
                <a:solidFill>
                  <a:schemeClr val="bg1"/>
                </a:solidFill>
              </a:rPr>
            </a:br>
            <a:r>
              <a:rPr lang="en-US">
                <a:solidFill>
                  <a:schemeClr val="bg1"/>
                </a:solidFill>
              </a:rPr>
              <a:t>It routes user traffic through the </a:t>
            </a:r>
            <a:r>
              <a:rPr lang="en-US" b="1">
                <a:solidFill>
                  <a:schemeClr val="bg1"/>
                </a:solidFill>
              </a:rPr>
              <a:t>AWS global private backbone network</a:t>
            </a:r>
            <a:r>
              <a:rPr lang="en-US">
                <a:solidFill>
                  <a:schemeClr val="bg1"/>
                </a:solidFill>
              </a:rPr>
              <a:t>, rather than the unpredictable public internet.</a:t>
            </a:r>
            <a:br>
              <a:rPr lang="en-US">
                <a:solidFill>
                  <a:schemeClr val="bg1"/>
                </a:solidFill>
              </a:rPr>
            </a:br>
            <a:r>
              <a:rPr lang="en-US">
                <a:solidFill>
                  <a:schemeClr val="bg1"/>
                </a:solidFill>
              </a:rPr>
              <a:t>This ensures </a:t>
            </a:r>
            <a:r>
              <a:rPr lang="en-US" b="1">
                <a:solidFill>
                  <a:schemeClr val="bg1"/>
                </a:solidFill>
              </a:rPr>
              <a:t>lower latency, higher reliability, and consistent performance</a:t>
            </a:r>
            <a:r>
              <a:rPr lang="en-US">
                <a:solidFill>
                  <a:schemeClr val="bg1"/>
                </a:solidFill>
              </a:rPr>
              <a:t> for users around the world.</a:t>
            </a:r>
          </a:p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D2492B2-B8B7-4A51-ABA9-EB4480F77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614259" y="4550150"/>
            <a:ext cx="867485" cy="115439"/>
            <a:chOff x="8910933" y="1861308"/>
            <a:chExt cx="867485" cy="115439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E25C357-E66E-42A1-A409-1235486B5C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6318FBB-DA09-4FF6-B480-C513819F1B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67E98EC-5AA4-4A5A-9F6D-20968E3A5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30DE9CB-4267-487A-915E-5665607E9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614258" y="4550150"/>
            <a:ext cx="867485" cy="115439"/>
            <a:chOff x="8910933" y="1861308"/>
            <a:chExt cx="867485" cy="115439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237361B-A61F-4EEA-8554-10DEFF0AB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BBC8A6A-A883-4F9C-82BA-607223F36C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234343E-05EC-4327-BA72-FD68FF0491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06882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358860B5-4C8B-4A85-9C61-6C38237AA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C88D8DB-F336-4940-A141-657B45C9F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igital globe">
            <a:extLst>
              <a:ext uri="{FF2B5EF4-FFF2-40B4-BE49-F238E27FC236}">
                <a16:creationId xmlns:a16="http://schemas.microsoft.com/office/drawing/2014/main" id="{860E126A-0CE6-0493-84BA-BF09608ED83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1000"/>
          </a:blip>
          <a:srcRect/>
          <a:stretch>
            <a:fillRect/>
          </a:stretch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  <p:sp>
        <p:nvSpPr>
          <p:cNvPr id="27" name="Rectangle 5">
            <a:extLst>
              <a:ext uri="{FF2B5EF4-FFF2-40B4-BE49-F238E27FC236}">
                <a16:creationId xmlns:a16="http://schemas.microsoft.com/office/drawing/2014/main" id="{59F0F49B-3281-41C6-B073-D004251511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8701" y="1028406"/>
            <a:ext cx="4038600" cy="484107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364D90-ACEB-87DE-DC7A-E768F88BD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940" y="1700294"/>
            <a:ext cx="3246119" cy="2608006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Main Features of AWS Global Accelerator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B33E0-527E-33C3-B4EC-39D6DC006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7877" y="1035050"/>
            <a:ext cx="4452968" cy="4800600"/>
          </a:xfr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1900" b="1">
                <a:solidFill>
                  <a:schemeClr val="bg1"/>
                </a:solidFill>
              </a:rPr>
              <a:t>1. Uses AWS Internal Global Network</a:t>
            </a:r>
          </a:p>
          <a:p>
            <a:pPr algn="ctr">
              <a:lnSpc>
                <a:spcPct val="100000"/>
              </a:lnSpc>
            </a:pPr>
            <a:r>
              <a:rPr lang="en-US" sz="1900">
                <a:solidFill>
                  <a:schemeClr val="bg1"/>
                </a:solidFill>
              </a:rPr>
              <a:t>Normally, user traffic travels over the </a:t>
            </a:r>
            <a:r>
              <a:rPr lang="en-US" sz="1900" b="1">
                <a:solidFill>
                  <a:schemeClr val="bg1"/>
                </a:solidFill>
              </a:rPr>
              <a:t>public internet</a:t>
            </a:r>
            <a:r>
              <a:rPr lang="en-US" sz="1900">
                <a:solidFill>
                  <a:schemeClr val="bg1"/>
                </a:solidFill>
              </a:rPr>
              <a:t>, causing </a:t>
            </a:r>
            <a:r>
              <a:rPr lang="en-US" sz="1900" b="1">
                <a:solidFill>
                  <a:schemeClr val="bg1"/>
                </a:solidFill>
              </a:rPr>
              <a:t>multiple hops and delays</a:t>
            </a:r>
            <a:r>
              <a:rPr lang="en-US" sz="1900">
                <a:solidFill>
                  <a:schemeClr val="bg1"/>
                </a:solidFill>
              </a:rPr>
              <a:t>.</a:t>
            </a:r>
          </a:p>
          <a:p>
            <a:pPr algn="ctr">
              <a:lnSpc>
                <a:spcPct val="100000"/>
              </a:lnSpc>
            </a:pPr>
            <a:r>
              <a:rPr lang="en-US" sz="1900" b="1">
                <a:solidFill>
                  <a:schemeClr val="bg1"/>
                </a:solidFill>
              </a:rPr>
              <a:t>AWS Global Accelerator</a:t>
            </a:r>
            <a:r>
              <a:rPr lang="en-US" sz="1900">
                <a:solidFill>
                  <a:schemeClr val="bg1"/>
                </a:solidFill>
              </a:rPr>
              <a:t> routes all requests through the </a:t>
            </a:r>
            <a:r>
              <a:rPr lang="en-US" sz="1900" b="1">
                <a:solidFill>
                  <a:schemeClr val="bg1"/>
                </a:solidFill>
              </a:rPr>
              <a:t>AWS global private backbone network</a:t>
            </a:r>
            <a:r>
              <a:rPr lang="en-US" sz="1900">
                <a:solidFill>
                  <a:schemeClr val="bg1"/>
                </a:solidFill>
              </a:rPr>
              <a:t>.</a:t>
            </a:r>
          </a:p>
          <a:p>
            <a:pPr algn="ctr">
              <a:lnSpc>
                <a:spcPct val="100000"/>
              </a:lnSpc>
            </a:pPr>
            <a:r>
              <a:rPr lang="en-US" sz="1900">
                <a:solidFill>
                  <a:schemeClr val="bg1"/>
                </a:solidFill>
              </a:rPr>
              <a:t>This network connects all </a:t>
            </a:r>
            <a:r>
              <a:rPr lang="en-US" sz="1900" b="1">
                <a:solidFill>
                  <a:schemeClr val="bg1"/>
                </a:solidFill>
              </a:rPr>
              <a:t>AWS Regions and Edge Locations</a:t>
            </a:r>
            <a:r>
              <a:rPr lang="en-US" sz="1900">
                <a:solidFill>
                  <a:schemeClr val="bg1"/>
                </a:solidFill>
              </a:rPr>
              <a:t> worldwide.</a:t>
            </a:r>
          </a:p>
          <a:p>
            <a:pPr algn="ctr">
              <a:lnSpc>
                <a:spcPct val="100000"/>
              </a:lnSpc>
            </a:pPr>
            <a:r>
              <a:rPr lang="en-US" sz="1900">
                <a:solidFill>
                  <a:schemeClr val="bg1"/>
                </a:solidFill>
              </a:rPr>
              <a:t> </a:t>
            </a:r>
            <a:r>
              <a:rPr lang="en-US" sz="1900" b="1">
                <a:solidFill>
                  <a:schemeClr val="bg1"/>
                </a:solidFill>
              </a:rPr>
              <a:t>Result:</a:t>
            </a:r>
            <a:endParaRPr lang="en-US" sz="1900">
              <a:solidFill>
                <a:schemeClr val="bg1"/>
              </a:solidFill>
            </a:endParaRPr>
          </a:p>
          <a:p>
            <a:pPr algn="ctr">
              <a:lnSpc>
                <a:spcPct val="100000"/>
              </a:lnSpc>
            </a:pPr>
            <a:r>
              <a:rPr lang="en-US" sz="1900">
                <a:solidFill>
                  <a:schemeClr val="bg1"/>
                </a:solidFill>
              </a:rPr>
              <a:t>Reduced latency</a:t>
            </a:r>
          </a:p>
          <a:p>
            <a:pPr algn="ctr">
              <a:lnSpc>
                <a:spcPct val="100000"/>
              </a:lnSpc>
            </a:pPr>
            <a:r>
              <a:rPr lang="en-US" sz="1900">
                <a:solidFill>
                  <a:schemeClr val="bg1"/>
                </a:solidFill>
              </a:rPr>
              <a:t>Lower packet loss </a:t>
            </a:r>
          </a:p>
          <a:p>
            <a:pPr algn="ctr">
              <a:lnSpc>
                <a:spcPct val="100000"/>
              </a:lnSpc>
            </a:pPr>
            <a:r>
              <a:rPr lang="en-US" sz="1900">
                <a:solidFill>
                  <a:schemeClr val="bg1"/>
                </a:solidFill>
              </a:rPr>
              <a:t>Consistent global performance</a:t>
            </a:r>
          </a:p>
          <a:p>
            <a:pPr algn="ctr">
              <a:lnSpc>
                <a:spcPct val="100000"/>
              </a:lnSpc>
            </a:pPr>
            <a:endParaRPr lang="en-US" sz="1900">
              <a:solidFill>
                <a:schemeClr val="bg1"/>
              </a:solidFill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D2492B2-B8B7-4A51-ABA9-EB4480F77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614259" y="4550150"/>
            <a:ext cx="867485" cy="115439"/>
            <a:chOff x="8910933" y="1861308"/>
            <a:chExt cx="867485" cy="115439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E25C357-E66E-42A1-A409-1235486B5C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6318FBB-DA09-4FF6-B480-C513819F1B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67E98EC-5AA4-4A5A-9F6D-20968E3A5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30DE9CB-4267-487A-915E-5665607E9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614258" y="4550150"/>
            <a:ext cx="867485" cy="115439"/>
            <a:chOff x="8910933" y="1861308"/>
            <a:chExt cx="867485" cy="115439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237361B-A61F-4EEA-8554-10DEFF0AB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BBC8A6A-A883-4F9C-82BA-607223F36C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234343E-05EC-4327-BA72-FD68FF0491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94285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358860B5-4C8B-4A85-9C61-6C38237AA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C88D8DB-F336-4940-A141-657B45C9F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erial view of a city skyline">
            <a:extLst>
              <a:ext uri="{FF2B5EF4-FFF2-40B4-BE49-F238E27FC236}">
                <a16:creationId xmlns:a16="http://schemas.microsoft.com/office/drawing/2014/main" id="{468D8228-8629-2CF0-E3DF-FDBC1A4AD73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1000"/>
          </a:blip>
          <a:srcRect t="15730"/>
          <a:stretch>
            <a:fillRect/>
          </a:stretch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  <p:sp>
        <p:nvSpPr>
          <p:cNvPr id="27" name="Rectangle 5">
            <a:extLst>
              <a:ext uri="{FF2B5EF4-FFF2-40B4-BE49-F238E27FC236}">
                <a16:creationId xmlns:a16="http://schemas.microsoft.com/office/drawing/2014/main" id="{59F0F49B-3281-41C6-B073-D004251511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8701" y="1028406"/>
            <a:ext cx="4038600" cy="484107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8336A-EB66-D5AC-5217-00C2D7039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7877" y="1035050"/>
            <a:ext cx="4452968" cy="4800600"/>
          </a:xfr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1900" b="1">
                <a:solidFill>
                  <a:schemeClr val="bg1"/>
                </a:solidFill>
              </a:rPr>
              <a:t>2. Two Anycast IP Addresses Are Created</a:t>
            </a:r>
          </a:p>
          <a:p>
            <a:pPr algn="ctr">
              <a:lnSpc>
                <a:spcPct val="100000"/>
              </a:lnSpc>
            </a:pPr>
            <a:r>
              <a:rPr lang="en-US" sz="1900">
                <a:solidFill>
                  <a:schemeClr val="bg1"/>
                </a:solidFill>
              </a:rPr>
              <a:t>AWS provides </a:t>
            </a:r>
            <a:r>
              <a:rPr lang="en-US" sz="1900" b="1">
                <a:solidFill>
                  <a:schemeClr val="bg1"/>
                </a:solidFill>
              </a:rPr>
              <a:t>two static Anycast IPs</a:t>
            </a:r>
            <a:r>
              <a:rPr lang="en-US" sz="1900">
                <a:solidFill>
                  <a:schemeClr val="bg1"/>
                </a:solidFill>
              </a:rPr>
              <a:t> when you create an accelerator.</a:t>
            </a:r>
          </a:p>
          <a:p>
            <a:pPr algn="ctr">
              <a:lnSpc>
                <a:spcPct val="100000"/>
              </a:lnSpc>
            </a:pPr>
            <a:r>
              <a:rPr lang="en-US" sz="1900">
                <a:solidFill>
                  <a:schemeClr val="bg1"/>
                </a:solidFill>
              </a:rPr>
              <a:t>These IPs act as </a:t>
            </a:r>
            <a:r>
              <a:rPr lang="en-US" sz="1900" b="1">
                <a:solidFill>
                  <a:schemeClr val="bg1"/>
                </a:solidFill>
              </a:rPr>
              <a:t>global entry points</a:t>
            </a:r>
            <a:r>
              <a:rPr lang="en-US" sz="1900">
                <a:solidFill>
                  <a:schemeClr val="bg1"/>
                </a:solidFill>
              </a:rPr>
              <a:t> for your application.</a:t>
            </a:r>
          </a:p>
          <a:p>
            <a:pPr algn="ctr">
              <a:lnSpc>
                <a:spcPct val="100000"/>
              </a:lnSpc>
            </a:pPr>
            <a:r>
              <a:rPr lang="en-US" sz="1900">
                <a:solidFill>
                  <a:schemeClr val="bg1"/>
                </a:solidFill>
              </a:rPr>
              <a:t>Users worldwide connect to the same IPs — traffic automatically routes to the </a:t>
            </a:r>
            <a:r>
              <a:rPr lang="en-US" sz="1900" b="1">
                <a:solidFill>
                  <a:schemeClr val="bg1"/>
                </a:solidFill>
              </a:rPr>
              <a:t>nearest AWS Edge Location</a:t>
            </a:r>
            <a:r>
              <a:rPr lang="en-US" sz="1900">
                <a:solidFill>
                  <a:schemeClr val="bg1"/>
                </a:solidFill>
              </a:rPr>
              <a:t>.</a:t>
            </a:r>
          </a:p>
          <a:p>
            <a:pPr algn="ctr">
              <a:lnSpc>
                <a:spcPct val="100000"/>
              </a:lnSpc>
            </a:pPr>
            <a:r>
              <a:rPr lang="en-US" sz="1900" b="1">
                <a:solidFill>
                  <a:schemeClr val="bg1"/>
                </a:solidFill>
              </a:rPr>
              <a:t>Example:</a:t>
            </a:r>
            <a:endParaRPr lang="en-US" sz="1900">
              <a:solidFill>
                <a:schemeClr val="bg1"/>
              </a:solidFill>
            </a:endParaRPr>
          </a:p>
          <a:p>
            <a:pPr algn="ctr">
              <a:lnSpc>
                <a:spcPct val="100000"/>
              </a:lnSpc>
            </a:pPr>
            <a:r>
              <a:rPr lang="en-US" sz="1900">
                <a:solidFill>
                  <a:schemeClr val="bg1"/>
                </a:solidFill>
              </a:rPr>
              <a:t>User in Pakistan → Mumbai Edge Location</a:t>
            </a:r>
          </a:p>
          <a:p>
            <a:pPr algn="ctr">
              <a:lnSpc>
                <a:spcPct val="100000"/>
              </a:lnSpc>
            </a:pPr>
            <a:r>
              <a:rPr lang="en-US" sz="1900">
                <a:solidFill>
                  <a:schemeClr val="bg1"/>
                </a:solidFill>
              </a:rPr>
              <a:t>User in Germany → Frankfurt Edge Location</a:t>
            </a:r>
          </a:p>
          <a:p>
            <a:pPr algn="ctr">
              <a:lnSpc>
                <a:spcPct val="100000"/>
              </a:lnSpc>
            </a:pPr>
            <a:r>
              <a:rPr lang="en-US" sz="1900">
                <a:solidFill>
                  <a:schemeClr val="bg1"/>
                </a:solidFill>
              </a:rPr>
              <a:t>User in USA → Virginia Edge Location</a:t>
            </a:r>
          </a:p>
          <a:p>
            <a:pPr algn="ctr">
              <a:lnSpc>
                <a:spcPct val="100000"/>
              </a:lnSpc>
            </a:pPr>
            <a:endParaRPr lang="en-US" sz="1900">
              <a:solidFill>
                <a:schemeClr val="bg1"/>
              </a:solidFill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D2492B2-B8B7-4A51-ABA9-EB4480F77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614259" y="4550150"/>
            <a:ext cx="867485" cy="115439"/>
            <a:chOff x="8910933" y="1861308"/>
            <a:chExt cx="867485" cy="115439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E25C357-E66E-42A1-A409-1235486B5C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6318FBB-DA09-4FF6-B480-C513819F1B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67E98EC-5AA4-4A5A-9F6D-20968E3A5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30DE9CB-4267-487A-915E-5665607E9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614258" y="4550150"/>
            <a:ext cx="867485" cy="115439"/>
            <a:chOff x="8910933" y="1861308"/>
            <a:chExt cx="867485" cy="115439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237361B-A61F-4EEA-8554-10DEFF0AB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BBC8A6A-A883-4F9C-82BA-607223F36C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234343E-05EC-4327-BA72-FD68FF0491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88048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4" name="Rectangle 93">
            <a:extLst>
              <a:ext uri="{FF2B5EF4-FFF2-40B4-BE49-F238E27FC236}">
                <a16:creationId xmlns:a16="http://schemas.microsoft.com/office/drawing/2014/main" id="{C07271E9-21F4-400B-84B6-052EAFCFE5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3E3D78ED-34B7-4F8E-8377-994DCAD3C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69648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F9CB2D1-3DEA-84AA-7B05-8BF0FE86428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170" r="1" b="1"/>
          <a:stretch>
            <a:fillRect/>
          </a:stretch>
        </p:blipFill>
        <p:spPr>
          <a:xfrm>
            <a:off x="20" y="10"/>
            <a:ext cx="12191979" cy="6869638"/>
          </a:xfrm>
          <a:prstGeom prst="rect">
            <a:avLst/>
          </a:prstGeom>
        </p:spPr>
      </p:pic>
      <p:sp>
        <p:nvSpPr>
          <p:cNvPr id="96" name="Content Placeholder 2">
            <a:extLst>
              <a:ext uri="{FF2B5EF4-FFF2-40B4-BE49-F238E27FC236}">
                <a16:creationId xmlns:a16="http://schemas.microsoft.com/office/drawing/2014/main" id="{3B33D487-91F2-5645-1CD5-6F977AFBE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1962" y="2161903"/>
            <a:ext cx="6788076" cy="3416512"/>
          </a:xfr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2500" lnSpcReduction="10000"/>
          </a:bodyPr>
          <a:lstStyle/>
          <a:p>
            <a:pPr algn="ctr">
              <a:lnSpc>
                <a:spcPct val="100000"/>
              </a:lnSpc>
            </a:pPr>
            <a:r>
              <a:rPr lang="en-US" b="1" dirty="0">
                <a:solidFill>
                  <a:schemeClr val="tx1"/>
                </a:solidFill>
              </a:rPr>
              <a:t>3. Edge Locations Forward Traffic to Your Application</a:t>
            </a:r>
          </a:p>
          <a:p>
            <a:pPr algn="ctr"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</a:rPr>
              <a:t>Once traffic reaches the </a:t>
            </a:r>
            <a:r>
              <a:rPr lang="en-US" b="1" dirty="0">
                <a:solidFill>
                  <a:schemeClr val="tx1"/>
                </a:solidFill>
              </a:rPr>
              <a:t>nearest Edge Location</a:t>
            </a:r>
            <a:r>
              <a:rPr lang="en-US" dirty="0">
                <a:solidFill>
                  <a:schemeClr val="tx1"/>
                </a:solidFill>
              </a:rPr>
              <a:t>, it enters the </a:t>
            </a:r>
            <a:r>
              <a:rPr lang="en-US" b="1" dirty="0">
                <a:solidFill>
                  <a:schemeClr val="tx1"/>
                </a:solidFill>
              </a:rPr>
              <a:t>AWS private network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algn="ctr"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</a:rPr>
              <a:t>The traffic is forwarded to your </a:t>
            </a:r>
            <a:r>
              <a:rPr lang="en-US" b="1" dirty="0">
                <a:solidFill>
                  <a:schemeClr val="tx1"/>
                </a:solidFill>
              </a:rPr>
              <a:t>application endpoint</a:t>
            </a:r>
            <a:r>
              <a:rPr lang="en-US" dirty="0">
                <a:solidFill>
                  <a:schemeClr val="tx1"/>
                </a:solidFill>
              </a:rPr>
              <a:t>, such as:</a:t>
            </a:r>
          </a:p>
          <a:p>
            <a:pPr lvl="1" algn="ctr">
              <a:lnSpc>
                <a:spcPct val="100000"/>
              </a:lnSpc>
            </a:pPr>
            <a:r>
              <a:rPr lang="en-US" sz="2000" dirty="0">
                <a:solidFill>
                  <a:schemeClr val="tx1"/>
                </a:solidFill>
              </a:rPr>
              <a:t>Application Load Balancer (ALB)</a:t>
            </a:r>
          </a:p>
          <a:p>
            <a:pPr lvl="1" algn="ctr">
              <a:lnSpc>
                <a:spcPct val="100000"/>
              </a:lnSpc>
            </a:pPr>
            <a:r>
              <a:rPr lang="en-US" sz="2000" dirty="0">
                <a:solidFill>
                  <a:schemeClr val="tx1"/>
                </a:solidFill>
              </a:rPr>
              <a:t>Network Load Balancer (NLB)</a:t>
            </a:r>
          </a:p>
          <a:p>
            <a:pPr lvl="1" algn="ctr">
              <a:lnSpc>
                <a:spcPct val="100000"/>
              </a:lnSpc>
            </a:pPr>
            <a:r>
              <a:rPr lang="en-US" sz="2000" dirty="0">
                <a:solidFill>
                  <a:schemeClr val="tx1"/>
                </a:solidFill>
              </a:rPr>
              <a:t>EC2 Instance</a:t>
            </a:r>
          </a:p>
          <a:p>
            <a:pPr lvl="1" algn="ctr">
              <a:lnSpc>
                <a:spcPct val="100000"/>
              </a:lnSpc>
            </a:pPr>
            <a:r>
              <a:rPr lang="en-US" sz="2000" dirty="0">
                <a:solidFill>
                  <a:schemeClr val="tx1"/>
                </a:solidFill>
              </a:rPr>
              <a:t>Elastic IP</a:t>
            </a:r>
          </a:p>
          <a:p>
            <a:pPr algn="ctr">
              <a:lnSpc>
                <a:spcPct val="100000"/>
              </a:lnSpc>
            </a:pPr>
            <a:r>
              <a:rPr lang="en-US" b="1" dirty="0">
                <a:solidFill>
                  <a:schemeClr val="tx1"/>
                </a:solidFill>
              </a:rPr>
              <a:t>Ensures: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Traffic follows </a:t>
            </a:r>
            <a:r>
              <a:rPr lang="en-US" b="1" dirty="0">
                <a:solidFill>
                  <a:schemeClr val="tx1"/>
                </a:solidFill>
              </a:rPr>
              <a:t>optimized AWS routes</a:t>
            </a:r>
            <a:r>
              <a:rPr lang="en-US" dirty="0">
                <a:solidFill>
                  <a:schemeClr val="tx1"/>
                </a:solidFill>
              </a:rPr>
              <a:t>, not the public internet.</a:t>
            </a:r>
          </a:p>
          <a:p>
            <a:pPr algn="ctr">
              <a:lnSpc>
                <a:spcPct val="100000"/>
              </a:lnSpc>
            </a:pPr>
            <a:endParaRPr lang="en-US" sz="1500" dirty="0">
              <a:solidFill>
                <a:schemeClr val="tx1"/>
              </a:solidFill>
            </a:endParaRP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A1527245-C5C2-4BD3-8317-C4D6D7A10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2258" y="5849932"/>
            <a:ext cx="867485" cy="115439"/>
            <a:chOff x="8910933" y="1861308"/>
            <a:chExt cx="867485" cy="115439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E03BA463-C04F-4127-9100-1F376E519B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1FD6DA6-F7BC-4426-8465-928C4EC4A4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49A28AE3-3C29-44E4-80A5-C2937F8E7A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118198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7B4854C3-58CC-4A2C-B4CA-926819F0C2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5">
            <a:extLst>
              <a:ext uri="{FF2B5EF4-FFF2-40B4-BE49-F238E27FC236}">
                <a16:creationId xmlns:a16="http://schemas.microsoft.com/office/drawing/2014/main" id="{FA7B9933-15AE-4ACB-B091-21C9F3853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8700" y="1028700"/>
            <a:ext cx="4038600" cy="484107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E57BB50-0A5D-4AD7-87AB-5904B788B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614258" y="4550150"/>
            <a:ext cx="867485" cy="115439"/>
            <a:chOff x="8910933" y="1861308"/>
            <a:chExt cx="867485" cy="115439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CD5E7CE-8430-4ED8-87F2-AF5C660CF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4A1AC28-5B9C-4D41-95E9-675EDF3F4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5E446F29-8D76-46EF-B0AF-41066F65AA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3413963E-2422-7746-EBF2-AFEA0FEB0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9825" y="723900"/>
            <a:ext cx="4735375" cy="5410200"/>
          </a:xfrm>
        </p:spPr>
        <p:txBody>
          <a:bodyPr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1700" b="1" dirty="0"/>
              <a:t>4. Multi-Region Support &amp; Automatic Failover</a:t>
            </a:r>
          </a:p>
          <a:p>
            <a:pPr algn="ctr">
              <a:lnSpc>
                <a:spcPct val="100000"/>
              </a:lnSpc>
            </a:pPr>
            <a:r>
              <a:rPr lang="en-US" sz="1700" dirty="0"/>
              <a:t>Automatically routes users to the nearest healthy AWS Region.</a:t>
            </a:r>
          </a:p>
          <a:p>
            <a:pPr algn="ctr">
              <a:lnSpc>
                <a:spcPct val="100000"/>
              </a:lnSpc>
            </a:pPr>
            <a:r>
              <a:rPr lang="en-US" sz="1700" dirty="0"/>
              <a:t>If an endpoint or region becomes unavailable traffic instantly redirects to a healthy one.</a:t>
            </a:r>
          </a:p>
          <a:p>
            <a:pPr algn="ctr">
              <a:lnSpc>
                <a:spcPct val="100000"/>
              </a:lnSpc>
            </a:pPr>
            <a:r>
              <a:rPr lang="en-US" sz="1700" b="1" dirty="0"/>
              <a:t>No DNS propagation delay</a:t>
            </a:r>
            <a:r>
              <a:rPr lang="en-US" sz="1700" dirty="0"/>
              <a:t> : zero downtime for users.</a:t>
            </a:r>
          </a:p>
          <a:p>
            <a:pPr algn="ctr">
              <a:lnSpc>
                <a:spcPct val="100000"/>
              </a:lnSpc>
            </a:pPr>
            <a:r>
              <a:rPr lang="en-US" sz="1700" b="1" dirty="0"/>
              <a:t>5. Continuous Health Checks</a:t>
            </a:r>
          </a:p>
          <a:p>
            <a:pPr algn="ctr">
              <a:lnSpc>
                <a:spcPct val="100000"/>
              </a:lnSpc>
            </a:pPr>
            <a:r>
              <a:rPr lang="en-US" sz="1700" dirty="0"/>
              <a:t>Global Accelerator continuously monitors all application endpoints.</a:t>
            </a:r>
          </a:p>
          <a:p>
            <a:pPr algn="ctr">
              <a:lnSpc>
                <a:spcPct val="100000"/>
              </a:lnSpc>
            </a:pPr>
            <a:r>
              <a:rPr lang="en-US" sz="1700" dirty="0"/>
              <a:t>Unhealthy endpoints are automatically removed from routing.</a:t>
            </a:r>
          </a:p>
          <a:p>
            <a:pPr algn="ctr">
              <a:lnSpc>
                <a:spcPct val="100000"/>
              </a:lnSpc>
            </a:pPr>
            <a:r>
              <a:rPr lang="en-US" sz="1700" dirty="0"/>
              <a:t>Traffic is sent only to healthy, available endpoints.</a:t>
            </a:r>
          </a:p>
          <a:p>
            <a:pPr algn="ctr">
              <a:lnSpc>
                <a:spcPct val="100000"/>
              </a:lnSpc>
            </a:pPr>
            <a:r>
              <a:rPr lang="en-US" sz="1700" dirty="0"/>
              <a:t> </a:t>
            </a:r>
            <a:r>
              <a:rPr lang="en-US" sz="1700" b="1" dirty="0"/>
              <a:t>Ensures:</a:t>
            </a:r>
            <a:br>
              <a:rPr lang="en-US" sz="1700" dirty="0"/>
            </a:br>
            <a:r>
              <a:rPr lang="en-US" sz="1700" dirty="0"/>
              <a:t>High availability and automatic disaster recovery.</a:t>
            </a:r>
          </a:p>
          <a:p>
            <a:pPr algn="ctr">
              <a:lnSpc>
                <a:spcPct val="100000"/>
              </a:lnSpc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212521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D97F34F9-F7CE-4D62-8F8B-2E98B0394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1AEC8AF-1896-43A9-BF10-CE06FD25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E199BD9-A6EE-4972-BFB5-2AAE28288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919" y="157606"/>
            <a:ext cx="11870161" cy="6542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DE375D72-276A-B0A4-E3F9-D8375B725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2974" y="1066799"/>
            <a:ext cx="5172227" cy="4696495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b="1" dirty="0"/>
              <a:t>6. Static IPs (No DNS Dependency)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Provides two fixed IPs that stay constant — even if endpoints or regions change.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Simplifies IP whitelisting and removes DNS-based failover delays.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Ideal for enterprises needing stable IPs for firewall rules.</a:t>
            </a:r>
          </a:p>
          <a:p>
            <a:pPr>
              <a:lnSpc>
                <a:spcPct val="100000"/>
              </a:lnSpc>
            </a:pPr>
            <a:r>
              <a:rPr lang="en-US" sz="1600" b="1" dirty="0"/>
              <a:t>7. Security and Integration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Built-in integration with AWS Shield → protects against DDoS attacks.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Compatible with ALB, NLB, EC2, Elastic IPs.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Supports both TCP and UDP protocols → perfect for gaming, VoIP, real-time, and streaming apps.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Traffic stays within the AWS global network, enhancing security and reliability.</a:t>
            </a:r>
          </a:p>
          <a:p>
            <a:pPr>
              <a:lnSpc>
                <a:spcPct val="100000"/>
              </a:lnSpc>
            </a:pPr>
            <a:endParaRPr lang="en-US" sz="1600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148C992-36DE-4449-B92D-49AE04B5D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41417" y="4244117"/>
            <a:ext cx="867485" cy="115439"/>
            <a:chOff x="8910933" y="1861308"/>
            <a:chExt cx="867485" cy="115439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765B2C1-DF41-437F-9F2D-C33E46FA2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6AA37ED-ED19-4857-9B2C-777E8F707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C45F6E87-86FB-440C-9EB4-A48D11C72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24070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7" name="Rectangle 116">
            <a:extLst>
              <a:ext uri="{FF2B5EF4-FFF2-40B4-BE49-F238E27FC236}">
                <a16:creationId xmlns:a16="http://schemas.microsoft.com/office/drawing/2014/main" id="{7B22176A-41DB-4D9A-9B6F-F2296F1ED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774A8DF5-445E-49C5-B10A-8DF5FEFBC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9A4E38D9-EFB8-40B5-B42B-514FBF180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7056BB-8390-EBB4-3014-468763471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1" y="963919"/>
            <a:ext cx="10134600" cy="103699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 kern="1200" cap="all" spc="390" baseline="0" dirty="0">
                <a:latin typeface="+mj-lt"/>
                <a:ea typeface="+mj-ea"/>
                <a:cs typeface="+mj-cs"/>
              </a:rPr>
              <a:t>AWS Global Accelerator vs CloudFront</a:t>
            </a:r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D87FFE71-34DC-4C53-AE0F-6B141D081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2257" y="2169459"/>
            <a:ext cx="867485" cy="115439"/>
            <a:chOff x="8910933" y="1861308"/>
            <a:chExt cx="867485" cy="115439"/>
          </a:xfrm>
        </p:grpSpPr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37DF92F1-0E20-46AC-BB8F-F66926B40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FFA14CB4-8459-4D23-B4FF-8F9868E3FC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7A0C763F-37C4-4E00-AEB2-8867F4AA25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203F7DC-0F79-56E9-86F5-FD724B025B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081247"/>
              </p:ext>
            </p:extLst>
          </p:nvPr>
        </p:nvGraphicFramePr>
        <p:xfrm>
          <a:off x="1860033" y="2749258"/>
          <a:ext cx="8471935" cy="333816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144346">
                  <a:extLst>
                    <a:ext uri="{9D8B030D-6E8A-4147-A177-3AD203B41FA5}">
                      <a16:colId xmlns:a16="http://schemas.microsoft.com/office/drawing/2014/main" val="3567733205"/>
                    </a:ext>
                  </a:extLst>
                </a:gridCol>
                <a:gridCol w="2719965">
                  <a:extLst>
                    <a:ext uri="{9D8B030D-6E8A-4147-A177-3AD203B41FA5}">
                      <a16:colId xmlns:a16="http://schemas.microsoft.com/office/drawing/2014/main" val="3642032551"/>
                    </a:ext>
                  </a:extLst>
                </a:gridCol>
                <a:gridCol w="3607624">
                  <a:extLst>
                    <a:ext uri="{9D8B030D-6E8A-4147-A177-3AD203B41FA5}">
                      <a16:colId xmlns:a16="http://schemas.microsoft.com/office/drawing/2014/main" val="638993769"/>
                    </a:ext>
                  </a:extLst>
                </a:gridCol>
              </a:tblGrid>
              <a:tr h="4768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Feature</a:t>
                      </a:r>
                    </a:p>
                  </a:txBody>
                  <a:tcPr marL="191096" marR="114658" marT="114658" marB="114658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Amazon CloudFront</a:t>
                      </a:r>
                    </a:p>
                  </a:txBody>
                  <a:tcPr marL="191096" marR="114658" marT="114658" marB="11465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AWS Global Accelerator</a:t>
                      </a:r>
                    </a:p>
                  </a:txBody>
                  <a:tcPr marL="191096" marR="114658" marT="114658" marB="11465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297044"/>
                  </a:ext>
                </a:extLst>
              </a:tr>
              <a:tr h="4768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Main Use</a:t>
                      </a:r>
                      <a:endParaRPr lang="en-US" sz="1400" cap="none" spc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91096" marR="114658" marT="114658" marB="114658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CDN (content delivery)</a:t>
                      </a:r>
                    </a:p>
                  </a:txBody>
                  <a:tcPr marL="191096" marR="114658" marT="114658" marB="11465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Global application routing</a:t>
                      </a:r>
                    </a:p>
                  </a:txBody>
                  <a:tcPr marL="191096" marR="114658" marT="114658" marB="11465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5449935"/>
                  </a:ext>
                </a:extLst>
              </a:tr>
              <a:tr h="4768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Traffic Type</a:t>
                      </a:r>
                      <a:endParaRPr lang="en-US" sz="1400" cap="none" spc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91096" marR="114658" marT="114658" marB="114658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HTTP/HTTPS</a:t>
                      </a:r>
                    </a:p>
                  </a:txBody>
                  <a:tcPr marL="191096" marR="114658" marT="114658" marB="11465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TCP &amp; UDP</a:t>
                      </a:r>
                    </a:p>
                  </a:txBody>
                  <a:tcPr marL="191096" marR="114658" marT="114658" marB="11465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732303"/>
                  </a:ext>
                </a:extLst>
              </a:tr>
              <a:tr h="4768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Content Handling</a:t>
                      </a:r>
                      <a:endParaRPr lang="en-US" sz="1400" cap="none" spc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91096" marR="114658" marT="114658" marB="114658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Caches content at edges</a:t>
                      </a:r>
                    </a:p>
                  </a:txBody>
                  <a:tcPr marL="191096" marR="114658" marT="114658" marB="11465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Forwards traffic via AWS network</a:t>
                      </a:r>
                    </a:p>
                  </a:txBody>
                  <a:tcPr marL="191096" marR="114658" marT="114658" marB="11465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281355"/>
                  </a:ext>
                </a:extLst>
              </a:tr>
              <a:tr h="4768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Best For</a:t>
                      </a:r>
                      <a:endParaRPr lang="en-US" sz="1400" cap="none" spc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91096" marR="114658" marT="114658" marB="114658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Websites, APIs, videos</a:t>
                      </a:r>
                    </a:p>
                  </a:txBody>
                  <a:tcPr marL="191096" marR="114658" marT="114658" marB="11465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Games, IoT, VoIP, multi-region apps</a:t>
                      </a:r>
                    </a:p>
                  </a:txBody>
                  <a:tcPr marL="191096" marR="114658" marT="114658" marB="11465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248660"/>
                  </a:ext>
                </a:extLst>
              </a:tr>
              <a:tr h="4768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Static IPs</a:t>
                      </a:r>
                      <a:endParaRPr lang="en-US" sz="1400" cap="none" spc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91096" marR="114658" marT="114658" marB="114658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Not supported</a:t>
                      </a:r>
                    </a:p>
                  </a:txBody>
                  <a:tcPr marL="191096" marR="114658" marT="114658" marB="11465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Supported</a:t>
                      </a:r>
                    </a:p>
                  </a:txBody>
                  <a:tcPr marL="191096" marR="114658" marT="114658" marB="11465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15339"/>
                  </a:ext>
                </a:extLst>
              </a:tr>
              <a:tr h="4768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Failover Speed</a:t>
                      </a:r>
                      <a:endParaRPr lang="en-US" sz="1400" cap="none" spc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91096" marR="114658" marT="114658" marB="114658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Slower (DNS-based)</a:t>
                      </a:r>
                    </a:p>
                  </a:txBody>
                  <a:tcPr marL="191096" marR="114658" marT="114658" marB="11465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Instant (AWS routing)</a:t>
                      </a:r>
                    </a:p>
                  </a:txBody>
                  <a:tcPr marL="191096" marR="114658" marT="114658" marB="11465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81748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6562571"/>
      </p:ext>
    </p:extLst>
  </p:cSld>
  <p:clrMapOvr>
    <a:masterClrMapping/>
  </p:clrMapOvr>
</p:sld>
</file>

<file path=ppt/theme/theme1.xml><?xml version="1.0" encoding="utf-8"?>
<a:theme xmlns:a="http://schemas.openxmlformats.org/drawingml/2006/main" name="AdornVTI">
  <a:themeElements>
    <a:clrScheme name="GC1">
      <a:dk1>
        <a:sysClr val="windowText" lastClr="000000"/>
      </a:dk1>
      <a:lt1>
        <a:sysClr val="window" lastClr="FFFFFF"/>
      </a:lt1>
      <a:dk2>
        <a:srgbClr val="2C2830"/>
      </a:dk2>
      <a:lt2>
        <a:srgbClr val="E0DCE1"/>
      </a:lt2>
      <a:accent1>
        <a:srgbClr val="908193"/>
      </a:accent1>
      <a:accent2>
        <a:srgbClr val="A08889"/>
      </a:accent2>
      <a:accent3>
        <a:srgbClr val="B48C7E"/>
      </a:accent3>
      <a:accent4>
        <a:srgbClr val="809C9B"/>
      </a:accent4>
      <a:accent5>
        <a:srgbClr val="899F91"/>
      </a:accent5>
      <a:accent6>
        <a:srgbClr val="728274"/>
      </a:accent6>
      <a:hlink>
        <a:srgbClr val="837585"/>
      </a:hlink>
      <a:folHlink>
        <a:srgbClr val="677E83"/>
      </a:folHlink>
    </a:clrScheme>
    <a:fontScheme name="Bembo">
      <a:majorFont>
        <a:latin typeface="Bembo"/>
        <a:ea typeface=""/>
        <a:cs typeface=""/>
      </a:majorFont>
      <a:minorFont>
        <a:latin typeface="Bemb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dornVTI" id="{497E3FA9-5A27-4D12-9D04-917BEF3D1303}" vid="{34192A01-61CA-4566-9818-841C607496F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839</Words>
  <Application>Microsoft Office PowerPoint</Application>
  <PresentationFormat>Widescreen</PresentationFormat>
  <Paragraphs>101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Bembo</vt:lpstr>
      <vt:lpstr>AdornVTI</vt:lpstr>
      <vt:lpstr>AWS Global Accelerator</vt:lpstr>
      <vt:lpstr>Global users for our application</vt:lpstr>
      <vt:lpstr>Unicast IP</vt:lpstr>
      <vt:lpstr>Anycast IP (Multiple Servers Share One IP Address) </vt:lpstr>
      <vt:lpstr>AWS Global Accelerator </vt:lpstr>
      <vt:lpstr>Main Features of AWS Global Accelerator</vt:lpstr>
      <vt:lpstr>PowerPoint Presentation</vt:lpstr>
      <vt:lpstr>PowerPoint Presentation</vt:lpstr>
      <vt:lpstr>PowerPoint Presentation</vt:lpstr>
      <vt:lpstr>PowerPoint Presentation</vt:lpstr>
      <vt:lpstr>AWS Global Accelerator vs CloudFront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Adnan Ullah</dc:creator>
  <cp:lastModifiedBy>Adnan Ullah</cp:lastModifiedBy>
  <cp:revision>1</cp:revision>
  <dcterms:created xsi:type="dcterms:W3CDTF">2025-10-29T07:01:03Z</dcterms:created>
  <dcterms:modified xsi:type="dcterms:W3CDTF">2025-10-29T12:19:22Z</dcterms:modified>
</cp:coreProperties>
</file>