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A57A4F-8DCA-4A2D-8C57-845F0DA771F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A8DE23-0F66-4DD0-A9DA-8C0A22FA0CFC}">
      <dgm:prSet/>
      <dgm:spPr/>
      <dgm:t>
        <a:bodyPr/>
        <a:lstStyle/>
        <a:p>
          <a:r>
            <a:rPr lang="en-US"/>
            <a:t>Both are </a:t>
          </a:r>
          <a:r>
            <a:rPr lang="en-US" b="1"/>
            <a:t>firewalls</a:t>
          </a:r>
          <a:r>
            <a:rPr lang="en-US"/>
            <a:t> in AWS VPC networking.</a:t>
          </a:r>
        </a:p>
      </dgm:t>
    </dgm:pt>
    <dgm:pt modelId="{6084EA05-2739-4A0E-AE64-721589989196}" type="parTrans" cxnId="{B7E2B2F7-BB6F-4B66-9322-E01934B18150}">
      <dgm:prSet/>
      <dgm:spPr/>
      <dgm:t>
        <a:bodyPr/>
        <a:lstStyle/>
        <a:p>
          <a:endParaRPr lang="en-US"/>
        </a:p>
      </dgm:t>
    </dgm:pt>
    <dgm:pt modelId="{3FFB6C8D-392D-43F4-89B5-E0F6E66A4CF7}" type="sibTrans" cxnId="{B7E2B2F7-BB6F-4B66-9322-E01934B18150}">
      <dgm:prSet/>
      <dgm:spPr/>
      <dgm:t>
        <a:bodyPr/>
        <a:lstStyle/>
        <a:p>
          <a:endParaRPr lang="en-US"/>
        </a:p>
      </dgm:t>
    </dgm:pt>
    <dgm:pt modelId="{2DD806B7-73BD-4173-9971-E8DE81A83677}">
      <dgm:prSet/>
      <dgm:spPr/>
      <dgm:t>
        <a:bodyPr/>
        <a:lstStyle/>
        <a:p>
          <a:r>
            <a:rPr lang="en-US"/>
            <a:t>Both </a:t>
          </a:r>
          <a:r>
            <a:rPr lang="en-US" b="1"/>
            <a:t>control inbound and outbound traffic</a:t>
          </a:r>
          <a:r>
            <a:rPr lang="en-US"/>
            <a:t>.</a:t>
          </a:r>
        </a:p>
      </dgm:t>
    </dgm:pt>
    <dgm:pt modelId="{184236F8-096B-4CE7-A4A1-F004415F6C1F}" type="parTrans" cxnId="{BCC43342-2711-4434-AD29-33D7AE6096CE}">
      <dgm:prSet/>
      <dgm:spPr/>
      <dgm:t>
        <a:bodyPr/>
        <a:lstStyle/>
        <a:p>
          <a:endParaRPr lang="en-US"/>
        </a:p>
      </dgm:t>
    </dgm:pt>
    <dgm:pt modelId="{4937C93F-347C-4367-8EE1-E31949E818B9}" type="sibTrans" cxnId="{BCC43342-2711-4434-AD29-33D7AE6096CE}">
      <dgm:prSet/>
      <dgm:spPr/>
      <dgm:t>
        <a:bodyPr/>
        <a:lstStyle/>
        <a:p>
          <a:endParaRPr lang="en-US"/>
        </a:p>
      </dgm:t>
    </dgm:pt>
    <dgm:pt modelId="{D718EA19-59C5-40B4-9C6E-B7169D5FC473}">
      <dgm:prSet/>
      <dgm:spPr/>
      <dgm:t>
        <a:bodyPr/>
        <a:lstStyle/>
        <a:p>
          <a:r>
            <a:rPr lang="en-US"/>
            <a:t>Both work at </a:t>
          </a:r>
          <a:r>
            <a:rPr lang="en-US" b="1"/>
            <a:t>different layers</a:t>
          </a:r>
          <a:r>
            <a:rPr lang="en-US"/>
            <a:t> of the VPC networking stack.</a:t>
          </a:r>
        </a:p>
      </dgm:t>
    </dgm:pt>
    <dgm:pt modelId="{A417EC19-7F83-4A0E-BDEB-E6434D6B804F}" type="parTrans" cxnId="{2074C530-F1AF-44B3-9F7B-C4803794E2FE}">
      <dgm:prSet/>
      <dgm:spPr/>
      <dgm:t>
        <a:bodyPr/>
        <a:lstStyle/>
        <a:p>
          <a:endParaRPr lang="en-US"/>
        </a:p>
      </dgm:t>
    </dgm:pt>
    <dgm:pt modelId="{114CD629-6741-4036-9DEC-BE2B2BB9BB0F}" type="sibTrans" cxnId="{2074C530-F1AF-44B3-9F7B-C4803794E2FE}">
      <dgm:prSet/>
      <dgm:spPr/>
      <dgm:t>
        <a:bodyPr/>
        <a:lstStyle/>
        <a:p>
          <a:endParaRPr lang="en-US"/>
        </a:p>
      </dgm:t>
    </dgm:pt>
    <dgm:pt modelId="{9D720129-2617-4A21-AF9B-103C86DD2CEB}" type="pres">
      <dgm:prSet presAssocID="{5BA57A4F-8DCA-4A2D-8C57-845F0DA771F5}" presName="root" presStyleCnt="0">
        <dgm:presLayoutVars>
          <dgm:dir/>
          <dgm:resizeHandles val="exact"/>
        </dgm:presLayoutVars>
      </dgm:prSet>
      <dgm:spPr/>
    </dgm:pt>
    <dgm:pt modelId="{646E1430-923E-4E1B-84C7-0E856628362E}" type="pres">
      <dgm:prSet presAssocID="{97A8DE23-0F66-4DD0-A9DA-8C0A22FA0CFC}" presName="compNode" presStyleCnt="0"/>
      <dgm:spPr/>
    </dgm:pt>
    <dgm:pt modelId="{4DF08340-90D5-44E9-88A9-2E22D79CC9B0}" type="pres">
      <dgm:prSet presAssocID="{97A8DE23-0F66-4DD0-A9DA-8C0A22FA0CF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340755F-A8E0-4E21-ADF5-51324C94C56E}" type="pres">
      <dgm:prSet presAssocID="{97A8DE23-0F66-4DD0-A9DA-8C0A22FA0CFC}" presName="spaceRect" presStyleCnt="0"/>
      <dgm:spPr/>
    </dgm:pt>
    <dgm:pt modelId="{1497F4B0-5B9F-4846-A1A1-C82F732C996C}" type="pres">
      <dgm:prSet presAssocID="{97A8DE23-0F66-4DD0-A9DA-8C0A22FA0CFC}" presName="textRect" presStyleLbl="revTx" presStyleIdx="0" presStyleCnt="3">
        <dgm:presLayoutVars>
          <dgm:chMax val="1"/>
          <dgm:chPref val="1"/>
        </dgm:presLayoutVars>
      </dgm:prSet>
      <dgm:spPr/>
    </dgm:pt>
    <dgm:pt modelId="{AC15881A-9271-4FA2-991E-16C5D7519EB7}" type="pres">
      <dgm:prSet presAssocID="{3FFB6C8D-392D-43F4-89B5-E0F6E66A4CF7}" presName="sibTrans" presStyleCnt="0"/>
      <dgm:spPr/>
    </dgm:pt>
    <dgm:pt modelId="{E5756E61-9C61-49C8-ABD0-E2A0B33FB3BC}" type="pres">
      <dgm:prSet presAssocID="{2DD806B7-73BD-4173-9971-E8DE81A83677}" presName="compNode" presStyleCnt="0"/>
      <dgm:spPr/>
    </dgm:pt>
    <dgm:pt modelId="{F5E64F86-E12C-4275-BF8A-744DC8ED5EFB}" type="pres">
      <dgm:prSet presAssocID="{2DD806B7-73BD-4173-9971-E8DE81A8367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A6EB296F-9AF9-4678-B559-E6B19B2C93DA}" type="pres">
      <dgm:prSet presAssocID="{2DD806B7-73BD-4173-9971-E8DE81A83677}" presName="spaceRect" presStyleCnt="0"/>
      <dgm:spPr/>
    </dgm:pt>
    <dgm:pt modelId="{00B9A208-0CE2-4210-BA18-772088350A94}" type="pres">
      <dgm:prSet presAssocID="{2DD806B7-73BD-4173-9971-E8DE81A83677}" presName="textRect" presStyleLbl="revTx" presStyleIdx="1" presStyleCnt="3">
        <dgm:presLayoutVars>
          <dgm:chMax val="1"/>
          <dgm:chPref val="1"/>
        </dgm:presLayoutVars>
      </dgm:prSet>
      <dgm:spPr/>
    </dgm:pt>
    <dgm:pt modelId="{ED8ABB93-A7E7-4F0C-BE5E-C5EC9BBD8B91}" type="pres">
      <dgm:prSet presAssocID="{4937C93F-347C-4367-8EE1-E31949E818B9}" presName="sibTrans" presStyleCnt="0"/>
      <dgm:spPr/>
    </dgm:pt>
    <dgm:pt modelId="{10028C3B-0D0A-48BD-9DE0-21D607D3EECF}" type="pres">
      <dgm:prSet presAssocID="{D718EA19-59C5-40B4-9C6E-B7169D5FC473}" presName="compNode" presStyleCnt="0"/>
      <dgm:spPr/>
    </dgm:pt>
    <dgm:pt modelId="{BEE10568-699E-4DA7-94D7-4446EB064EDE}" type="pres">
      <dgm:prSet presAssocID="{D718EA19-59C5-40B4-9C6E-B7169D5FC4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BF7FDAF6-C05E-4183-95BB-D76C58826150}" type="pres">
      <dgm:prSet presAssocID="{D718EA19-59C5-40B4-9C6E-B7169D5FC473}" presName="spaceRect" presStyleCnt="0"/>
      <dgm:spPr/>
    </dgm:pt>
    <dgm:pt modelId="{B81B7316-E6E5-4905-95F3-2FEA68866992}" type="pres">
      <dgm:prSet presAssocID="{D718EA19-59C5-40B4-9C6E-B7169D5FC47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074C530-F1AF-44B3-9F7B-C4803794E2FE}" srcId="{5BA57A4F-8DCA-4A2D-8C57-845F0DA771F5}" destId="{D718EA19-59C5-40B4-9C6E-B7169D5FC473}" srcOrd="2" destOrd="0" parTransId="{A417EC19-7F83-4A0E-BDEB-E6434D6B804F}" sibTransId="{114CD629-6741-4036-9DEC-BE2B2BB9BB0F}"/>
    <dgm:cxn modelId="{BCC43342-2711-4434-AD29-33D7AE6096CE}" srcId="{5BA57A4F-8DCA-4A2D-8C57-845F0DA771F5}" destId="{2DD806B7-73BD-4173-9971-E8DE81A83677}" srcOrd="1" destOrd="0" parTransId="{184236F8-096B-4CE7-A4A1-F004415F6C1F}" sibTransId="{4937C93F-347C-4367-8EE1-E31949E818B9}"/>
    <dgm:cxn modelId="{83A2F56B-6662-43DB-88EE-08C3F7847F82}" type="presOf" srcId="{97A8DE23-0F66-4DD0-A9DA-8C0A22FA0CFC}" destId="{1497F4B0-5B9F-4846-A1A1-C82F732C996C}" srcOrd="0" destOrd="0" presId="urn:microsoft.com/office/officeart/2018/2/layout/IconLabelList"/>
    <dgm:cxn modelId="{EA42C4AF-2DD5-4326-9826-74C27873F344}" type="presOf" srcId="{2DD806B7-73BD-4173-9971-E8DE81A83677}" destId="{00B9A208-0CE2-4210-BA18-772088350A94}" srcOrd="0" destOrd="0" presId="urn:microsoft.com/office/officeart/2018/2/layout/IconLabelList"/>
    <dgm:cxn modelId="{2F44A6B9-5F76-4DCC-8919-580A9CF6E6B5}" type="presOf" srcId="{D718EA19-59C5-40B4-9C6E-B7169D5FC473}" destId="{B81B7316-E6E5-4905-95F3-2FEA68866992}" srcOrd="0" destOrd="0" presId="urn:microsoft.com/office/officeart/2018/2/layout/IconLabelList"/>
    <dgm:cxn modelId="{445D9CE4-897C-4611-A1A8-4065C890C325}" type="presOf" srcId="{5BA57A4F-8DCA-4A2D-8C57-845F0DA771F5}" destId="{9D720129-2617-4A21-AF9B-103C86DD2CEB}" srcOrd="0" destOrd="0" presId="urn:microsoft.com/office/officeart/2018/2/layout/IconLabelList"/>
    <dgm:cxn modelId="{B7E2B2F7-BB6F-4B66-9322-E01934B18150}" srcId="{5BA57A4F-8DCA-4A2D-8C57-845F0DA771F5}" destId="{97A8DE23-0F66-4DD0-A9DA-8C0A22FA0CFC}" srcOrd="0" destOrd="0" parTransId="{6084EA05-2739-4A0E-AE64-721589989196}" sibTransId="{3FFB6C8D-392D-43F4-89B5-E0F6E66A4CF7}"/>
    <dgm:cxn modelId="{C02D1995-682D-4A6F-A62E-8FF914200043}" type="presParOf" srcId="{9D720129-2617-4A21-AF9B-103C86DD2CEB}" destId="{646E1430-923E-4E1B-84C7-0E856628362E}" srcOrd="0" destOrd="0" presId="urn:microsoft.com/office/officeart/2018/2/layout/IconLabelList"/>
    <dgm:cxn modelId="{88D8CDE2-F2E9-47D1-BC34-B5B07B4BCD16}" type="presParOf" srcId="{646E1430-923E-4E1B-84C7-0E856628362E}" destId="{4DF08340-90D5-44E9-88A9-2E22D79CC9B0}" srcOrd="0" destOrd="0" presId="urn:microsoft.com/office/officeart/2018/2/layout/IconLabelList"/>
    <dgm:cxn modelId="{34090F1F-CFC3-437B-9EDC-9A0AC21AB149}" type="presParOf" srcId="{646E1430-923E-4E1B-84C7-0E856628362E}" destId="{E340755F-A8E0-4E21-ADF5-51324C94C56E}" srcOrd="1" destOrd="0" presId="urn:microsoft.com/office/officeart/2018/2/layout/IconLabelList"/>
    <dgm:cxn modelId="{E1BC15A8-A9EB-4B86-B9C4-4AB3EBA48FCD}" type="presParOf" srcId="{646E1430-923E-4E1B-84C7-0E856628362E}" destId="{1497F4B0-5B9F-4846-A1A1-C82F732C996C}" srcOrd="2" destOrd="0" presId="urn:microsoft.com/office/officeart/2018/2/layout/IconLabelList"/>
    <dgm:cxn modelId="{75BC05BE-01E1-4F82-A498-8CD94A90B063}" type="presParOf" srcId="{9D720129-2617-4A21-AF9B-103C86DD2CEB}" destId="{AC15881A-9271-4FA2-991E-16C5D7519EB7}" srcOrd="1" destOrd="0" presId="urn:microsoft.com/office/officeart/2018/2/layout/IconLabelList"/>
    <dgm:cxn modelId="{285074D6-D4ED-4B35-A62D-D0A22F525C92}" type="presParOf" srcId="{9D720129-2617-4A21-AF9B-103C86DD2CEB}" destId="{E5756E61-9C61-49C8-ABD0-E2A0B33FB3BC}" srcOrd="2" destOrd="0" presId="urn:microsoft.com/office/officeart/2018/2/layout/IconLabelList"/>
    <dgm:cxn modelId="{5DFBF3B4-C14B-4779-8259-92C7D029FF68}" type="presParOf" srcId="{E5756E61-9C61-49C8-ABD0-E2A0B33FB3BC}" destId="{F5E64F86-E12C-4275-BF8A-744DC8ED5EFB}" srcOrd="0" destOrd="0" presId="urn:microsoft.com/office/officeart/2018/2/layout/IconLabelList"/>
    <dgm:cxn modelId="{82462CBE-B197-44EF-9DC8-5963CBD66C9A}" type="presParOf" srcId="{E5756E61-9C61-49C8-ABD0-E2A0B33FB3BC}" destId="{A6EB296F-9AF9-4678-B559-E6B19B2C93DA}" srcOrd="1" destOrd="0" presId="urn:microsoft.com/office/officeart/2018/2/layout/IconLabelList"/>
    <dgm:cxn modelId="{C0698A13-7C5F-4589-A94F-CE7D3A6B44AE}" type="presParOf" srcId="{E5756E61-9C61-49C8-ABD0-E2A0B33FB3BC}" destId="{00B9A208-0CE2-4210-BA18-772088350A94}" srcOrd="2" destOrd="0" presId="urn:microsoft.com/office/officeart/2018/2/layout/IconLabelList"/>
    <dgm:cxn modelId="{FC7FEFB9-9978-4EAF-B03A-466574F17E88}" type="presParOf" srcId="{9D720129-2617-4A21-AF9B-103C86DD2CEB}" destId="{ED8ABB93-A7E7-4F0C-BE5E-C5EC9BBD8B91}" srcOrd="3" destOrd="0" presId="urn:microsoft.com/office/officeart/2018/2/layout/IconLabelList"/>
    <dgm:cxn modelId="{5619E038-4FEB-473A-AB2B-46AAC8E819C3}" type="presParOf" srcId="{9D720129-2617-4A21-AF9B-103C86DD2CEB}" destId="{10028C3B-0D0A-48BD-9DE0-21D607D3EECF}" srcOrd="4" destOrd="0" presId="urn:microsoft.com/office/officeart/2018/2/layout/IconLabelList"/>
    <dgm:cxn modelId="{2D40D259-9CC8-4E1E-BB6A-69F03BD2F2F2}" type="presParOf" srcId="{10028C3B-0D0A-48BD-9DE0-21D607D3EECF}" destId="{BEE10568-699E-4DA7-94D7-4446EB064EDE}" srcOrd="0" destOrd="0" presId="urn:microsoft.com/office/officeart/2018/2/layout/IconLabelList"/>
    <dgm:cxn modelId="{C575BF5F-4FC2-47DB-96B3-D2BC292091CA}" type="presParOf" srcId="{10028C3B-0D0A-48BD-9DE0-21D607D3EECF}" destId="{BF7FDAF6-C05E-4183-95BB-D76C58826150}" srcOrd="1" destOrd="0" presId="urn:microsoft.com/office/officeart/2018/2/layout/IconLabelList"/>
    <dgm:cxn modelId="{E557E2D0-653B-4A77-8DF3-956EC5490247}" type="presParOf" srcId="{10028C3B-0D0A-48BD-9DE0-21D607D3EECF}" destId="{B81B7316-E6E5-4905-95F3-2FEA6886699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91E737-5408-4E7D-8327-61C84C4F3C8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E21C5A9-E395-4324-BDD8-21A08FE8D0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Where They Live</a:t>
          </a:r>
          <a:endParaRPr lang="en-US"/>
        </a:p>
      </dgm:t>
    </dgm:pt>
    <dgm:pt modelId="{8F31E227-37C1-43E7-89CC-3D2F3F405A87}" type="parTrans" cxnId="{8E9D0C3F-63A9-4D24-8994-BCD34B82C815}">
      <dgm:prSet/>
      <dgm:spPr/>
      <dgm:t>
        <a:bodyPr/>
        <a:lstStyle/>
        <a:p>
          <a:endParaRPr lang="en-US"/>
        </a:p>
      </dgm:t>
    </dgm:pt>
    <dgm:pt modelId="{0225382B-1032-49BC-9616-C4B23574D775}" type="sibTrans" cxnId="{8E9D0C3F-63A9-4D24-8994-BCD34B82C815}">
      <dgm:prSet/>
      <dgm:spPr/>
      <dgm:t>
        <a:bodyPr/>
        <a:lstStyle/>
        <a:p>
          <a:endParaRPr lang="en-US"/>
        </a:p>
      </dgm:t>
    </dgm:pt>
    <dgm:pt modelId="{2AEA0A8A-6207-4EA7-A22B-C302013E83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Attached to instances (EC2, RDS, ECS, ENI, etc.).</a:t>
          </a:r>
        </a:p>
      </dgm:t>
    </dgm:pt>
    <dgm:pt modelId="{E048788A-BE0B-42D4-877D-83B3706D0847}" type="parTrans" cxnId="{9A99CDCE-F185-4151-8F0A-044CBD90DD79}">
      <dgm:prSet/>
      <dgm:spPr/>
      <dgm:t>
        <a:bodyPr/>
        <a:lstStyle/>
        <a:p>
          <a:endParaRPr lang="en-US"/>
        </a:p>
      </dgm:t>
    </dgm:pt>
    <dgm:pt modelId="{FF2ED31E-D888-4897-81B7-D480A7755FA2}" type="sibTrans" cxnId="{9A99CDCE-F185-4151-8F0A-044CBD90DD79}">
      <dgm:prSet/>
      <dgm:spPr/>
      <dgm:t>
        <a:bodyPr/>
        <a:lstStyle/>
        <a:p>
          <a:endParaRPr lang="en-US"/>
        </a:p>
      </dgm:t>
    </dgm:pt>
    <dgm:pt modelId="{D8FE9945-9621-452C-83C5-9704F2E1E8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Rules apply only to the specific resource they are attached to.</a:t>
          </a:r>
        </a:p>
      </dgm:t>
    </dgm:pt>
    <dgm:pt modelId="{4B60CEF3-FDDF-482E-A5D9-DFB5AD4CDBD8}" type="parTrans" cxnId="{5852B0F7-2710-4515-A93B-47BFD7873D0B}">
      <dgm:prSet/>
      <dgm:spPr/>
      <dgm:t>
        <a:bodyPr/>
        <a:lstStyle/>
        <a:p>
          <a:endParaRPr lang="en-US"/>
        </a:p>
      </dgm:t>
    </dgm:pt>
    <dgm:pt modelId="{E27C53C8-D2A7-4799-AF6C-1DF4545E20BD}" type="sibTrans" cxnId="{5852B0F7-2710-4515-A93B-47BFD7873D0B}">
      <dgm:prSet/>
      <dgm:spPr/>
      <dgm:t>
        <a:bodyPr/>
        <a:lstStyle/>
        <a:p>
          <a:endParaRPr lang="en-US"/>
        </a:p>
      </dgm:t>
    </dgm:pt>
    <dgm:pt modelId="{CAB6F05B-7AA4-4AAF-9B21-A052215363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Scope</a:t>
          </a:r>
          <a:endParaRPr lang="en-US"/>
        </a:p>
      </dgm:t>
    </dgm:pt>
    <dgm:pt modelId="{4D9DEC09-1C97-4235-801F-34CB9C4273B3}" type="parTrans" cxnId="{0D20AE68-3E23-496D-9222-5218E4BF6B78}">
      <dgm:prSet/>
      <dgm:spPr/>
      <dgm:t>
        <a:bodyPr/>
        <a:lstStyle/>
        <a:p>
          <a:endParaRPr lang="en-US"/>
        </a:p>
      </dgm:t>
    </dgm:pt>
    <dgm:pt modelId="{3F481661-1D87-4DF9-B7CB-0042F8DEC920}" type="sibTrans" cxnId="{0D20AE68-3E23-496D-9222-5218E4BF6B78}">
      <dgm:prSet/>
      <dgm:spPr/>
      <dgm:t>
        <a:bodyPr/>
        <a:lstStyle/>
        <a:p>
          <a:endParaRPr lang="en-US"/>
        </a:p>
      </dgm:t>
    </dgm:pt>
    <dgm:pt modelId="{F4F6977F-0B80-4C9E-A299-890687B395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Resource-level firewall (fine-grained control at instance/ENI level).</a:t>
          </a:r>
        </a:p>
      </dgm:t>
    </dgm:pt>
    <dgm:pt modelId="{4CE9C475-AC22-42CA-BE64-5AAE263EBE35}" type="parTrans" cxnId="{4AA19A22-2F3E-42D8-B7FC-F8B4594FB99F}">
      <dgm:prSet/>
      <dgm:spPr/>
      <dgm:t>
        <a:bodyPr/>
        <a:lstStyle/>
        <a:p>
          <a:endParaRPr lang="en-US"/>
        </a:p>
      </dgm:t>
    </dgm:pt>
    <dgm:pt modelId="{96AE76DD-42D1-4433-8B9F-93D466727441}" type="sibTrans" cxnId="{4AA19A22-2F3E-42D8-B7FC-F8B4594FB99F}">
      <dgm:prSet/>
      <dgm:spPr/>
      <dgm:t>
        <a:bodyPr/>
        <a:lstStyle/>
        <a:p>
          <a:endParaRPr lang="en-US"/>
        </a:p>
      </dgm:t>
    </dgm:pt>
    <dgm:pt modelId="{4F2F450F-F2EE-461E-9DE6-B92467D4EB56}" type="pres">
      <dgm:prSet presAssocID="{6191E737-5408-4E7D-8327-61C84C4F3C86}" presName="root" presStyleCnt="0">
        <dgm:presLayoutVars>
          <dgm:dir/>
          <dgm:resizeHandles val="exact"/>
        </dgm:presLayoutVars>
      </dgm:prSet>
      <dgm:spPr/>
    </dgm:pt>
    <dgm:pt modelId="{79478DBE-C6C3-4393-A53B-AE0AE8270902}" type="pres">
      <dgm:prSet presAssocID="{2E21C5A9-E395-4324-BDD8-21A08FE8D017}" presName="compNode" presStyleCnt="0"/>
      <dgm:spPr/>
    </dgm:pt>
    <dgm:pt modelId="{A6E2A3BE-EAE0-46E1-9E25-08827AEF7289}" type="pres">
      <dgm:prSet presAssocID="{2E21C5A9-E395-4324-BDD8-21A08FE8D01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67375C2-C00C-4F23-977D-74B34FCC8270}" type="pres">
      <dgm:prSet presAssocID="{2E21C5A9-E395-4324-BDD8-21A08FE8D017}" presName="spaceRect" presStyleCnt="0"/>
      <dgm:spPr/>
    </dgm:pt>
    <dgm:pt modelId="{FA2C1EB7-5FF2-4C52-9FE2-C25184DADB7E}" type="pres">
      <dgm:prSet presAssocID="{2E21C5A9-E395-4324-BDD8-21A08FE8D017}" presName="textRect" presStyleLbl="revTx" presStyleIdx="0" presStyleCnt="5">
        <dgm:presLayoutVars>
          <dgm:chMax val="1"/>
          <dgm:chPref val="1"/>
        </dgm:presLayoutVars>
      </dgm:prSet>
      <dgm:spPr/>
    </dgm:pt>
    <dgm:pt modelId="{22B14853-BAB8-4DD4-BF88-880440E77C50}" type="pres">
      <dgm:prSet presAssocID="{0225382B-1032-49BC-9616-C4B23574D775}" presName="sibTrans" presStyleCnt="0"/>
      <dgm:spPr/>
    </dgm:pt>
    <dgm:pt modelId="{FF9E55D3-F736-48B2-86AC-B0E0995395D2}" type="pres">
      <dgm:prSet presAssocID="{2AEA0A8A-6207-4EA7-A22B-C302013E833B}" presName="compNode" presStyleCnt="0"/>
      <dgm:spPr/>
    </dgm:pt>
    <dgm:pt modelId="{3C1DEFAA-74D0-47DA-8985-5A35D1AF7038}" type="pres">
      <dgm:prSet presAssocID="{2AEA0A8A-6207-4EA7-A22B-C302013E833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D06C5D3-091E-4AD6-B2C9-A3DBA99C97E7}" type="pres">
      <dgm:prSet presAssocID="{2AEA0A8A-6207-4EA7-A22B-C302013E833B}" presName="spaceRect" presStyleCnt="0"/>
      <dgm:spPr/>
    </dgm:pt>
    <dgm:pt modelId="{D1A56BF8-2B70-4E5E-B255-3B0A5DF3D277}" type="pres">
      <dgm:prSet presAssocID="{2AEA0A8A-6207-4EA7-A22B-C302013E833B}" presName="textRect" presStyleLbl="revTx" presStyleIdx="1" presStyleCnt="5">
        <dgm:presLayoutVars>
          <dgm:chMax val="1"/>
          <dgm:chPref val="1"/>
        </dgm:presLayoutVars>
      </dgm:prSet>
      <dgm:spPr/>
    </dgm:pt>
    <dgm:pt modelId="{B3585C5C-050D-4A33-B75D-3BEBFC479BCD}" type="pres">
      <dgm:prSet presAssocID="{FF2ED31E-D888-4897-81B7-D480A7755FA2}" presName="sibTrans" presStyleCnt="0"/>
      <dgm:spPr/>
    </dgm:pt>
    <dgm:pt modelId="{03F7D0A8-247E-471F-8CC5-BBD6DABBD628}" type="pres">
      <dgm:prSet presAssocID="{D8FE9945-9621-452C-83C5-9704F2E1E841}" presName="compNode" presStyleCnt="0"/>
      <dgm:spPr/>
    </dgm:pt>
    <dgm:pt modelId="{EA77C687-B80A-47D3-90E4-73AAD5C0A74F}" type="pres">
      <dgm:prSet presAssocID="{D8FE9945-9621-452C-83C5-9704F2E1E84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D8F4C7C-C816-4FD6-A4B7-BC5D10E436B6}" type="pres">
      <dgm:prSet presAssocID="{D8FE9945-9621-452C-83C5-9704F2E1E841}" presName="spaceRect" presStyleCnt="0"/>
      <dgm:spPr/>
    </dgm:pt>
    <dgm:pt modelId="{5F9DC574-897A-422C-A386-E7CF9BA4CD0B}" type="pres">
      <dgm:prSet presAssocID="{D8FE9945-9621-452C-83C5-9704F2E1E841}" presName="textRect" presStyleLbl="revTx" presStyleIdx="2" presStyleCnt="5">
        <dgm:presLayoutVars>
          <dgm:chMax val="1"/>
          <dgm:chPref val="1"/>
        </dgm:presLayoutVars>
      </dgm:prSet>
      <dgm:spPr/>
    </dgm:pt>
    <dgm:pt modelId="{BC0F6A1D-639B-4774-80B0-75F7AE5A207A}" type="pres">
      <dgm:prSet presAssocID="{E27C53C8-D2A7-4799-AF6C-1DF4545E20BD}" presName="sibTrans" presStyleCnt="0"/>
      <dgm:spPr/>
    </dgm:pt>
    <dgm:pt modelId="{F50EE4EA-9BB6-4F7A-9C8B-84324497A6A4}" type="pres">
      <dgm:prSet presAssocID="{CAB6F05B-7AA4-4AAF-9B21-A05221536387}" presName="compNode" presStyleCnt="0"/>
      <dgm:spPr/>
    </dgm:pt>
    <dgm:pt modelId="{59290660-AF11-42B2-94B6-A22EE3DEC074}" type="pres">
      <dgm:prSet presAssocID="{CAB6F05B-7AA4-4AAF-9B21-A0522153638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80BC039-7D9F-471C-B572-6FB045BFB88B}" type="pres">
      <dgm:prSet presAssocID="{CAB6F05B-7AA4-4AAF-9B21-A05221536387}" presName="spaceRect" presStyleCnt="0"/>
      <dgm:spPr/>
    </dgm:pt>
    <dgm:pt modelId="{2D9BA912-C292-4C02-AADC-B9823A2FE2A6}" type="pres">
      <dgm:prSet presAssocID="{CAB6F05B-7AA4-4AAF-9B21-A05221536387}" presName="textRect" presStyleLbl="revTx" presStyleIdx="3" presStyleCnt="5">
        <dgm:presLayoutVars>
          <dgm:chMax val="1"/>
          <dgm:chPref val="1"/>
        </dgm:presLayoutVars>
      </dgm:prSet>
      <dgm:spPr/>
    </dgm:pt>
    <dgm:pt modelId="{C32436CA-3E68-4AD3-864E-3BEFD564EF11}" type="pres">
      <dgm:prSet presAssocID="{3F481661-1D87-4DF9-B7CB-0042F8DEC920}" presName="sibTrans" presStyleCnt="0"/>
      <dgm:spPr/>
    </dgm:pt>
    <dgm:pt modelId="{10D9B4C7-8F6E-44E5-B7DB-E85BB8969B42}" type="pres">
      <dgm:prSet presAssocID="{F4F6977F-0B80-4C9E-A299-890687B395DF}" presName="compNode" presStyleCnt="0"/>
      <dgm:spPr/>
    </dgm:pt>
    <dgm:pt modelId="{3632F573-CF6C-4B47-B5DC-3B12A98AD12A}" type="pres">
      <dgm:prSet presAssocID="{F4F6977F-0B80-4C9E-A299-890687B395D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982A30E-AFE1-4C8B-977C-E15D0AC2E282}" type="pres">
      <dgm:prSet presAssocID="{F4F6977F-0B80-4C9E-A299-890687B395DF}" presName="spaceRect" presStyleCnt="0"/>
      <dgm:spPr/>
    </dgm:pt>
    <dgm:pt modelId="{B7CB9EAF-6C90-441E-88A1-17E864124238}" type="pres">
      <dgm:prSet presAssocID="{F4F6977F-0B80-4C9E-A299-890687B395D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AA19A22-2F3E-42D8-B7FC-F8B4594FB99F}" srcId="{6191E737-5408-4E7D-8327-61C84C4F3C86}" destId="{F4F6977F-0B80-4C9E-A299-890687B395DF}" srcOrd="4" destOrd="0" parTransId="{4CE9C475-AC22-42CA-BE64-5AAE263EBE35}" sibTransId="{96AE76DD-42D1-4433-8B9F-93D466727441}"/>
    <dgm:cxn modelId="{16EA202B-56F6-4F38-AB5F-FA19A5CC6F7C}" type="presOf" srcId="{2E21C5A9-E395-4324-BDD8-21A08FE8D017}" destId="{FA2C1EB7-5FF2-4C52-9FE2-C25184DADB7E}" srcOrd="0" destOrd="0" presId="urn:microsoft.com/office/officeart/2018/2/layout/IconLabelList"/>
    <dgm:cxn modelId="{8E9D0C3F-63A9-4D24-8994-BCD34B82C815}" srcId="{6191E737-5408-4E7D-8327-61C84C4F3C86}" destId="{2E21C5A9-E395-4324-BDD8-21A08FE8D017}" srcOrd="0" destOrd="0" parTransId="{8F31E227-37C1-43E7-89CC-3D2F3F405A87}" sibTransId="{0225382B-1032-49BC-9616-C4B23574D775}"/>
    <dgm:cxn modelId="{0D20AE68-3E23-496D-9222-5218E4BF6B78}" srcId="{6191E737-5408-4E7D-8327-61C84C4F3C86}" destId="{CAB6F05B-7AA4-4AAF-9B21-A05221536387}" srcOrd="3" destOrd="0" parTransId="{4D9DEC09-1C97-4235-801F-34CB9C4273B3}" sibTransId="{3F481661-1D87-4DF9-B7CB-0042F8DEC920}"/>
    <dgm:cxn modelId="{F2C33D83-2EC5-48D6-A2D5-ACA483B4E30A}" type="presOf" srcId="{2AEA0A8A-6207-4EA7-A22B-C302013E833B}" destId="{D1A56BF8-2B70-4E5E-B255-3B0A5DF3D277}" srcOrd="0" destOrd="0" presId="urn:microsoft.com/office/officeart/2018/2/layout/IconLabelList"/>
    <dgm:cxn modelId="{48A822A6-1F0A-47D2-B75C-DFD44EDF0917}" type="presOf" srcId="{D8FE9945-9621-452C-83C5-9704F2E1E841}" destId="{5F9DC574-897A-422C-A386-E7CF9BA4CD0B}" srcOrd="0" destOrd="0" presId="urn:microsoft.com/office/officeart/2018/2/layout/IconLabelList"/>
    <dgm:cxn modelId="{550C00C5-66D7-4E48-A883-1EDE5BFFFE06}" type="presOf" srcId="{F4F6977F-0B80-4C9E-A299-890687B395DF}" destId="{B7CB9EAF-6C90-441E-88A1-17E864124238}" srcOrd="0" destOrd="0" presId="urn:microsoft.com/office/officeart/2018/2/layout/IconLabelList"/>
    <dgm:cxn modelId="{9A99CDCE-F185-4151-8F0A-044CBD90DD79}" srcId="{6191E737-5408-4E7D-8327-61C84C4F3C86}" destId="{2AEA0A8A-6207-4EA7-A22B-C302013E833B}" srcOrd="1" destOrd="0" parTransId="{E048788A-BE0B-42D4-877D-83B3706D0847}" sibTransId="{FF2ED31E-D888-4897-81B7-D480A7755FA2}"/>
    <dgm:cxn modelId="{29997BD0-7561-40DE-B52E-6DF23AFF8613}" type="presOf" srcId="{CAB6F05B-7AA4-4AAF-9B21-A05221536387}" destId="{2D9BA912-C292-4C02-AADC-B9823A2FE2A6}" srcOrd="0" destOrd="0" presId="urn:microsoft.com/office/officeart/2018/2/layout/IconLabelList"/>
    <dgm:cxn modelId="{D34441DC-01E5-43B9-B29A-5FC25357596D}" type="presOf" srcId="{6191E737-5408-4E7D-8327-61C84C4F3C86}" destId="{4F2F450F-F2EE-461E-9DE6-B92467D4EB56}" srcOrd="0" destOrd="0" presId="urn:microsoft.com/office/officeart/2018/2/layout/IconLabelList"/>
    <dgm:cxn modelId="{5852B0F7-2710-4515-A93B-47BFD7873D0B}" srcId="{6191E737-5408-4E7D-8327-61C84C4F3C86}" destId="{D8FE9945-9621-452C-83C5-9704F2E1E841}" srcOrd="2" destOrd="0" parTransId="{4B60CEF3-FDDF-482E-A5D9-DFB5AD4CDBD8}" sibTransId="{E27C53C8-D2A7-4799-AF6C-1DF4545E20BD}"/>
    <dgm:cxn modelId="{94877C3D-E591-45B4-8B90-6340DFEBD5C7}" type="presParOf" srcId="{4F2F450F-F2EE-461E-9DE6-B92467D4EB56}" destId="{79478DBE-C6C3-4393-A53B-AE0AE8270902}" srcOrd="0" destOrd="0" presId="urn:microsoft.com/office/officeart/2018/2/layout/IconLabelList"/>
    <dgm:cxn modelId="{DD49B267-1F58-4565-9F9B-B30F0B6CA21D}" type="presParOf" srcId="{79478DBE-C6C3-4393-A53B-AE0AE8270902}" destId="{A6E2A3BE-EAE0-46E1-9E25-08827AEF7289}" srcOrd="0" destOrd="0" presId="urn:microsoft.com/office/officeart/2018/2/layout/IconLabelList"/>
    <dgm:cxn modelId="{BCE4C1D4-02AD-4B1D-B8E0-B8B73EA0E1FF}" type="presParOf" srcId="{79478DBE-C6C3-4393-A53B-AE0AE8270902}" destId="{167375C2-C00C-4F23-977D-74B34FCC8270}" srcOrd="1" destOrd="0" presId="urn:microsoft.com/office/officeart/2018/2/layout/IconLabelList"/>
    <dgm:cxn modelId="{D79F668D-A6D3-4E7B-9F55-3E2701B9F01A}" type="presParOf" srcId="{79478DBE-C6C3-4393-A53B-AE0AE8270902}" destId="{FA2C1EB7-5FF2-4C52-9FE2-C25184DADB7E}" srcOrd="2" destOrd="0" presId="urn:microsoft.com/office/officeart/2018/2/layout/IconLabelList"/>
    <dgm:cxn modelId="{0B1BF0D7-35FF-4535-9FB2-55ADCAF8ECB0}" type="presParOf" srcId="{4F2F450F-F2EE-461E-9DE6-B92467D4EB56}" destId="{22B14853-BAB8-4DD4-BF88-880440E77C50}" srcOrd="1" destOrd="0" presId="urn:microsoft.com/office/officeart/2018/2/layout/IconLabelList"/>
    <dgm:cxn modelId="{2A6B99F6-97FD-4134-AA62-7CB8A5A7A484}" type="presParOf" srcId="{4F2F450F-F2EE-461E-9DE6-B92467D4EB56}" destId="{FF9E55D3-F736-48B2-86AC-B0E0995395D2}" srcOrd="2" destOrd="0" presId="urn:microsoft.com/office/officeart/2018/2/layout/IconLabelList"/>
    <dgm:cxn modelId="{5939FF8E-9246-4D72-B106-C1DBCF90D352}" type="presParOf" srcId="{FF9E55D3-F736-48B2-86AC-B0E0995395D2}" destId="{3C1DEFAA-74D0-47DA-8985-5A35D1AF7038}" srcOrd="0" destOrd="0" presId="urn:microsoft.com/office/officeart/2018/2/layout/IconLabelList"/>
    <dgm:cxn modelId="{11F69E1C-2774-4480-8F0A-F7D9F240E907}" type="presParOf" srcId="{FF9E55D3-F736-48B2-86AC-B0E0995395D2}" destId="{DD06C5D3-091E-4AD6-B2C9-A3DBA99C97E7}" srcOrd="1" destOrd="0" presId="urn:microsoft.com/office/officeart/2018/2/layout/IconLabelList"/>
    <dgm:cxn modelId="{58F7C7FE-B4DB-4D4F-85DB-194A969AFE2A}" type="presParOf" srcId="{FF9E55D3-F736-48B2-86AC-B0E0995395D2}" destId="{D1A56BF8-2B70-4E5E-B255-3B0A5DF3D277}" srcOrd="2" destOrd="0" presId="urn:microsoft.com/office/officeart/2018/2/layout/IconLabelList"/>
    <dgm:cxn modelId="{93025BC4-3082-4B02-B113-2F06A281744D}" type="presParOf" srcId="{4F2F450F-F2EE-461E-9DE6-B92467D4EB56}" destId="{B3585C5C-050D-4A33-B75D-3BEBFC479BCD}" srcOrd="3" destOrd="0" presId="urn:microsoft.com/office/officeart/2018/2/layout/IconLabelList"/>
    <dgm:cxn modelId="{C8BC7A36-4A39-4443-A2EC-AB392E4C2AC8}" type="presParOf" srcId="{4F2F450F-F2EE-461E-9DE6-B92467D4EB56}" destId="{03F7D0A8-247E-471F-8CC5-BBD6DABBD628}" srcOrd="4" destOrd="0" presId="urn:microsoft.com/office/officeart/2018/2/layout/IconLabelList"/>
    <dgm:cxn modelId="{032AB5F1-65D4-47DD-9B48-D4CFB3BBEAAD}" type="presParOf" srcId="{03F7D0A8-247E-471F-8CC5-BBD6DABBD628}" destId="{EA77C687-B80A-47D3-90E4-73AAD5C0A74F}" srcOrd="0" destOrd="0" presId="urn:microsoft.com/office/officeart/2018/2/layout/IconLabelList"/>
    <dgm:cxn modelId="{E6201D0A-65CA-446B-B830-A92EBAC2E937}" type="presParOf" srcId="{03F7D0A8-247E-471F-8CC5-BBD6DABBD628}" destId="{DD8F4C7C-C816-4FD6-A4B7-BC5D10E436B6}" srcOrd="1" destOrd="0" presId="urn:microsoft.com/office/officeart/2018/2/layout/IconLabelList"/>
    <dgm:cxn modelId="{675DCC49-60DF-4F74-84D7-DB0B82EB8190}" type="presParOf" srcId="{03F7D0A8-247E-471F-8CC5-BBD6DABBD628}" destId="{5F9DC574-897A-422C-A386-E7CF9BA4CD0B}" srcOrd="2" destOrd="0" presId="urn:microsoft.com/office/officeart/2018/2/layout/IconLabelList"/>
    <dgm:cxn modelId="{5B78030D-E8EE-4A32-82B9-B71E5B21D32D}" type="presParOf" srcId="{4F2F450F-F2EE-461E-9DE6-B92467D4EB56}" destId="{BC0F6A1D-639B-4774-80B0-75F7AE5A207A}" srcOrd="5" destOrd="0" presId="urn:microsoft.com/office/officeart/2018/2/layout/IconLabelList"/>
    <dgm:cxn modelId="{AE61B58A-A402-4F2A-9615-819375C2CC6D}" type="presParOf" srcId="{4F2F450F-F2EE-461E-9DE6-B92467D4EB56}" destId="{F50EE4EA-9BB6-4F7A-9C8B-84324497A6A4}" srcOrd="6" destOrd="0" presId="urn:microsoft.com/office/officeart/2018/2/layout/IconLabelList"/>
    <dgm:cxn modelId="{B76C8A87-AD8A-4197-A9A1-9D8F3DB37839}" type="presParOf" srcId="{F50EE4EA-9BB6-4F7A-9C8B-84324497A6A4}" destId="{59290660-AF11-42B2-94B6-A22EE3DEC074}" srcOrd="0" destOrd="0" presId="urn:microsoft.com/office/officeart/2018/2/layout/IconLabelList"/>
    <dgm:cxn modelId="{43BA6571-BAB3-4947-9826-3547B37A9512}" type="presParOf" srcId="{F50EE4EA-9BB6-4F7A-9C8B-84324497A6A4}" destId="{E80BC039-7D9F-471C-B572-6FB045BFB88B}" srcOrd="1" destOrd="0" presId="urn:microsoft.com/office/officeart/2018/2/layout/IconLabelList"/>
    <dgm:cxn modelId="{7EEB53DE-FAFB-424B-AE39-D5799C9A0819}" type="presParOf" srcId="{F50EE4EA-9BB6-4F7A-9C8B-84324497A6A4}" destId="{2D9BA912-C292-4C02-AADC-B9823A2FE2A6}" srcOrd="2" destOrd="0" presId="urn:microsoft.com/office/officeart/2018/2/layout/IconLabelList"/>
    <dgm:cxn modelId="{F7A8263E-9985-4444-9FF0-775C82EC3645}" type="presParOf" srcId="{4F2F450F-F2EE-461E-9DE6-B92467D4EB56}" destId="{C32436CA-3E68-4AD3-864E-3BEFD564EF11}" srcOrd="7" destOrd="0" presId="urn:microsoft.com/office/officeart/2018/2/layout/IconLabelList"/>
    <dgm:cxn modelId="{7A246F05-DD3F-41DC-A631-F54A519F25EA}" type="presParOf" srcId="{4F2F450F-F2EE-461E-9DE6-B92467D4EB56}" destId="{10D9B4C7-8F6E-44E5-B7DB-E85BB8969B42}" srcOrd="8" destOrd="0" presId="urn:microsoft.com/office/officeart/2018/2/layout/IconLabelList"/>
    <dgm:cxn modelId="{FC13491B-5C44-4E7D-BCA7-06F5506AA0D6}" type="presParOf" srcId="{10D9B4C7-8F6E-44E5-B7DB-E85BB8969B42}" destId="{3632F573-CF6C-4B47-B5DC-3B12A98AD12A}" srcOrd="0" destOrd="0" presId="urn:microsoft.com/office/officeart/2018/2/layout/IconLabelList"/>
    <dgm:cxn modelId="{23A98C00-1CF4-4545-8F54-8EC00EA5B7A9}" type="presParOf" srcId="{10D9B4C7-8F6E-44E5-B7DB-E85BB8969B42}" destId="{4982A30E-AFE1-4C8B-977C-E15D0AC2E282}" srcOrd="1" destOrd="0" presId="urn:microsoft.com/office/officeart/2018/2/layout/IconLabelList"/>
    <dgm:cxn modelId="{AAE20F80-6FEE-4563-ADF1-F1074A1724F5}" type="presParOf" srcId="{10D9B4C7-8F6E-44E5-B7DB-E85BB8969B42}" destId="{B7CB9EAF-6C90-441E-88A1-17E86412423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F08340-90D5-44E9-88A9-2E22D79CC9B0}">
      <dsp:nvSpPr>
        <dsp:cNvPr id="0" name=""/>
        <dsp:cNvSpPr/>
      </dsp:nvSpPr>
      <dsp:spPr>
        <a:xfrm>
          <a:off x="880822" y="602250"/>
          <a:ext cx="1435205" cy="1435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7F4B0-5B9F-4846-A1A1-C82F732C996C}">
      <dsp:nvSpPr>
        <dsp:cNvPr id="0" name=""/>
        <dsp:cNvSpPr/>
      </dsp:nvSpPr>
      <dsp:spPr>
        <a:xfrm>
          <a:off x="3752" y="2417899"/>
          <a:ext cx="3189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Both are </a:t>
          </a:r>
          <a:r>
            <a:rPr lang="en-US" sz="2000" b="1" kern="1200"/>
            <a:t>firewalls</a:t>
          </a:r>
          <a:r>
            <a:rPr lang="en-US" sz="2000" kern="1200"/>
            <a:t> in AWS VPC networking.</a:t>
          </a:r>
        </a:p>
      </dsp:txBody>
      <dsp:txXfrm>
        <a:off x="3752" y="2417899"/>
        <a:ext cx="3189345" cy="720000"/>
      </dsp:txXfrm>
    </dsp:sp>
    <dsp:sp modelId="{F5E64F86-E12C-4275-BF8A-744DC8ED5EFB}">
      <dsp:nvSpPr>
        <dsp:cNvPr id="0" name=""/>
        <dsp:cNvSpPr/>
      </dsp:nvSpPr>
      <dsp:spPr>
        <a:xfrm>
          <a:off x="4628303" y="602250"/>
          <a:ext cx="1435205" cy="1435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9A208-0CE2-4210-BA18-772088350A94}">
      <dsp:nvSpPr>
        <dsp:cNvPr id="0" name=""/>
        <dsp:cNvSpPr/>
      </dsp:nvSpPr>
      <dsp:spPr>
        <a:xfrm>
          <a:off x="3751233" y="2417899"/>
          <a:ext cx="3189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Both </a:t>
          </a:r>
          <a:r>
            <a:rPr lang="en-US" sz="2000" b="1" kern="1200"/>
            <a:t>control inbound and outbound traffic</a:t>
          </a:r>
          <a:r>
            <a:rPr lang="en-US" sz="2000" kern="1200"/>
            <a:t>.</a:t>
          </a:r>
        </a:p>
      </dsp:txBody>
      <dsp:txXfrm>
        <a:off x="3751233" y="2417899"/>
        <a:ext cx="3189345" cy="720000"/>
      </dsp:txXfrm>
    </dsp:sp>
    <dsp:sp modelId="{BEE10568-699E-4DA7-94D7-4446EB064EDE}">
      <dsp:nvSpPr>
        <dsp:cNvPr id="0" name=""/>
        <dsp:cNvSpPr/>
      </dsp:nvSpPr>
      <dsp:spPr>
        <a:xfrm>
          <a:off x="8375784" y="602250"/>
          <a:ext cx="1435205" cy="14352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B7316-E6E5-4905-95F3-2FEA68866992}">
      <dsp:nvSpPr>
        <dsp:cNvPr id="0" name=""/>
        <dsp:cNvSpPr/>
      </dsp:nvSpPr>
      <dsp:spPr>
        <a:xfrm>
          <a:off x="7498714" y="2417899"/>
          <a:ext cx="3189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Both work at </a:t>
          </a:r>
          <a:r>
            <a:rPr lang="en-US" sz="2000" b="1" kern="1200"/>
            <a:t>different layers</a:t>
          </a:r>
          <a:r>
            <a:rPr lang="en-US" sz="2000" kern="1200"/>
            <a:t> of the VPC networking stack.</a:t>
          </a:r>
        </a:p>
      </dsp:txBody>
      <dsp:txXfrm>
        <a:off x="7498714" y="2417899"/>
        <a:ext cx="318934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2A3BE-EAE0-46E1-9E25-08827AEF7289}">
      <dsp:nvSpPr>
        <dsp:cNvPr id="0" name=""/>
        <dsp:cNvSpPr/>
      </dsp:nvSpPr>
      <dsp:spPr>
        <a:xfrm>
          <a:off x="707407" y="418358"/>
          <a:ext cx="968686" cy="9686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C1EB7-5FF2-4C52-9FE2-C25184DADB7E}">
      <dsp:nvSpPr>
        <dsp:cNvPr id="0" name=""/>
        <dsp:cNvSpPr/>
      </dsp:nvSpPr>
      <dsp:spPr>
        <a:xfrm>
          <a:off x="115432" y="1711062"/>
          <a:ext cx="21526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Where They Live</a:t>
          </a:r>
          <a:endParaRPr lang="en-US" sz="1600" kern="1200"/>
        </a:p>
      </dsp:txBody>
      <dsp:txXfrm>
        <a:off x="115432" y="1711062"/>
        <a:ext cx="2152637" cy="720000"/>
      </dsp:txXfrm>
    </dsp:sp>
    <dsp:sp modelId="{3C1DEFAA-74D0-47DA-8985-5A35D1AF7038}">
      <dsp:nvSpPr>
        <dsp:cNvPr id="0" name=""/>
        <dsp:cNvSpPr/>
      </dsp:nvSpPr>
      <dsp:spPr>
        <a:xfrm>
          <a:off x="3236757" y="418358"/>
          <a:ext cx="968686" cy="9686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56BF8-2B70-4E5E-B255-3B0A5DF3D277}">
      <dsp:nvSpPr>
        <dsp:cNvPr id="0" name=""/>
        <dsp:cNvSpPr/>
      </dsp:nvSpPr>
      <dsp:spPr>
        <a:xfrm>
          <a:off x="2644781" y="1711062"/>
          <a:ext cx="21526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Attached to instances (EC2, RDS, ECS, ENI, etc.).</a:t>
          </a:r>
        </a:p>
      </dsp:txBody>
      <dsp:txXfrm>
        <a:off x="2644781" y="1711062"/>
        <a:ext cx="2152637" cy="720000"/>
      </dsp:txXfrm>
    </dsp:sp>
    <dsp:sp modelId="{EA77C687-B80A-47D3-90E4-73AAD5C0A74F}">
      <dsp:nvSpPr>
        <dsp:cNvPr id="0" name=""/>
        <dsp:cNvSpPr/>
      </dsp:nvSpPr>
      <dsp:spPr>
        <a:xfrm>
          <a:off x="5766106" y="418358"/>
          <a:ext cx="968686" cy="9686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DC574-897A-422C-A386-E7CF9BA4CD0B}">
      <dsp:nvSpPr>
        <dsp:cNvPr id="0" name=""/>
        <dsp:cNvSpPr/>
      </dsp:nvSpPr>
      <dsp:spPr>
        <a:xfrm>
          <a:off x="5174130" y="1711062"/>
          <a:ext cx="21526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Rules apply only to the specific resource they are attached to.</a:t>
          </a:r>
        </a:p>
      </dsp:txBody>
      <dsp:txXfrm>
        <a:off x="5174130" y="1711062"/>
        <a:ext cx="2152637" cy="720000"/>
      </dsp:txXfrm>
    </dsp:sp>
    <dsp:sp modelId="{59290660-AF11-42B2-94B6-A22EE3DEC074}">
      <dsp:nvSpPr>
        <dsp:cNvPr id="0" name=""/>
        <dsp:cNvSpPr/>
      </dsp:nvSpPr>
      <dsp:spPr>
        <a:xfrm>
          <a:off x="1972082" y="2969221"/>
          <a:ext cx="968686" cy="9686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BA912-C292-4C02-AADC-B9823A2FE2A6}">
      <dsp:nvSpPr>
        <dsp:cNvPr id="0" name=""/>
        <dsp:cNvSpPr/>
      </dsp:nvSpPr>
      <dsp:spPr>
        <a:xfrm>
          <a:off x="1380107" y="4261925"/>
          <a:ext cx="21526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Scope</a:t>
          </a:r>
          <a:endParaRPr lang="en-US" sz="1600" kern="1200"/>
        </a:p>
      </dsp:txBody>
      <dsp:txXfrm>
        <a:off x="1380107" y="4261925"/>
        <a:ext cx="2152637" cy="720000"/>
      </dsp:txXfrm>
    </dsp:sp>
    <dsp:sp modelId="{3632F573-CF6C-4B47-B5DC-3B12A98AD12A}">
      <dsp:nvSpPr>
        <dsp:cNvPr id="0" name=""/>
        <dsp:cNvSpPr/>
      </dsp:nvSpPr>
      <dsp:spPr>
        <a:xfrm>
          <a:off x="4501431" y="2969221"/>
          <a:ext cx="968686" cy="9686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B9EAF-6C90-441E-88A1-17E864124238}">
      <dsp:nvSpPr>
        <dsp:cNvPr id="0" name=""/>
        <dsp:cNvSpPr/>
      </dsp:nvSpPr>
      <dsp:spPr>
        <a:xfrm>
          <a:off x="3909456" y="4261925"/>
          <a:ext cx="21526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Resource-level firewall (fine-grained control at instance/ENI level).</a:t>
          </a:r>
        </a:p>
      </dsp:txBody>
      <dsp:txXfrm>
        <a:off x="3909456" y="4261925"/>
        <a:ext cx="215263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6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6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0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32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5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5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2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97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1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2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85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29E28-71F8-CCD8-3139-9714EB662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C437B-AB96-73C3-A4CB-AB523C22D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AWS Security Group vs Network ACL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58E0E-C513-2780-6B97-EACE9BB5F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SG &amp; NACL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321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A2AAF-FA54-AB84-DF64-99E9AB4D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/>
              <a:t>Common Points</a:t>
            </a:r>
            <a:br>
              <a:rPr lang="en-US" sz="3700" b="1"/>
            </a:br>
            <a:endParaRPr lang="en-US" sz="37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C17DF2F-0D4D-2518-FCA7-802D39F759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591259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463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0A9D4-CFD4-D08C-E67D-2EAA0437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 b="1"/>
              <a:t>Security Groups (SG)</a:t>
            </a:r>
            <a:br>
              <a:rPr lang="en-US" sz="3200" b="1"/>
            </a:br>
            <a:endParaRPr lang="en-US" sz="320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37BE2FF-9916-6B4B-FFD8-4E8413266F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76464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371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rred micro image of a street traffic">
            <a:extLst>
              <a:ext uri="{FF2B5EF4-FFF2-40B4-BE49-F238E27FC236}">
                <a16:creationId xmlns:a16="http://schemas.microsoft.com/office/drawing/2014/main" id="{99EBFD10-4679-7BDC-A39B-89A553A0CA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09" b="2"/>
          <a:stretch>
            <a:fillRect/>
          </a:stretch>
        </p:blipFill>
        <p:spPr>
          <a:xfrm>
            <a:off x="715365" y="3524790"/>
            <a:ext cx="3721629" cy="2648593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BE16982-EEC5-8332-4087-C86A394D6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7407" y="555712"/>
            <a:ext cx="6065179" cy="5614416"/>
          </a:xfrm>
        </p:spPr>
        <p:txBody>
          <a:bodyPr>
            <a:normAutofit/>
          </a:bodyPr>
          <a:lstStyle/>
          <a:p>
            <a:r>
              <a:rPr lang="en-US" b="1"/>
              <a:t>Default Behavior</a:t>
            </a:r>
          </a:p>
          <a:p>
            <a:r>
              <a:rPr lang="en-US" b="1"/>
              <a:t>Outbound</a:t>
            </a:r>
            <a:r>
              <a:rPr lang="en-US"/>
              <a:t>: Allow all traffic by default.</a:t>
            </a:r>
          </a:p>
          <a:p>
            <a:r>
              <a:rPr lang="en-US" b="1"/>
              <a:t>Inbound</a:t>
            </a:r>
            <a:r>
              <a:rPr lang="en-US"/>
              <a:t>: Deny all traffic unless explicitly allowed.</a:t>
            </a:r>
          </a:p>
          <a:p>
            <a:r>
              <a:rPr lang="en-US" b="1"/>
              <a:t>Stateful Nature</a:t>
            </a:r>
          </a:p>
          <a:p>
            <a:r>
              <a:rPr lang="en-US"/>
              <a:t>SGs are stateful.</a:t>
            </a:r>
          </a:p>
          <a:p>
            <a:r>
              <a:rPr lang="en-US"/>
              <a:t>If you allow inbound traffic on port 80, the outbound response is automatically allowed (no need for a separate outbound rule).</a:t>
            </a:r>
          </a:p>
          <a:p>
            <a:r>
              <a:rPr lang="en-US" b="1"/>
              <a:t>Rules</a:t>
            </a:r>
          </a:p>
          <a:p>
            <a:r>
              <a:rPr lang="en-US"/>
              <a:t>Only Allow rules supported (no Deny).</a:t>
            </a:r>
          </a:p>
          <a:p>
            <a:r>
              <a:rPr lang="en-US"/>
              <a:t>Define </a:t>
            </a:r>
            <a:r>
              <a:rPr lang="en-US" b="1"/>
              <a:t>which IP, port, or protocol </a:t>
            </a:r>
            <a:r>
              <a:rPr lang="en-US"/>
              <a:t>is allowed.</a:t>
            </a:r>
          </a:p>
          <a:p>
            <a:r>
              <a:rPr lang="en-US"/>
              <a:t>Cannot blacklist an IP (must use NACL or other service for that).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4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Loading">
            <a:extLst>
              <a:ext uri="{FF2B5EF4-FFF2-40B4-BE49-F238E27FC236}">
                <a16:creationId xmlns:a16="http://schemas.microsoft.com/office/drawing/2014/main" id="{EDF3CC39-F2F3-280C-5324-C7901A0F9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111" y="3046576"/>
            <a:ext cx="2969276" cy="2969276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D418318-1A68-2AAE-490C-31900290E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txBody>
          <a:bodyPr>
            <a:normAutofit/>
          </a:bodyPr>
          <a:lstStyle/>
          <a:p>
            <a:r>
              <a:rPr lang="en-US" b="1"/>
              <a:t>Limits</a:t>
            </a:r>
          </a:p>
          <a:p>
            <a:r>
              <a:rPr lang="en-US"/>
              <a:t>Up to 5 Security Groups per ENI (expandable to 16).</a:t>
            </a:r>
          </a:p>
          <a:p>
            <a:r>
              <a:rPr lang="en-US"/>
              <a:t>60 inbound + 60 outbound rules per SG (120 total).</a:t>
            </a:r>
          </a:p>
          <a:p>
            <a:r>
              <a:rPr lang="en-US"/>
              <a:t>IPv4 and IPv6 rules counted separately.</a:t>
            </a:r>
          </a:p>
          <a:p>
            <a:r>
              <a:rPr lang="en-US" b="1"/>
              <a:t> Use Case</a:t>
            </a:r>
          </a:p>
          <a:p>
            <a:r>
              <a:rPr lang="en-US"/>
              <a:t>Provide fine-grained firewall control at the instance level.</a:t>
            </a:r>
          </a:p>
          <a:p>
            <a:r>
              <a:rPr lang="en-US"/>
              <a:t>Commonly used to:</a:t>
            </a:r>
          </a:p>
          <a:p>
            <a:pPr lvl="1"/>
            <a:r>
              <a:rPr lang="en-US"/>
              <a:t>Allow HTTP/HTTPS access to a web server.</a:t>
            </a:r>
          </a:p>
          <a:p>
            <a:pPr lvl="1"/>
            <a:r>
              <a:rPr lang="en-US"/>
              <a:t>Allow SSH/RDP access only from specific IP ranges.</a:t>
            </a:r>
          </a:p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94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D87D9-B32A-29A3-2C68-FE7674568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/>
              <a:t>Network Access Control Lists (NACLs)</a:t>
            </a:r>
            <a:br>
              <a:rPr lang="en-US" sz="2800" b="1"/>
            </a:br>
            <a:endParaRPr lang="en-US" sz="2800"/>
          </a:p>
        </p:txBody>
      </p:sp>
      <p:pic>
        <p:nvPicPr>
          <p:cNvPr id="14" name="Picture 13" descr="Blurred motion traffic">
            <a:extLst>
              <a:ext uri="{FF2B5EF4-FFF2-40B4-BE49-F238E27FC236}">
                <a16:creationId xmlns:a16="http://schemas.microsoft.com/office/drawing/2014/main" id="{55175E31-82E6-21D8-5E6D-E20179F10B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40" r="16470" b="-2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4E87-F281-8344-9340-F4B85EE68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b="1"/>
              <a:t>Where They Live</a:t>
            </a:r>
          </a:p>
          <a:p>
            <a:pPr>
              <a:lnSpc>
                <a:spcPct val="100000"/>
              </a:lnSpc>
            </a:pPr>
            <a:r>
              <a:rPr lang="en-US" sz="1300"/>
              <a:t>Attached at the </a:t>
            </a:r>
            <a:r>
              <a:rPr lang="en-US" sz="1300" b="1"/>
              <a:t>subnet level</a:t>
            </a:r>
            <a:r>
              <a:rPr lang="en-US" sz="1300"/>
              <a:t>.</a:t>
            </a:r>
          </a:p>
          <a:p>
            <a:pPr>
              <a:lnSpc>
                <a:spcPct val="100000"/>
              </a:lnSpc>
            </a:pPr>
            <a:r>
              <a:rPr lang="en-US" sz="1300"/>
              <a:t>Rules apply to </a:t>
            </a:r>
            <a:r>
              <a:rPr lang="en-US" sz="1300" b="1"/>
              <a:t>all resources inside the subnet</a:t>
            </a:r>
            <a:r>
              <a:rPr lang="en-US" sz="1300"/>
              <a:t>.</a:t>
            </a:r>
          </a:p>
          <a:p>
            <a:pPr>
              <a:lnSpc>
                <a:spcPct val="100000"/>
              </a:lnSpc>
            </a:pPr>
            <a:r>
              <a:rPr lang="en-US" sz="1300"/>
              <a:t>Each subnet can have </a:t>
            </a:r>
            <a:r>
              <a:rPr lang="en-US" sz="1300" b="1"/>
              <a:t>only one NACL</a:t>
            </a:r>
            <a:r>
              <a:rPr lang="en-US" sz="1300"/>
              <a:t> (but a NACL can be shared across multiple subnets).</a:t>
            </a:r>
          </a:p>
          <a:p>
            <a:pPr>
              <a:lnSpc>
                <a:spcPct val="100000"/>
              </a:lnSpc>
            </a:pPr>
            <a:r>
              <a:rPr lang="en-US" sz="1300" b="1"/>
              <a:t>Default Behavior</a:t>
            </a:r>
          </a:p>
          <a:p>
            <a:pPr>
              <a:lnSpc>
                <a:spcPct val="100000"/>
              </a:lnSpc>
            </a:pPr>
            <a:r>
              <a:rPr lang="en-US" sz="1300" b="1"/>
              <a:t>Default NACL</a:t>
            </a:r>
            <a:r>
              <a:rPr lang="en-US" sz="1300"/>
              <a:t> → allows all inbound and outbound traffic.</a:t>
            </a:r>
          </a:p>
          <a:p>
            <a:pPr>
              <a:lnSpc>
                <a:spcPct val="100000"/>
              </a:lnSpc>
            </a:pPr>
            <a:r>
              <a:rPr lang="en-US" sz="1300" b="1"/>
              <a:t>Custom NACL</a:t>
            </a:r>
            <a:r>
              <a:rPr lang="en-US" sz="1300"/>
              <a:t> → denies all inbound and outbound traffic until rules are added.</a:t>
            </a:r>
          </a:p>
          <a:p>
            <a:pPr>
              <a:lnSpc>
                <a:spcPct val="100000"/>
              </a:lnSpc>
            </a:pPr>
            <a:r>
              <a:rPr lang="en-US" sz="1300" b="1"/>
              <a:t>Stateless Nature</a:t>
            </a:r>
          </a:p>
          <a:p>
            <a:pPr>
              <a:lnSpc>
                <a:spcPct val="100000"/>
              </a:lnSpc>
            </a:pPr>
            <a:r>
              <a:rPr lang="en-US" sz="1300"/>
              <a:t>NACLs are </a:t>
            </a:r>
            <a:r>
              <a:rPr lang="en-US" sz="1300" b="1"/>
              <a:t>stateless</a:t>
            </a:r>
            <a:r>
              <a:rPr lang="en-US" sz="1300"/>
              <a:t>.</a:t>
            </a:r>
          </a:p>
          <a:p>
            <a:pPr>
              <a:lnSpc>
                <a:spcPct val="100000"/>
              </a:lnSpc>
            </a:pPr>
            <a:r>
              <a:rPr lang="en-US" sz="1300"/>
              <a:t>If you allow inbound traffic on port 80, you must also add an </a:t>
            </a:r>
            <a:r>
              <a:rPr lang="en-US" sz="1300" b="1"/>
              <a:t>outbound rule</a:t>
            </a:r>
            <a:r>
              <a:rPr lang="en-US" sz="1300"/>
              <a:t> for port 80 (responses are not automatic).</a:t>
            </a:r>
          </a:p>
          <a:p>
            <a:pPr>
              <a:lnSpc>
                <a:spcPct val="100000"/>
              </a:lnSpc>
            </a:pPr>
            <a:endParaRPr lang="en-US" sz="1300"/>
          </a:p>
          <a:p>
            <a:pPr>
              <a:lnSpc>
                <a:spcPct val="100000"/>
              </a:lnSpc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45189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and holding a pen shading number on a sheet">
            <a:extLst>
              <a:ext uri="{FF2B5EF4-FFF2-40B4-BE49-F238E27FC236}">
                <a16:creationId xmlns:a16="http://schemas.microsoft.com/office/drawing/2014/main" id="{9D2C2FE6-2DAF-740B-ED1E-8EA9E94D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36" r="3740" b="-3"/>
          <a:stretch>
            <a:fillRect/>
          </a:stretch>
        </p:blipFill>
        <p:spPr>
          <a:xfrm>
            <a:off x="804672" y="3044952"/>
            <a:ext cx="3941064" cy="29718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1EB4D-77E4-54CC-72E5-446F4FBE5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064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 b="1"/>
              <a:t>Rules</a:t>
            </a:r>
          </a:p>
          <a:p>
            <a:pPr>
              <a:lnSpc>
                <a:spcPct val="100000"/>
              </a:lnSpc>
            </a:pPr>
            <a:r>
              <a:rPr lang="en-US" sz="1500"/>
              <a:t>Support both </a:t>
            </a:r>
            <a:r>
              <a:rPr lang="en-US" sz="1500" b="1"/>
              <a:t>Allow</a:t>
            </a:r>
            <a:r>
              <a:rPr lang="en-US" sz="1500"/>
              <a:t> and </a:t>
            </a:r>
            <a:r>
              <a:rPr lang="en-US" sz="1500" b="1"/>
              <a:t>Deny</a:t>
            </a:r>
            <a:r>
              <a:rPr lang="en-US" sz="1500"/>
              <a:t> rules (unlike Security Groups).</a:t>
            </a:r>
          </a:p>
          <a:p>
            <a:pPr>
              <a:lnSpc>
                <a:spcPct val="100000"/>
              </a:lnSpc>
            </a:pPr>
            <a:r>
              <a:rPr lang="en-US" sz="1500" b="1"/>
              <a:t>Useful for blocking malicious IPs</a:t>
            </a:r>
            <a:r>
              <a:rPr lang="en-US" sz="1500"/>
              <a:t> at subnet level.</a:t>
            </a:r>
          </a:p>
          <a:p>
            <a:pPr>
              <a:lnSpc>
                <a:spcPct val="100000"/>
              </a:lnSpc>
            </a:pPr>
            <a:r>
              <a:rPr lang="en-US" sz="1500"/>
              <a:t>Each rule has a </a:t>
            </a:r>
            <a:r>
              <a:rPr lang="en-US" sz="1500" b="1"/>
              <a:t>rule number (1–32766)</a:t>
            </a:r>
            <a:r>
              <a:rPr lang="en-US" sz="1500"/>
              <a:t>.</a:t>
            </a:r>
          </a:p>
          <a:p>
            <a:pPr>
              <a:lnSpc>
                <a:spcPct val="100000"/>
              </a:lnSpc>
            </a:pPr>
            <a:r>
              <a:rPr lang="en-US" sz="1500" b="1"/>
              <a:t>Lower numbers = higher precedence</a:t>
            </a:r>
            <a:r>
              <a:rPr lang="en-US" sz="1500"/>
              <a:t>.</a:t>
            </a:r>
          </a:p>
          <a:p>
            <a:pPr>
              <a:lnSpc>
                <a:spcPct val="100000"/>
              </a:lnSpc>
            </a:pPr>
            <a:r>
              <a:rPr lang="en-US" sz="1500"/>
              <a:t>Evaluation:</a:t>
            </a:r>
          </a:p>
          <a:p>
            <a:pPr lvl="1">
              <a:lnSpc>
                <a:spcPct val="100000"/>
              </a:lnSpc>
            </a:pPr>
            <a:r>
              <a:rPr lang="en-US" sz="1500"/>
              <a:t>First matching rule is applied.</a:t>
            </a:r>
          </a:p>
          <a:p>
            <a:pPr lvl="1">
              <a:lnSpc>
                <a:spcPct val="100000"/>
              </a:lnSpc>
            </a:pPr>
            <a:r>
              <a:rPr lang="en-US" sz="1500"/>
              <a:t>Example:</a:t>
            </a:r>
          </a:p>
          <a:p>
            <a:pPr lvl="2">
              <a:lnSpc>
                <a:spcPct val="100000"/>
              </a:lnSpc>
            </a:pPr>
            <a:r>
              <a:rPr lang="en-US" sz="1500"/>
              <a:t>Rule #100 = ALLOW 10.0.0.10/32</a:t>
            </a:r>
          </a:p>
          <a:p>
            <a:pPr lvl="2">
              <a:lnSpc>
                <a:spcPct val="100000"/>
              </a:lnSpc>
            </a:pPr>
            <a:r>
              <a:rPr lang="en-US" sz="1500"/>
              <a:t>Rule #200 = DENY 10.0.0.10/32</a:t>
            </a:r>
          </a:p>
          <a:p>
            <a:pPr lvl="2">
              <a:lnSpc>
                <a:spcPct val="100000"/>
              </a:lnSpc>
            </a:pPr>
            <a:r>
              <a:rPr lang="en-US" sz="1500"/>
              <a:t>Result → Allowed (because #100 matched first).</a:t>
            </a:r>
          </a:p>
          <a:p>
            <a:pPr>
              <a:lnSpc>
                <a:spcPct val="100000"/>
              </a:lnSpc>
            </a:pPr>
            <a:r>
              <a:rPr lang="en-US" sz="1500" b="1"/>
              <a:t>Last rule is always * (asterisk)</a:t>
            </a:r>
            <a:r>
              <a:rPr lang="en-US" sz="1500"/>
              <a:t> → Denies traffic if no match is found.</a:t>
            </a:r>
          </a:p>
          <a:p>
            <a:pPr>
              <a:lnSpc>
                <a:spcPct val="100000"/>
              </a:lnSpc>
            </a:pPr>
            <a:r>
              <a:rPr lang="en-US" sz="1500"/>
              <a:t>AWS recommends using </a:t>
            </a:r>
            <a:r>
              <a:rPr lang="en-US" sz="1500" b="1"/>
              <a:t>increments of 100</a:t>
            </a:r>
            <a:r>
              <a:rPr lang="en-US" sz="1500"/>
              <a:t> (100, 200, 300…) for flexibility.</a:t>
            </a:r>
          </a:p>
          <a:p>
            <a:pPr>
              <a:lnSpc>
                <a:spcPct val="100000"/>
              </a:lnSpc>
            </a:pPr>
            <a:endParaRPr lang="en-US" sz="15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33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Wireless">
            <a:extLst>
              <a:ext uri="{FF2B5EF4-FFF2-40B4-BE49-F238E27FC236}">
                <a16:creationId xmlns:a16="http://schemas.microsoft.com/office/drawing/2014/main" id="{972C7346-E7A5-94E6-871A-97EABCCE8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3210560"/>
            <a:ext cx="2959568" cy="2959568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016DB-71BA-F2F9-CE73-80DBB0293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8" y="555712"/>
            <a:ext cx="5916168" cy="5614416"/>
          </a:xfrm>
        </p:spPr>
        <p:txBody>
          <a:bodyPr>
            <a:normAutofit/>
          </a:bodyPr>
          <a:lstStyle/>
          <a:p>
            <a:r>
              <a:rPr lang="en-US" b="1" dirty="0"/>
              <a:t>Limits</a:t>
            </a:r>
          </a:p>
          <a:p>
            <a:r>
              <a:rPr lang="en-US" dirty="0"/>
              <a:t>1 NACL per subnet.</a:t>
            </a:r>
          </a:p>
          <a:p>
            <a:r>
              <a:rPr lang="en-US" dirty="0"/>
              <a:t>200 NACLs per VPC (soft limit, can be increased).</a:t>
            </a:r>
          </a:p>
          <a:p>
            <a:r>
              <a:rPr lang="en-US" dirty="0"/>
              <a:t>20 inbound + 20 outbound rules per NACL.</a:t>
            </a:r>
          </a:p>
          <a:p>
            <a:r>
              <a:rPr lang="en-US" dirty="0"/>
              <a:t>IPv4 and IPv6 rules counted separately.</a:t>
            </a:r>
          </a:p>
          <a:p>
            <a:r>
              <a:rPr lang="en-US" b="1" dirty="0"/>
              <a:t>Use Case</a:t>
            </a:r>
          </a:p>
          <a:p>
            <a:r>
              <a:rPr lang="en-US" dirty="0"/>
              <a:t>Provide broad subnet-level firewall policies.</a:t>
            </a:r>
          </a:p>
          <a:p>
            <a:r>
              <a:rPr lang="en-US" dirty="0"/>
              <a:t>Add an extra layer of defense alongside Security Groups.</a:t>
            </a:r>
          </a:p>
          <a:p>
            <a:r>
              <a:rPr lang="en-US" dirty="0"/>
              <a:t>Ideal for blocking specific malicious IPs</a:t>
            </a:r>
          </a:p>
        </p:txBody>
      </p:sp>
    </p:spTree>
    <p:extLst>
      <p:ext uri="{BB962C8B-B14F-4D97-AF65-F5344CB8AC3E}">
        <p14:creationId xmlns:p14="http://schemas.microsoft.com/office/powerpoint/2010/main" val="298271204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497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Calisto MT</vt:lpstr>
      <vt:lpstr>Univers Condensed</vt:lpstr>
      <vt:lpstr>ChronicleVTI</vt:lpstr>
      <vt:lpstr>AWS Security Group vs Network ACL </vt:lpstr>
      <vt:lpstr>Common Points </vt:lpstr>
      <vt:lpstr>Security Groups (SG) </vt:lpstr>
      <vt:lpstr>PowerPoint Presentation</vt:lpstr>
      <vt:lpstr>PowerPoint Presentation</vt:lpstr>
      <vt:lpstr>Network Access Control Lists (NACLs)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2025-09-16T08:39:09Z</dcterms:created>
  <dcterms:modified xsi:type="dcterms:W3CDTF">2025-09-16T09:58:29Z</dcterms:modified>
</cp:coreProperties>
</file>