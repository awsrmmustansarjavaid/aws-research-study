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2140EB-13E0-4C45-ADE0-E01EC1A9716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5AB41C9-4831-4B7E-BD08-B2262F583E82}">
      <dgm:prSet/>
      <dgm:spPr/>
      <dgm:t>
        <a:bodyPr/>
        <a:lstStyle/>
        <a:p>
          <a:r>
            <a:rPr lang="en-US"/>
            <a:t>An IAM user or role can access an S3 object only if:</a:t>
          </a:r>
          <a:br>
            <a:rPr lang="en-US"/>
          </a:br>
          <a:r>
            <a:rPr lang="en-US"/>
            <a:t> Their IAM permissions allow it</a:t>
          </a:r>
          <a:br>
            <a:rPr lang="en-US"/>
          </a:br>
          <a:r>
            <a:rPr lang="en-US" b="1"/>
            <a:t>AND</a:t>
          </a:r>
          <a:br>
            <a:rPr lang="en-US"/>
          </a:br>
          <a:r>
            <a:rPr lang="en-US"/>
            <a:t>The bucket policy allows it</a:t>
          </a:r>
          <a:br>
            <a:rPr lang="en-US"/>
          </a:br>
          <a:r>
            <a:rPr lang="en-US" b="1"/>
            <a:t>AND</a:t>
          </a:r>
          <a:br>
            <a:rPr lang="en-US"/>
          </a:br>
          <a:r>
            <a:rPr lang="en-US"/>
            <a:t>There is </a:t>
          </a:r>
          <a:r>
            <a:rPr lang="en-US" i="1"/>
            <a:t>no explicit DENY</a:t>
          </a:r>
          <a:r>
            <a:rPr lang="en-US"/>
            <a:t> anywhere</a:t>
          </a:r>
        </a:p>
      </dgm:t>
    </dgm:pt>
    <dgm:pt modelId="{6A074F94-7D00-4D43-A5E9-E830A9632F0C}" type="parTrans" cxnId="{FB93DC90-1A69-48A8-8898-173A876D1823}">
      <dgm:prSet/>
      <dgm:spPr/>
      <dgm:t>
        <a:bodyPr/>
        <a:lstStyle/>
        <a:p>
          <a:endParaRPr lang="en-US"/>
        </a:p>
      </dgm:t>
    </dgm:pt>
    <dgm:pt modelId="{FEC96A7F-464B-4970-9B83-B0466AA1FCEF}" type="sibTrans" cxnId="{FB93DC90-1A69-48A8-8898-173A876D1823}">
      <dgm:prSet/>
      <dgm:spPr/>
      <dgm:t>
        <a:bodyPr/>
        <a:lstStyle/>
        <a:p>
          <a:endParaRPr lang="en-US"/>
        </a:p>
      </dgm:t>
    </dgm:pt>
    <dgm:pt modelId="{7C9CE062-F006-431B-BFFB-07E22B6D7D34}">
      <dgm:prSet/>
      <dgm:spPr/>
      <dgm:t>
        <a:bodyPr/>
        <a:lstStyle/>
        <a:p>
          <a:r>
            <a:rPr lang="en-US" b="1"/>
            <a:t>Remember:</a:t>
          </a:r>
          <a:br>
            <a:rPr lang="en-US"/>
          </a:br>
          <a:r>
            <a:rPr lang="en-US"/>
            <a:t>An explicit </a:t>
          </a:r>
          <a:r>
            <a:rPr lang="en-US" b="1"/>
            <a:t>DENY</a:t>
          </a:r>
          <a:r>
            <a:rPr lang="en-US"/>
            <a:t> always overrides </a:t>
          </a:r>
          <a:r>
            <a:rPr lang="en-US" b="1"/>
            <a:t>ALLOW</a:t>
          </a:r>
          <a:r>
            <a:rPr lang="en-US"/>
            <a:t>.</a:t>
          </a:r>
        </a:p>
      </dgm:t>
    </dgm:pt>
    <dgm:pt modelId="{28ED0B64-5C7D-4EE6-87E1-4BD0E48725F4}" type="parTrans" cxnId="{BBEC1732-6937-4006-A54C-9EB7E756D9C9}">
      <dgm:prSet/>
      <dgm:spPr/>
      <dgm:t>
        <a:bodyPr/>
        <a:lstStyle/>
        <a:p>
          <a:endParaRPr lang="en-US"/>
        </a:p>
      </dgm:t>
    </dgm:pt>
    <dgm:pt modelId="{8A85FDF7-6731-4138-B4F1-0CBD4B7E9C07}" type="sibTrans" cxnId="{BBEC1732-6937-4006-A54C-9EB7E756D9C9}">
      <dgm:prSet/>
      <dgm:spPr/>
      <dgm:t>
        <a:bodyPr/>
        <a:lstStyle/>
        <a:p>
          <a:endParaRPr lang="en-US"/>
        </a:p>
      </dgm:t>
    </dgm:pt>
    <dgm:pt modelId="{10E319C1-3D1E-47C0-B3DC-3D42CFD309DA}" type="pres">
      <dgm:prSet presAssocID="{1F2140EB-13E0-4C45-ADE0-E01EC1A97169}" presName="linear" presStyleCnt="0">
        <dgm:presLayoutVars>
          <dgm:animLvl val="lvl"/>
          <dgm:resizeHandles val="exact"/>
        </dgm:presLayoutVars>
      </dgm:prSet>
      <dgm:spPr/>
    </dgm:pt>
    <dgm:pt modelId="{767D6D55-E29E-4044-8193-6B198486A730}" type="pres">
      <dgm:prSet presAssocID="{45AB41C9-4831-4B7E-BD08-B2262F583E8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CD551B-C45C-4C51-9763-D5EA8875BA20}" type="pres">
      <dgm:prSet presAssocID="{FEC96A7F-464B-4970-9B83-B0466AA1FCEF}" presName="spacer" presStyleCnt="0"/>
      <dgm:spPr/>
    </dgm:pt>
    <dgm:pt modelId="{14417979-46E2-449C-9A24-50221AC4A424}" type="pres">
      <dgm:prSet presAssocID="{7C9CE062-F006-431B-BFFB-07E22B6D7D3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91E5E28-2983-4604-AE9F-6A0DB331EEF8}" type="presOf" srcId="{1F2140EB-13E0-4C45-ADE0-E01EC1A97169}" destId="{10E319C1-3D1E-47C0-B3DC-3D42CFD309DA}" srcOrd="0" destOrd="0" presId="urn:microsoft.com/office/officeart/2005/8/layout/vList2"/>
    <dgm:cxn modelId="{BBEC1732-6937-4006-A54C-9EB7E756D9C9}" srcId="{1F2140EB-13E0-4C45-ADE0-E01EC1A97169}" destId="{7C9CE062-F006-431B-BFFB-07E22B6D7D34}" srcOrd="1" destOrd="0" parTransId="{28ED0B64-5C7D-4EE6-87E1-4BD0E48725F4}" sibTransId="{8A85FDF7-6731-4138-B4F1-0CBD4B7E9C07}"/>
    <dgm:cxn modelId="{1CDCBE51-096B-4FC0-B2EE-C63C473A641C}" type="presOf" srcId="{7C9CE062-F006-431B-BFFB-07E22B6D7D34}" destId="{14417979-46E2-449C-9A24-50221AC4A424}" srcOrd="0" destOrd="0" presId="urn:microsoft.com/office/officeart/2005/8/layout/vList2"/>
    <dgm:cxn modelId="{FB93DC90-1A69-48A8-8898-173A876D1823}" srcId="{1F2140EB-13E0-4C45-ADE0-E01EC1A97169}" destId="{45AB41C9-4831-4B7E-BD08-B2262F583E82}" srcOrd="0" destOrd="0" parTransId="{6A074F94-7D00-4D43-A5E9-E830A9632F0C}" sibTransId="{FEC96A7F-464B-4970-9B83-B0466AA1FCEF}"/>
    <dgm:cxn modelId="{882B74F1-E395-4090-8F03-A12D480A8BF1}" type="presOf" srcId="{45AB41C9-4831-4B7E-BD08-B2262F583E82}" destId="{767D6D55-E29E-4044-8193-6B198486A730}" srcOrd="0" destOrd="0" presId="urn:microsoft.com/office/officeart/2005/8/layout/vList2"/>
    <dgm:cxn modelId="{FF688355-31B6-40D3-96B4-260A8F8C8530}" type="presParOf" srcId="{10E319C1-3D1E-47C0-B3DC-3D42CFD309DA}" destId="{767D6D55-E29E-4044-8193-6B198486A730}" srcOrd="0" destOrd="0" presId="urn:microsoft.com/office/officeart/2005/8/layout/vList2"/>
    <dgm:cxn modelId="{0D19F46D-C18A-4CA9-879F-D81BA5BBDAE6}" type="presParOf" srcId="{10E319C1-3D1E-47C0-B3DC-3D42CFD309DA}" destId="{3BCD551B-C45C-4C51-9763-D5EA8875BA20}" srcOrd="1" destOrd="0" presId="urn:microsoft.com/office/officeart/2005/8/layout/vList2"/>
    <dgm:cxn modelId="{600A6550-0953-481A-AFD5-BDAA5D706E1B}" type="presParOf" srcId="{10E319C1-3D1E-47C0-B3DC-3D42CFD309DA}" destId="{14417979-46E2-449C-9A24-50221AC4A42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B93AF0-45D9-43A4-8B66-FA7F7D3D66C8}" type="doc">
      <dgm:prSet loTypeId="urn:microsoft.com/office/officeart/2016/7/layout/HorizontalActionList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32BE2F2-5B89-489F-9032-0429833601D2}">
      <dgm:prSet/>
      <dgm:spPr/>
      <dgm:t>
        <a:bodyPr/>
        <a:lstStyle/>
        <a:p>
          <a:r>
            <a:rPr lang="en-US"/>
            <a:t>Use</a:t>
          </a:r>
        </a:p>
      </dgm:t>
    </dgm:pt>
    <dgm:pt modelId="{F1DFB00E-F3C0-4665-B568-C9D0F6D139ED}" type="parTrans" cxnId="{ECBDF883-8E59-44BF-A6FF-8D64BD40E47E}">
      <dgm:prSet/>
      <dgm:spPr/>
      <dgm:t>
        <a:bodyPr/>
        <a:lstStyle/>
        <a:p>
          <a:endParaRPr lang="en-US"/>
        </a:p>
      </dgm:t>
    </dgm:pt>
    <dgm:pt modelId="{60069E7A-CD9B-436F-8172-4BC8DD44B26B}" type="sibTrans" cxnId="{ECBDF883-8E59-44BF-A6FF-8D64BD40E47E}">
      <dgm:prSet/>
      <dgm:spPr/>
      <dgm:t>
        <a:bodyPr/>
        <a:lstStyle/>
        <a:p>
          <a:endParaRPr lang="en-US"/>
        </a:p>
      </dgm:t>
    </dgm:pt>
    <dgm:pt modelId="{773CB626-770E-40BC-A26A-92DB3574B596}">
      <dgm:prSet/>
      <dgm:spPr/>
      <dgm:t>
        <a:bodyPr/>
        <a:lstStyle/>
        <a:p>
          <a:r>
            <a:rPr lang="en-US"/>
            <a:t>Use least privilege – only grant what’s necessary.</a:t>
          </a:r>
        </a:p>
      </dgm:t>
    </dgm:pt>
    <dgm:pt modelId="{8AF8979D-B046-4632-9867-A2F9E9DB5C6D}" type="parTrans" cxnId="{C268F885-F828-4545-89D3-8FAE45AC7E5F}">
      <dgm:prSet/>
      <dgm:spPr/>
      <dgm:t>
        <a:bodyPr/>
        <a:lstStyle/>
        <a:p>
          <a:endParaRPr lang="en-US"/>
        </a:p>
      </dgm:t>
    </dgm:pt>
    <dgm:pt modelId="{754C0D50-019D-46D6-8E06-6FE75B59383B}" type="sibTrans" cxnId="{C268F885-F828-4545-89D3-8FAE45AC7E5F}">
      <dgm:prSet/>
      <dgm:spPr/>
      <dgm:t>
        <a:bodyPr/>
        <a:lstStyle/>
        <a:p>
          <a:endParaRPr lang="en-US"/>
        </a:p>
      </dgm:t>
    </dgm:pt>
    <dgm:pt modelId="{5BAF8CFA-916C-483A-B4A7-1E665516BE8D}">
      <dgm:prSet/>
      <dgm:spPr/>
      <dgm:t>
        <a:bodyPr/>
        <a:lstStyle/>
        <a:p>
          <a:r>
            <a:rPr lang="en-US"/>
            <a:t>Enable</a:t>
          </a:r>
        </a:p>
      </dgm:t>
    </dgm:pt>
    <dgm:pt modelId="{49AC3D88-5EC4-487E-B1C0-838BD7DC46F9}" type="parTrans" cxnId="{817E0C28-E3C3-4F1C-8FF9-7A38D4CBEDB3}">
      <dgm:prSet/>
      <dgm:spPr/>
      <dgm:t>
        <a:bodyPr/>
        <a:lstStyle/>
        <a:p>
          <a:endParaRPr lang="en-US"/>
        </a:p>
      </dgm:t>
    </dgm:pt>
    <dgm:pt modelId="{2CF568DB-8BA6-4AE1-A50E-DDEFB5DE7E0A}" type="sibTrans" cxnId="{817E0C28-E3C3-4F1C-8FF9-7A38D4CBEDB3}">
      <dgm:prSet/>
      <dgm:spPr/>
      <dgm:t>
        <a:bodyPr/>
        <a:lstStyle/>
        <a:p>
          <a:endParaRPr lang="en-US"/>
        </a:p>
      </dgm:t>
    </dgm:pt>
    <dgm:pt modelId="{A09F2EE6-CBE6-462A-AEFB-9D4A0ACA143F}">
      <dgm:prSet/>
      <dgm:spPr/>
      <dgm:t>
        <a:bodyPr/>
        <a:lstStyle/>
        <a:p>
          <a:r>
            <a:rPr lang="en-US"/>
            <a:t>Enable Block Public Access unless hosting a public website.</a:t>
          </a:r>
        </a:p>
      </dgm:t>
    </dgm:pt>
    <dgm:pt modelId="{BBB9645B-B05A-468C-87C6-CBE57123257D}" type="parTrans" cxnId="{2F80EF4E-95A1-4FEB-8D15-C580D440979D}">
      <dgm:prSet/>
      <dgm:spPr/>
      <dgm:t>
        <a:bodyPr/>
        <a:lstStyle/>
        <a:p>
          <a:endParaRPr lang="en-US"/>
        </a:p>
      </dgm:t>
    </dgm:pt>
    <dgm:pt modelId="{639D0332-89F8-48C8-B33B-485D843EA6E9}" type="sibTrans" cxnId="{2F80EF4E-95A1-4FEB-8D15-C580D440979D}">
      <dgm:prSet/>
      <dgm:spPr/>
      <dgm:t>
        <a:bodyPr/>
        <a:lstStyle/>
        <a:p>
          <a:endParaRPr lang="en-US"/>
        </a:p>
      </dgm:t>
    </dgm:pt>
    <dgm:pt modelId="{A030279D-4908-40A2-99CD-1FCCB6C6377F}">
      <dgm:prSet/>
      <dgm:spPr/>
      <dgm:t>
        <a:bodyPr/>
        <a:lstStyle/>
        <a:p>
          <a:r>
            <a:rPr lang="en-US"/>
            <a:t>Prefer</a:t>
          </a:r>
        </a:p>
      </dgm:t>
    </dgm:pt>
    <dgm:pt modelId="{8C82C0B2-F346-4C4F-BD45-06ED8297A5A0}" type="parTrans" cxnId="{4A6166A6-5491-4AC7-8C6C-2A691EA67811}">
      <dgm:prSet/>
      <dgm:spPr/>
      <dgm:t>
        <a:bodyPr/>
        <a:lstStyle/>
        <a:p>
          <a:endParaRPr lang="en-US"/>
        </a:p>
      </dgm:t>
    </dgm:pt>
    <dgm:pt modelId="{A94DE2A9-B3A7-4305-A4B7-D94095C8413C}" type="sibTrans" cxnId="{4A6166A6-5491-4AC7-8C6C-2A691EA67811}">
      <dgm:prSet/>
      <dgm:spPr/>
      <dgm:t>
        <a:bodyPr/>
        <a:lstStyle/>
        <a:p>
          <a:endParaRPr lang="en-US"/>
        </a:p>
      </dgm:t>
    </dgm:pt>
    <dgm:pt modelId="{35ED0D13-E031-4F9D-9081-CECCB0008552}">
      <dgm:prSet/>
      <dgm:spPr/>
      <dgm:t>
        <a:bodyPr/>
        <a:lstStyle/>
        <a:p>
          <a:r>
            <a:rPr lang="en-US"/>
            <a:t>Prefer Bucket Policies over ACLs.</a:t>
          </a:r>
        </a:p>
      </dgm:t>
    </dgm:pt>
    <dgm:pt modelId="{390F122C-85DB-4E0C-BA0E-6A55D9818F62}" type="parTrans" cxnId="{8EAAFF30-BDD8-4CEF-A62E-418AEE1BB494}">
      <dgm:prSet/>
      <dgm:spPr/>
      <dgm:t>
        <a:bodyPr/>
        <a:lstStyle/>
        <a:p>
          <a:endParaRPr lang="en-US"/>
        </a:p>
      </dgm:t>
    </dgm:pt>
    <dgm:pt modelId="{B8206BA7-E0DF-4F8C-AAA6-A0EDFEEE45E4}" type="sibTrans" cxnId="{8EAAFF30-BDD8-4CEF-A62E-418AEE1BB494}">
      <dgm:prSet/>
      <dgm:spPr/>
      <dgm:t>
        <a:bodyPr/>
        <a:lstStyle/>
        <a:p>
          <a:endParaRPr lang="en-US"/>
        </a:p>
      </dgm:t>
    </dgm:pt>
    <dgm:pt modelId="{E486E623-396C-4356-B4C1-F6B9383DD61F}">
      <dgm:prSet/>
      <dgm:spPr/>
      <dgm:t>
        <a:bodyPr/>
        <a:lstStyle/>
        <a:p>
          <a:r>
            <a:rPr lang="en-US"/>
            <a:t>Test</a:t>
          </a:r>
        </a:p>
      </dgm:t>
    </dgm:pt>
    <dgm:pt modelId="{9C361266-36D0-408A-8E5F-61FA4E61B28B}" type="parTrans" cxnId="{B52D40CD-F695-49CD-84AA-A4E549336C82}">
      <dgm:prSet/>
      <dgm:spPr/>
      <dgm:t>
        <a:bodyPr/>
        <a:lstStyle/>
        <a:p>
          <a:endParaRPr lang="en-US"/>
        </a:p>
      </dgm:t>
    </dgm:pt>
    <dgm:pt modelId="{010C4097-4AE2-4970-899E-C008A662D4CE}" type="sibTrans" cxnId="{B52D40CD-F695-49CD-84AA-A4E549336C82}">
      <dgm:prSet/>
      <dgm:spPr/>
      <dgm:t>
        <a:bodyPr/>
        <a:lstStyle/>
        <a:p>
          <a:endParaRPr lang="en-US"/>
        </a:p>
      </dgm:t>
    </dgm:pt>
    <dgm:pt modelId="{155A8F22-06B9-408E-9375-54AD8365B507}">
      <dgm:prSet/>
      <dgm:spPr/>
      <dgm:t>
        <a:bodyPr/>
        <a:lstStyle/>
        <a:p>
          <a:r>
            <a:rPr lang="en-US"/>
            <a:t>Always test permissions carefully before making public changes.</a:t>
          </a:r>
        </a:p>
      </dgm:t>
    </dgm:pt>
    <dgm:pt modelId="{5671F2EB-6B1A-49B9-9734-958412680749}" type="parTrans" cxnId="{6590618F-B2AB-4163-97AC-CBE68BD21EDD}">
      <dgm:prSet/>
      <dgm:spPr/>
      <dgm:t>
        <a:bodyPr/>
        <a:lstStyle/>
        <a:p>
          <a:endParaRPr lang="en-US"/>
        </a:p>
      </dgm:t>
    </dgm:pt>
    <dgm:pt modelId="{87848D66-E65F-4017-947D-D0B9A569AF74}" type="sibTrans" cxnId="{6590618F-B2AB-4163-97AC-CBE68BD21EDD}">
      <dgm:prSet/>
      <dgm:spPr/>
      <dgm:t>
        <a:bodyPr/>
        <a:lstStyle/>
        <a:p>
          <a:endParaRPr lang="en-US"/>
        </a:p>
      </dgm:t>
    </dgm:pt>
    <dgm:pt modelId="{EF5C1F0D-AEED-4E0F-AAC1-6F9E92601308}" type="pres">
      <dgm:prSet presAssocID="{9BB93AF0-45D9-43A4-8B66-FA7F7D3D66C8}" presName="Name0" presStyleCnt="0">
        <dgm:presLayoutVars>
          <dgm:dir/>
          <dgm:animLvl val="lvl"/>
          <dgm:resizeHandles val="exact"/>
        </dgm:presLayoutVars>
      </dgm:prSet>
      <dgm:spPr/>
    </dgm:pt>
    <dgm:pt modelId="{C1E99788-B0BE-4168-9C62-F3893D22CA44}" type="pres">
      <dgm:prSet presAssocID="{532BE2F2-5B89-489F-9032-0429833601D2}" presName="composite" presStyleCnt="0"/>
      <dgm:spPr/>
    </dgm:pt>
    <dgm:pt modelId="{AB368C91-1094-4EAD-908C-8EB44CEA08AD}" type="pres">
      <dgm:prSet presAssocID="{532BE2F2-5B89-489F-9032-0429833601D2}" presName="parTx" presStyleLbl="alignNode1" presStyleIdx="0" presStyleCnt="4">
        <dgm:presLayoutVars>
          <dgm:chMax val="0"/>
          <dgm:chPref val="0"/>
        </dgm:presLayoutVars>
      </dgm:prSet>
      <dgm:spPr/>
    </dgm:pt>
    <dgm:pt modelId="{EED331BC-0F1D-4AB6-A263-350C74F2E649}" type="pres">
      <dgm:prSet presAssocID="{532BE2F2-5B89-489F-9032-0429833601D2}" presName="desTx" presStyleLbl="alignAccFollowNode1" presStyleIdx="0" presStyleCnt="4">
        <dgm:presLayoutVars/>
      </dgm:prSet>
      <dgm:spPr/>
    </dgm:pt>
    <dgm:pt modelId="{839E5B46-0AAC-4B4A-9569-4A160372A079}" type="pres">
      <dgm:prSet presAssocID="{60069E7A-CD9B-436F-8172-4BC8DD44B26B}" presName="space" presStyleCnt="0"/>
      <dgm:spPr/>
    </dgm:pt>
    <dgm:pt modelId="{1146FE2C-3222-4FB8-966F-4A95268E4988}" type="pres">
      <dgm:prSet presAssocID="{5BAF8CFA-916C-483A-B4A7-1E665516BE8D}" presName="composite" presStyleCnt="0"/>
      <dgm:spPr/>
    </dgm:pt>
    <dgm:pt modelId="{B5FDB7C7-550D-4053-9031-8DAC97620958}" type="pres">
      <dgm:prSet presAssocID="{5BAF8CFA-916C-483A-B4A7-1E665516BE8D}" presName="parTx" presStyleLbl="alignNode1" presStyleIdx="1" presStyleCnt="4">
        <dgm:presLayoutVars>
          <dgm:chMax val="0"/>
          <dgm:chPref val="0"/>
        </dgm:presLayoutVars>
      </dgm:prSet>
      <dgm:spPr/>
    </dgm:pt>
    <dgm:pt modelId="{A209F2AB-0EC9-4974-A0F3-6E7DF57EB78D}" type="pres">
      <dgm:prSet presAssocID="{5BAF8CFA-916C-483A-B4A7-1E665516BE8D}" presName="desTx" presStyleLbl="alignAccFollowNode1" presStyleIdx="1" presStyleCnt="4">
        <dgm:presLayoutVars/>
      </dgm:prSet>
      <dgm:spPr/>
    </dgm:pt>
    <dgm:pt modelId="{B518DC8F-1602-41CE-B4F5-73993D3704C3}" type="pres">
      <dgm:prSet presAssocID="{2CF568DB-8BA6-4AE1-A50E-DDEFB5DE7E0A}" presName="space" presStyleCnt="0"/>
      <dgm:spPr/>
    </dgm:pt>
    <dgm:pt modelId="{BBCC9919-27BB-4251-9DD9-1EA139895B44}" type="pres">
      <dgm:prSet presAssocID="{A030279D-4908-40A2-99CD-1FCCB6C6377F}" presName="composite" presStyleCnt="0"/>
      <dgm:spPr/>
    </dgm:pt>
    <dgm:pt modelId="{F8CE1968-434E-40C3-942D-9B6188FDC4C7}" type="pres">
      <dgm:prSet presAssocID="{A030279D-4908-40A2-99CD-1FCCB6C6377F}" presName="parTx" presStyleLbl="alignNode1" presStyleIdx="2" presStyleCnt="4">
        <dgm:presLayoutVars>
          <dgm:chMax val="0"/>
          <dgm:chPref val="0"/>
        </dgm:presLayoutVars>
      </dgm:prSet>
      <dgm:spPr/>
    </dgm:pt>
    <dgm:pt modelId="{9B8E1CD0-869E-4FDC-A341-5B3B384264EC}" type="pres">
      <dgm:prSet presAssocID="{A030279D-4908-40A2-99CD-1FCCB6C6377F}" presName="desTx" presStyleLbl="alignAccFollowNode1" presStyleIdx="2" presStyleCnt="4">
        <dgm:presLayoutVars/>
      </dgm:prSet>
      <dgm:spPr/>
    </dgm:pt>
    <dgm:pt modelId="{63F8D9C7-D922-4A5B-840F-37DFE1C589C1}" type="pres">
      <dgm:prSet presAssocID="{A94DE2A9-B3A7-4305-A4B7-D94095C8413C}" presName="space" presStyleCnt="0"/>
      <dgm:spPr/>
    </dgm:pt>
    <dgm:pt modelId="{6220708D-99CD-443E-8122-6CBFCB4C98D0}" type="pres">
      <dgm:prSet presAssocID="{E486E623-396C-4356-B4C1-F6B9383DD61F}" presName="composite" presStyleCnt="0"/>
      <dgm:spPr/>
    </dgm:pt>
    <dgm:pt modelId="{D64651B7-19D3-4E07-93AC-3D5B32B5DEE3}" type="pres">
      <dgm:prSet presAssocID="{E486E623-396C-4356-B4C1-F6B9383DD61F}" presName="parTx" presStyleLbl="alignNode1" presStyleIdx="3" presStyleCnt="4">
        <dgm:presLayoutVars>
          <dgm:chMax val="0"/>
          <dgm:chPref val="0"/>
        </dgm:presLayoutVars>
      </dgm:prSet>
      <dgm:spPr/>
    </dgm:pt>
    <dgm:pt modelId="{FF86B5AE-237C-422D-8FC8-7556A118F4CE}" type="pres">
      <dgm:prSet presAssocID="{E486E623-396C-4356-B4C1-F6B9383DD61F}" presName="desTx" presStyleLbl="alignAccFollowNode1" presStyleIdx="3" presStyleCnt="4">
        <dgm:presLayoutVars/>
      </dgm:prSet>
      <dgm:spPr/>
    </dgm:pt>
  </dgm:ptLst>
  <dgm:cxnLst>
    <dgm:cxn modelId="{EA981606-0471-4433-B597-E1F37297DF46}" type="presOf" srcId="{9BB93AF0-45D9-43A4-8B66-FA7F7D3D66C8}" destId="{EF5C1F0D-AEED-4E0F-AAC1-6F9E92601308}" srcOrd="0" destOrd="0" presId="urn:microsoft.com/office/officeart/2016/7/layout/HorizontalActionList"/>
    <dgm:cxn modelId="{89D8EF27-DA86-4148-ACC2-182B3BF15A74}" type="presOf" srcId="{35ED0D13-E031-4F9D-9081-CECCB0008552}" destId="{9B8E1CD0-869E-4FDC-A341-5B3B384264EC}" srcOrd="0" destOrd="0" presId="urn:microsoft.com/office/officeart/2016/7/layout/HorizontalActionList"/>
    <dgm:cxn modelId="{817E0C28-E3C3-4F1C-8FF9-7A38D4CBEDB3}" srcId="{9BB93AF0-45D9-43A4-8B66-FA7F7D3D66C8}" destId="{5BAF8CFA-916C-483A-B4A7-1E665516BE8D}" srcOrd="1" destOrd="0" parTransId="{49AC3D88-5EC4-487E-B1C0-838BD7DC46F9}" sibTransId="{2CF568DB-8BA6-4AE1-A50E-DDEFB5DE7E0A}"/>
    <dgm:cxn modelId="{EC82602D-A95C-469D-B9F2-46C4A17939C5}" type="presOf" srcId="{155A8F22-06B9-408E-9375-54AD8365B507}" destId="{FF86B5AE-237C-422D-8FC8-7556A118F4CE}" srcOrd="0" destOrd="0" presId="urn:microsoft.com/office/officeart/2016/7/layout/HorizontalActionList"/>
    <dgm:cxn modelId="{8EAAFF30-BDD8-4CEF-A62E-418AEE1BB494}" srcId="{A030279D-4908-40A2-99CD-1FCCB6C6377F}" destId="{35ED0D13-E031-4F9D-9081-CECCB0008552}" srcOrd="0" destOrd="0" parTransId="{390F122C-85DB-4E0C-BA0E-6A55D9818F62}" sibTransId="{B8206BA7-E0DF-4F8C-AAA6-A0EDFEEE45E4}"/>
    <dgm:cxn modelId="{D6C4E03D-F705-4040-86F4-566AA8F8D5DE}" type="presOf" srcId="{5BAF8CFA-916C-483A-B4A7-1E665516BE8D}" destId="{B5FDB7C7-550D-4053-9031-8DAC97620958}" srcOrd="0" destOrd="0" presId="urn:microsoft.com/office/officeart/2016/7/layout/HorizontalActionList"/>
    <dgm:cxn modelId="{76034C5D-5C63-48C7-BD99-A52B650A6DB8}" type="presOf" srcId="{E486E623-396C-4356-B4C1-F6B9383DD61F}" destId="{D64651B7-19D3-4E07-93AC-3D5B32B5DEE3}" srcOrd="0" destOrd="0" presId="urn:microsoft.com/office/officeart/2016/7/layout/HorizontalActionList"/>
    <dgm:cxn modelId="{38BD226A-97FB-474B-BE3A-ED35955F18A9}" type="presOf" srcId="{773CB626-770E-40BC-A26A-92DB3574B596}" destId="{EED331BC-0F1D-4AB6-A263-350C74F2E649}" srcOrd="0" destOrd="0" presId="urn:microsoft.com/office/officeart/2016/7/layout/HorizontalActionList"/>
    <dgm:cxn modelId="{2F80EF4E-95A1-4FEB-8D15-C580D440979D}" srcId="{5BAF8CFA-916C-483A-B4A7-1E665516BE8D}" destId="{A09F2EE6-CBE6-462A-AEFB-9D4A0ACA143F}" srcOrd="0" destOrd="0" parTransId="{BBB9645B-B05A-468C-87C6-CBE57123257D}" sibTransId="{639D0332-89F8-48C8-B33B-485D843EA6E9}"/>
    <dgm:cxn modelId="{ECBDF883-8E59-44BF-A6FF-8D64BD40E47E}" srcId="{9BB93AF0-45D9-43A4-8B66-FA7F7D3D66C8}" destId="{532BE2F2-5B89-489F-9032-0429833601D2}" srcOrd="0" destOrd="0" parTransId="{F1DFB00E-F3C0-4665-B568-C9D0F6D139ED}" sibTransId="{60069E7A-CD9B-436F-8172-4BC8DD44B26B}"/>
    <dgm:cxn modelId="{C268F885-F828-4545-89D3-8FAE45AC7E5F}" srcId="{532BE2F2-5B89-489F-9032-0429833601D2}" destId="{773CB626-770E-40BC-A26A-92DB3574B596}" srcOrd="0" destOrd="0" parTransId="{8AF8979D-B046-4632-9867-A2F9E9DB5C6D}" sibTransId="{754C0D50-019D-46D6-8E06-6FE75B59383B}"/>
    <dgm:cxn modelId="{6590618F-B2AB-4163-97AC-CBE68BD21EDD}" srcId="{E486E623-396C-4356-B4C1-F6B9383DD61F}" destId="{155A8F22-06B9-408E-9375-54AD8365B507}" srcOrd="0" destOrd="0" parTransId="{5671F2EB-6B1A-49B9-9734-958412680749}" sibTransId="{87848D66-E65F-4017-947D-D0B9A569AF74}"/>
    <dgm:cxn modelId="{4A6166A6-5491-4AC7-8C6C-2A691EA67811}" srcId="{9BB93AF0-45D9-43A4-8B66-FA7F7D3D66C8}" destId="{A030279D-4908-40A2-99CD-1FCCB6C6377F}" srcOrd="2" destOrd="0" parTransId="{8C82C0B2-F346-4C4F-BD45-06ED8297A5A0}" sibTransId="{A94DE2A9-B3A7-4305-A4B7-D94095C8413C}"/>
    <dgm:cxn modelId="{23E167AA-1653-46E0-BCCB-D3D344307043}" type="presOf" srcId="{A09F2EE6-CBE6-462A-AEFB-9D4A0ACA143F}" destId="{A209F2AB-0EC9-4974-A0F3-6E7DF57EB78D}" srcOrd="0" destOrd="0" presId="urn:microsoft.com/office/officeart/2016/7/layout/HorizontalActionList"/>
    <dgm:cxn modelId="{0E003FC4-5F02-4535-B513-E366DE7F83D7}" type="presOf" srcId="{532BE2F2-5B89-489F-9032-0429833601D2}" destId="{AB368C91-1094-4EAD-908C-8EB44CEA08AD}" srcOrd="0" destOrd="0" presId="urn:microsoft.com/office/officeart/2016/7/layout/HorizontalActionList"/>
    <dgm:cxn modelId="{B52D40CD-F695-49CD-84AA-A4E549336C82}" srcId="{9BB93AF0-45D9-43A4-8B66-FA7F7D3D66C8}" destId="{E486E623-396C-4356-B4C1-F6B9383DD61F}" srcOrd="3" destOrd="0" parTransId="{9C361266-36D0-408A-8E5F-61FA4E61B28B}" sibTransId="{010C4097-4AE2-4970-899E-C008A662D4CE}"/>
    <dgm:cxn modelId="{E0E056D0-DED8-46E9-820E-AACD1DFA2E53}" type="presOf" srcId="{A030279D-4908-40A2-99CD-1FCCB6C6377F}" destId="{F8CE1968-434E-40C3-942D-9B6188FDC4C7}" srcOrd="0" destOrd="0" presId="urn:microsoft.com/office/officeart/2016/7/layout/HorizontalActionList"/>
    <dgm:cxn modelId="{D9B2A3C2-1FBC-4644-BD30-2477535BB1D3}" type="presParOf" srcId="{EF5C1F0D-AEED-4E0F-AAC1-6F9E92601308}" destId="{C1E99788-B0BE-4168-9C62-F3893D22CA44}" srcOrd="0" destOrd="0" presId="urn:microsoft.com/office/officeart/2016/7/layout/HorizontalActionList"/>
    <dgm:cxn modelId="{692E3E94-B7C1-4176-86AA-AD75B22692EF}" type="presParOf" srcId="{C1E99788-B0BE-4168-9C62-F3893D22CA44}" destId="{AB368C91-1094-4EAD-908C-8EB44CEA08AD}" srcOrd="0" destOrd="0" presId="urn:microsoft.com/office/officeart/2016/7/layout/HorizontalActionList"/>
    <dgm:cxn modelId="{60471B33-67A4-4054-A6AE-5725E343795F}" type="presParOf" srcId="{C1E99788-B0BE-4168-9C62-F3893D22CA44}" destId="{EED331BC-0F1D-4AB6-A263-350C74F2E649}" srcOrd="1" destOrd="0" presId="urn:microsoft.com/office/officeart/2016/7/layout/HorizontalActionList"/>
    <dgm:cxn modelId="{6DAC12AC-A2D3-43EA-99D2-00D65755F1F3}" type="presParOf" srcId="{EF5C1F0D-AEED-4E0F-AAC1-6F9E92601308}" destId="{839E5B46-0AAC-4B4A-9569-4A160372A079}" srcOrd="1" destOrd="0" presId="urn:microsoft.com/office/officeart/2016/7/layout/HorizontalActionList"/>
    <dgm:cxn modelId="{93E51C9F-5CE5-47CF-8931-16A316846D87}" type="presParOf" srcId="{EF5C1F0D-AEED-4E0F-AAC1-6F9E92601308}" destId="{1146FE2C-3222-4FB8-966F-4A95268E4988}" srcOrd="2" destOrd="0" presId="urn:microsoft.com/office/officeart/2016/7/layout/HorizontalActionList"/>
    <dgm:cxn modelId="{A08F9449-57EB-4C64-B30E-7093EEE8800B}" type="presParOf" srcId="{1146FE2C-3222-4FB8-966F-4A95268E4988}" destId="{B5FDB7C7-550D-4053-9031-8DAC97620958}" srcOrd="0" destOrd="0" presId="urn:microsoft.com/office/officeart/2016/7/layout/HorizontalActionList"/>
    <dgm:cxn modelId="{31B3813E-3442-4DF9-83CD-030C84DA9F95}" type="presParOf" srcId="{1146FE2C-3222-4FB8-966F-4A95268E4988}" destId="{A209F2AB-0EC9-4974-A0F3-6E7DF57EB78D}" srcOrd="1" destOrd="0" presId="urn:microsoft.com/office/officeart/2016/7/layout/HorizontalActionList"/>
    <dgm:cxn modelId="{8C139F4D-7D91-4FFB-8919-622676AD4D07}" type="presParOf" srcId="{EF5C1F0D-AEED-4E0F-AAC1-6F9E92601308}" destId="{B518DC8F-1602-41CE-B4F5-73993D3704C3}" srcOrd="3" destOrd="0" presId="urn:microsoft.com/office/officeart/2016/7/layout/HorizontalActionList"/>
    <dgm:cxn modelId="{A5E9407B-0D46-4177-812C-BDB07505E58C}" type="presParOf" srcId="{EF5C1F0D-AEED-4E0F-AAC1-6F9E92601308}" destId="{BBCC9919-27BB-4251-9DD9-1EA139895B44}" srcOrd="4" destOrd="0" presId="urn:microsoft.com/office/officeart/2016/7/layout/HorizontalActionList"/>
    <dgm:cxn modelId="{1D1EB417-69E9-47B8-A50E-618718975D89}" type="presParOf" srcId="{BBCC9919-27BB-4251-9DD9-1EA139895B44}" destId="{F8CE1968-434E-40C3-942D-9B6188FDC4C7}" srcOrd="0" destOrd="0" presId="urn:microsoft.com/office/officeart/2016/7/layout/HorizontalActionList"/>
    <dgm:cxn modelId="{D0EB2D4F-43E8-41B6-A496-35D676BE0335}" type="presParOf" srcId="{BBCC9919-27BB-4251-9DD9-1EA139895B44}" destId="{9B8E1CD0-869E-4FDC-A341-5B3B384264EC}" srcOrd="1" destOrd="0" presId="urn:microsoft.com/office/officeart/2016/7/layout/HorizontalActionList"/>
    <dgm:cxn modelId="{D44BD32D-2A26-4F9D-A248-509F3AAC0F57}" type="presParOf" srcId="{EF5C1F0D-AEED-4E0F-AAC1-6F9E92601308}" destId="{63F8D9C7-D922-4A5B-840F-37DFE1C589C1}" srcOrd="5" destOrd="0" presId="urn:microsoft.com/office/officeart/2016/7/layout/HorizontalActionList"/>
    <dgm:cxn modelId="{D8B0BDE9-0B4B-4948-AFC7-BC8D9FFB66FF}" type="presParOf" srcId="{EF5C1F0D-AEED-4E0F-AAC1-6F9E92601308}" destId="{6220708D-99CD-443E-8122-6CBFCB4C98D0}" srcOrd="6" destOrd="0" presId="urn:microsoft.com/office/officeart/2016/7/layout/HorizontalActionList"/>
    <dgm:cxn modelId="{B83DA01B-C7BA-4763-9DBA-FE4B072B1D76}" type="presParOf" srcId="{6220708D-99CD-443E-8122-6CBFCB4C98D0}" destId="{D64651B7-19D3-4E07-93AC-3D5B32B5DEE3}" srcOrd="0" destOrd="0" presId="urn:microsoft.com/office/officeart/2016/7/layout/HorizontalActionList"/>
    <dgm:cxn modelId="{654D5C99-26BE-4D25-B728-A46BC081A369}" type="presParOf" srcId="{6220708D-99CD-443E-8122-6CBFCB4C98D0}" destId="{FF86B5AE-237C-422D-8FC8-7556A118F4CE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D6D55-E29E-4044-8193-6B198486A730}">
      <dsp:nvSpPr>
        <dsp:cNvPr id="0" name=""/>
        <dsp:cNvSpPr/>
      </dsp:nvSpPr>
      <dsp:spPr>
        <a:xfrm>
          <a:off x="0" y="114989"/>
          <a:ext cx="5811128" cy="269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 IAM user or role can access an S3 object only if:</a:t>
          </a:r>
          <a:br>
            <a:rPr lang="en-US" sz="2300" kern="1200"/>
          </a:br>
          <a:r>
            <a:rPr lang="en-US" sz="2300" kern="1200"/>
            <a:t> Their IAM permissions allow it</a:t>
          </a:r>
          <a:br>
            <a:rPr lang="en-US" sz="2300" kern="1200"/>
          </a:br>
          <a:r>
            <a:rPr lang="en-US" sz="2300" b="1" kern="1200"/>
            <a:t>AND</a:t>
          </a:r>
          <a:br>
            <a:rPr lang="en-US" sz="2300" kern="1200"/>
          </a:br>
          <a:r>
            <a:rPr lang="en-US" sz="2300" kern="1200"/>
            <a:t>The bucket policy allows it</a:t>
          </a:r>
          <a:br>
            <a:rPr lang="en-US" sz="2300" kern="1200"/>
          </a:br>
          <a:r>
            <a:rPr lang="en-US" sz="2300" b="1" kern="1200"/>
            <a:t>AND</a:t>
          </a:r>
          <a:br>
            <a:rPr lang="en-US" sz="2300" kern="1200"/>
          </a:br>
          <a:r>
            <a:rPr lang="en-US" sz="2300" kern="1200"/>
            <a:t>There is </a:t>
          </a:r>
          <a:r>
            <a:rPr lang="en-US" sz="2300" i="1" kern="1200"/>
            <a:t>no explicit DENY</a:t>
          </a:r>
          <a:r>
            <a:rPr lang="en-US" sz="2300" kern="1200"/>
            <a:t> anywhere</a:t>
          </a:r>
        </a:p>
      </dsp:txBody>
      <dsp:txXfrm>
        <a:off x="131364" y="246353"/>
        <a:ext cx="5548400" cy="2428272"/>
      </dsp:txXfrm>
    </dsp:sp>
    <dsp:sp modelId="{14417979-46E2-449C-9A24-50221AC4A424}">
      <dsp:nvSpPr>
        <dsp:cNvPr id="0" name=""/>
        <dsp:cNvSpPr/>
      </dsp:nvSpPr>
      <dsp:spPr>
        <a:xfrm>
          <a:off x="0" y="2872229"/>
          <a:ext cx="5811128" cy="2691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Remember:</a:t>
          </a:r>
          <a:br>
            <a:rPr lang="en-US" sz="2300" kern="1200"/>
          </a:br>
          <a:r>
            <a:rPr lang="en-US" sz="2300" kern="1200"/>
            <a:t>An explicit </a:t>
          </a:r>
          <a:r>
            <a:rPr lang="en-US" sz="2300" b="1" kern="1200"/>
            <a:t>DENY</a:t>
          </a:r>
          <a:r>
            <a:rPr lang="en-US" sz="2300" kern="1200"/>
            <a:t> always overrides </a:t>
          </a:r>
          <a:r>
            <a:rPr lang="en-US" sz="2300" b="1" kern="1200"/>
            <a:t>ALLOW</a:t>
          </a:r>
          <a:r>
            <a:rPr lang="en-US" sz="2300" kern="1200"/>
            <a:t>.</a:t>
          </a:r>
        </a:p>
      </dsp:txBody>
      <dsp:txXfrm>
        <a:off x="131364" y="3003593"/>
        <a:ext cx="5548400" cy="24282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368C91-1094-4EAD-908C-8EB44CEA08AD}">
      <dsp:nvSpPr>
        <dsp:cNvPr id="0" name=""/>
        <dsp:cNvSpPr/>
      </dsp:nvSpPr>
      <dsp:spPr>
        <a:xfrm>
          <a:off x="7438" y="870267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</a:t>
          </a:r>
        </a:p>
      </dsp:txBody>
      <dsp:txXfrm>
        <a:off x="7438" y="870267"/>
        <a:ext cx="2544259" cy="763277"/>
      </dsp:txXfrm>
    </dsp:sp>
    <dsp:sp modelId="{EED331BC-0F1D-4AB6-A263-350C74F2E649}">
      <dsp:nvSpPr>
        <dsp:cNvPr id="0" name=""/>
        <dsp:cNvSpPr/>
      </dsp:nvSpPr>
      <dsp:spPr>
        <a:xfrm>
          <a:off x="7438" y="1633545"/>
          <a:ext cx="2544259" cy="1847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least privilege – only grant what’s necessary.</a:t>
          </a:r>
        </a:p>
      </dsp:txBody>
      <dsp:txXfrm>
        <a:off x="7438" y="1633545"/>
        <a:ext cx="2544259" cy="1847524"/>
      </dsp:txXfrm>
    </dsp:sp>
    <dsp:sp modelId="{B5FDB7C7-550D-4053-9031-8DAC97620958}">
      <dsp:nvSpPr>
        <dsp:cNvPr id="0" name=""/>
        <dsp:cNvSpPr/>
      </dsp:nvSpPr>
      <dsp:spPr>
        <a:xfrm>
          <a:off x="2659592" y="870267"/>
          <a:ext cx="2544259" cy="7632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Enable</a:t>
          </a:r>
        </a:p>
      </dsp:txBody>
      <dsp:txXfrm>
        <a:off x="2659592" y="870267"/>
        <a:ext cx="2544259" cy="763277"/>
      </dsp:txXfrm>
    </dsp:sp>
    <dsp:sp modelId="{A209F2AB-0EC9-4974-A0F3-6E7DF57EB78D}">
      <dsp:nvSpPr>
        <dsp:cNvPr id="0" name=""/>
        <dsp:cNvSpPr/>
      </dsp:nvSpPr>
      <dsp:spPr>
        <a:xfrm>
          <a:off x="2659592" y="1633545"/>
          <a:ext cx="2544259" cy="184752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Block Public Access unless hosting a public website.</a:t>
          </a:r>
        </a:p>
      </dsp:txBody>
      <dsp:txXfrm>
        <a:off x="2659592" y="1633545"/>
        <a:ext cx="2544259" cy="1847524"/>
      </dsp:txXfrm>
    </dsp:sp>
    <dsp:sp modelId="{F8CE1968-434E-40C3-942D-9B6188FDC4C7}">
      <dsp:nvSpPr>
        <dsp:cNvPr id="0" name=""/>
        <dsp:cNvSpPr/>
      </dsp:nvSpPr>
      <dsp:spPr>
        <a:xfrm>
          <a:off x="5311747" y="870267"/>
          <a:ext cx="2544259" cy="7632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Prefer</a:t>
          </a:r>
        </a:p>
      </dsp:txBody>
      <dsp:txXfrm>
        <a:off x="5311747" y="870267"/>
        <a:ext cx="2544259" cy="763277"/>
      </dsp:txXfrm>
    </dsp:sp>
    <dsp:sp modelId="{9B8E1CD0-869E-4FDC-A341-5B3B384264EC}">
      <dsp:nvSpPr>
        <dsp:cNvPr id="0" name=""/>
        <dsp:cNvSpPr/>
      </dsp:nvSpPr>
      <dsp:spPr>
        <a:xfrm>
          <a:off x="5311747" y="1633545"/>
          <a:ext cx="2544259" cy="184752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Prefer Bucket Policies over ACLs.</a:t>
          </a:r>
        </a:p>
      </dsp:txBody>
      <dsp:txXfrm>
        <a:off x="5311747" y="1633545"/>
        <a:ext cx="2544259" cy="1847524"/>
      </dsp:txXfrm>
    </dsp:sp>
    <dsp:sp modelId="{D64651B7-19D3-4E07-93AC-3D5B32B5DEE3}">
      <dsp:nvSpPr>
        <dsp:cNvPr id="0" name=""/>
        <dsp:cNvSpPr/>
      </dsp:nvSpPr>
      <dsp:spPr>
        <a:xfrm>
          <a:off x="7963901" y="870267"/>
          <a:ext cx="2544259" cy="7632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</a:t>
          </a:r>
        </a:p>
      </dsp:txBody>
      <dsp:txXfrm>
        <a:off x="7963901" y="870267"/>
        <a:ext cx="2544259" cy="763277"/>
      </dsp:txXfrm>
    </dsp:sp>
    <dsp:sp modelId="{FF86B5AE-237C-422D-8FC8-7556A118F4CE}">
      <dsp:nvSpPr>
        <dsp:cNvPr id="0" name=""/>
        <dsp:cNvSpPr/>
      </dsp:nvSpPr>
      <dsp:spPr>
        <a:xfrm>
          <a:off x="7963901" y="1633545"/>
          <a:ext cx="2544259" cy="184752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Always test permissions carefully before making public changes.</a:t>
          </a:r>
        </a:p>
      </dsp:txBody>
      <dsp:txXfrm>
        <a:off x="7963901" y="1633545"/>
        <a:ext cx="2544259" cy="1847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A5A1-44E7-C105-8F6A-9A4F3432B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A3BF4-FF1D-2B3A-BDAF-9C010D947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06E78-8047-B4E9-CE11-3B70348A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973E-0255-4664-AC8A-7ADC7CBC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9A0D1-4976-0C51-65C9-4B492CB9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9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9211-D941-49E6-98B6-51FB37D4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A3DD6-652E-228C-0F50-76268572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71D2-5D1C-8FA8-B73A-7C242BBE1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1CAB8-F88C-3AD0-9C96-D2DC43B1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13732-659C-6DEE-7C55-8CF4D6DF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4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FE48-E262-5320-3B78-13C7EDA4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DDD03-91A6-23CD-2F7F-37C970A8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E6B9A-D77E-1FFF-BF89-B139FB98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78C28-2427-A9AD-8F19-CBCAEB9F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977AE-750D-0E7C-47CE-438E9B29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6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AFA9-B4C0-341F-9BD8-FCD62FD5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C9701-6375-FB19-9FBE-6D375FE65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EBA00-E414-DA00-877A-05E7EFEB5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58169-20D3-5121-30B8-136D5271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F91A6-87C0-CA0C-D1EA-24186097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39344-9166-5547-80D1-7DC83979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0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FDBE-D639-100E-6A0D-687F94FD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0EB10-E62E-481C-84C3-E39527BD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0DF32-F202-C92F-37F0-0EB507B59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84103-73C6-7E9B-DA1B-D04F74FF8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FA8AF-036C-6DA0-6EC4-96B09FA86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E96BC-5FF4-1524-0EA7-D04479AC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72546-2493-1717-A6FE-1CA41169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8A4F3-2D78-4267-8674-3D5AD405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2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5DFAA-1B8B-AC01-315A-551056A0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F3009-2CF7-C27D-F8E9-74EA0263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E0711-1CBE-DAE0-60B0-AB099D3E2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3665C-FCDD-0660-6947-0B23B6C1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5A8FB-786F-0889-B089-7C762F17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281E7-BFB1-DED1-0FAA-92D07D71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85F9B-656C-2892-A0CE-210CB0EB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0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8BAE-EC7C-38F1-E0FD-42A1C09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78DC-C5C3-D8C0-BBCE-C3C1DC04F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2E514-9959-A849-5E2F-BCE2F265A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65668-E827-3D68-B1FC-57579191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324FC-51A3-889E-ADFF-FB629F2E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1334B-D0A5-D2DD-A562-ADF1B71D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7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3E8D-A7A3-BFA4-DD80-5C31D264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DF012-F9A0-9681-75F7-101FAB905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91E33-189A-9A4C-FAFF-B3B7B4B76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1B6A6-94F7-E553-3512-BFBEFBCB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E1A64-4A36-7C06-F091-A1904B2E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5F304-1524-5097-9B16-9CBF23F1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96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2A54-9EE5-B16B-03CF-4539DB47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7A9E8-9B6F-AF9E-FFD8-6F5F75298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3954-2896-3298-C99C-E9575A2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FD96-373F-5605-7335-D50B2B19C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9253A-6C4D-080E-4675-7AB25F44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1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5A199-5A35-3DC0-86CD-8215819D2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26B3B-E89D-C184-58B2-BC64FBBAC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56DFE-D104-0FDF-77AC-8038F7FF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997E-D36F-F5EE-2FA9-85821E16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F782-7CC7-AF66-2624-9174C8FE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5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3D889-1028-240F-2739-2CB77C43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D0B18-20EF-3584-B4FB-7F7D6CBAC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9936-4686-12A8-9AC3-96A70AA93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BC118-2630-40B4-A553-EEA0607AA1E7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4F6DF-D8C7-DBB6-1B43-9C9C17427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1A88B-97F5-766D-8CDD-51108E8DB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7ABD1-E4C4-48B0-A679-E63BD1E8E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7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C4983-5790-40BA-B369-81AB721B2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700" b="1">
                <a:solidFill>
                  <a:schemeClr val="tx2"/>
                </a:solidFill>
              </a:rPr>
              <a:t>Amazon S3 – Security</a:t>
            </a:r>
            <a:br>
              <a:rPr lang="en-US" sz="3700" b="1">
                <a:solidFill>
                  <a:schemeClr val="tx2"/>
                </a:solidFill>
              </a:rPr>
            </a:br>
            <a:endParaRPr lang="en-US" sz="3700">
              <a:solidFill>
                <a:schemeClr val="tx2"/>
              </a:solidFill>
            </a:endParaRPr>
          </a:p>
        </p:txBody>
      </p:sp>
      <p:pic>
        <p:nvPicPr>
          <p:cNvPr id="6" name="Graphic 5" descr="Box">
            <a:extLst>
              <a:ext uri="{FF2B5EF4-FFF2-40B4-BE49-F238E27FC236}">
                <a16:creationId xmlns:a16="http://schemas.microsoft.com/office/drawing/2014/main" id="{096000CB-23EE-5CEF-2BA3-9BC2689B9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9983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EE0B5-2959-0E45-04F0-3093BD77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200" b="1"/>
            </a:br>
            <a:r>
              <a:rPr lang="en-US" sz="2200" b="1"/>
              <a:t>1. User-Based Security</a:t>
            </a:r>
            <a:br>
              <a:rPr lang="en-US" sz="2200" b="1"/>
            </a:br>
            <a:br>
              <a:rPr lang="en-US" sz="2200" b="1"/>
            </a:br>
            <a:endParaRPr lang="en-US" sz="2200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4172-C075-D203-1FD2-88288957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200" dirty="0"/>
              <a:t>Amazon S3 provides multiple layers of security to control who can access your data and how it’s protected.</a:t>
            </a:r>
            <a:br>
              <a:rPr lang="en-US" sz="2200" dirty="0"/>
            </a:br>
            <a:r>
              <a:rPr lang="en-US" sz="2200" dirty="0"/>
              <a:t>There are two main types of access control: </a:t>
            </a:r>
            <a:r>
              <a:rPr lang="en-US" sz="2200" b="1" dirty="0"/>
              <a:t>User-based and Resource-based.</a:t>
            </a:r>
            <a:br>
              <a:rPr lang="en-US" sz="2200" b="1" dirty="0"/>
            </a:br>
            <a:endParaRPr lang="en-US" sz="2200" b="1" dirty="0"/>
          </a:p>
          <a:p>
            <a:pPr>
              <a:spcBef>
                <a:spcPts val="0"/>
              </a:spcBef>
            </a:pPr>
            <a:r>
              <a:rPr lang="en-US" sz="2200" b="1" dirty="0"/>
              <a:t>IAM Policies (Identity and Access Management)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Define which users or roles can perform which actions on S3.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These policies are attached to IAM users, groups, or roles.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You can specify which API calls are allowed or denied (like s3:GetObject, s3:PutObject, etc.).</a:t>
            </a:r>
          </a:p>
          <a:p>
            <a:pPr>
              <a:spcBef>
                <a:spcPts val="0"/>
              </a:spcBef>
            </a:pPr>
            <a:r>
              <a:rPr lang="en-US" sz="2200" b="1" dirty="0"/>
              <a:t>Example:</a:t>
            </a:r>
            <a:br>
              <a:rPr lang="en-US" sz="2200" dirty="0"/>
            </a:br>
            <a:r>
              <a:rPr lang="en-US" sz="2200" dirty="0"/>
              <a:t>Allow a user to upload files but not delete them.</a:t>
            </a:r>
          </a:p>
          <a:p>
            <a:pPr>
              <a:spcBef>
                <a:spcPts val="0"/>
              </a:spcBef>
            </a:pPr>
            <a:r>
              <a:rPr lang="en-US" sz="2200" b="1" dirty="0"/>
              <a:t>Purpose:</a:t>
            </a:r>
            <a:br>
              <a:rPr lang="en-US" sz="2200" dirty="0"/>
            </a:br>
            <a:r>
              <a:rPr lang="en-US" sz="2200" dirty="0"/>
              <a:t>Controls what an IAM user can do with S3.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6190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3080CF-B9E2-C9EF-42F4-9BB836C7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2. Resource-Based Security</a:t>
            </a:r>
            <a:br>
              <a:rPr lang="en-US" sz="4800" b="1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0F595-D719-447B-F013-8D63BFC4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anchor="ctr">
            <a:normAutofit/>
          </a:bodyPr>
          <a:lstStyle/>
          <a:p>
            <a:r>
              <a:rPr lang="en-US" sz="1700" b="1">
                <a:solidFill>
                  <a:schemeClr val="tx2"/>
                </a:solidFill>
              </a:rPr>
              <a:t>a) Bucket Policy</a:t>
            </a:r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A </a:t>
            </a:r>
            <a:r>
              <a:rPr lang="en-US" sz="1700" b="1">
                <a:solidFill>
                  <a:schemeClr val="tx2"/>
                </a:solidFill>
              </a:rPr>
              <a:t>JSON-based policy</a:t>
            </a:r>
            <a:r>
              <a:rPr lang="en-US" sz="1700">
                <a:solidFill>
                  <a:schemeClr val="tx2"/>
                </a:solidFill>
              </a:rPr>
              <a:t> that you attach directly to a bucket.</a:t>
            </a:r>
          </a:p>
          <a:p>
            <a:r>
              <a:rPr lang="en-US" sz="1700">
                <a:solidFill>
                  <a:schemeClr val="tx2"/>
                </a:solidFill>
              </a:rPr>
              <a:t>Defines access permissions at the bucket or object level.</a:t>
            </a:r>
          </a:p>
          <a:p>
            <a:r>
              <a:rPr lang="en-US" sz="1700">
                <a:solidFill>
                  <a:schemeClr val="tx2"/>
                </a:solidFill>
              </a:rPr>
              <a:t>Can be used to grant permissions to </a:t>
            </a:r>
            <a:r>
              <a:rPr lang="en-US" sz="1700" b="1">
                <a:solidFill>
                  <a:schemeClr val="tx2"/>
                </a:solidFill>
              </a:rPr>
              <a:t>other AWS accounts</a:t>
            </a:r>
            <a:r>
              <a:rPr lang="en-US" sz="1700">
                <a:solidFill>
                  <a:schemeClr val="tx2"/>
                </a:solidFill>
              </a:rPr>
              <a:t> (cross-account access) or make a bucket public.</a:t>
            </a:r>
          </a:p>
          <a:p>
            <a:r>
              <a:rPr lang="en-US" sz="1700" b="1">
                <a:solidFill>
                  <a:schemeClr val="tx2"/>
                </a:solidFill>
              </a:rPr>
              <a:t>b) Object ACL (Access Control List)</a:t>
            </a:r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Provides fine-grained control at the </a:t>
            </a:r>
            <a:r>
              <a:rPr lang="en-US" sz="1700" i="1">
                <a:solidFill>
                  <a:schemeClr val="tx2"/>
                </a:solidFill>
              </a:rPr>
              <a:t>individual object level.</a:t>
            </a:r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Example: make one specific file public while keeping others private.</a:t>
            </a:r>
          </a:p>
          <a:p>
            <a:r>
              <a:rPr lang="en-US" sz="1700">
                <a:solidFill>
                  <a:schemeClr val="tx2"/>
                </a:solidFill>
              </a:rPr>
              <a:t>ACLs can be disabled (recommended best practice is to use bucket policies instead).</a:t>
            </a:r>
          </a:p>
          <a:p>
            <a:r>
              <a:rPr lang="en-US" sz="1700" b="1">
                <a:solidFill>
                  <a:schemeClr val="tx2"/>
                </a:solidFill>
              </a:rPr>
              <a:t>c) Bucket ACL</a:t>
            </a:r>
            <a:endParaRPr lang="en-US" sz="1700">
              <a:solidFill>
                <a:schemeClr val="tx2"/>
              </a:solidFill>
            </a:endParaRPr>
          </a:p>
          <a:p>
            <a:r>
              <a:rPr lang="en-US" sz="1700">
                <a:solidFill>
                  <a:schemeClr val="tx2"/>
                </a:solidFill>
              </a:rPr>
              <a:t>Used to give bucket-level permissions.</a:t>
            </a:r>
          </a:p>
          <a:p>
            <a:r>
              <a:rPr lang="en-US" sz="1700">
                <a:solidFill>
                  <a:schemeClr val="tx2"/>
                </a:solidFill>
              </a:rPr>
              <a:t>Older feature — rarely used now.</a:t>
            </a:r>
          </a:p>
          <a:p>
            <a:endParaRPr lang="en-US" sz="17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31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265C1-8CD1-B3D4-CCA4-6C78635E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 b="1">
                <a:solidFill>
                  <a:srgbClr val="FFFFFF"/>
                </a:solidFill>
              </a:rPr>
              <a:t>Access Logic</a:t>
            </a:r>
            <a:br>
              <a:rPr lang="en-US" sz="4600" b="1">
                <a:solidFill>
                  <a:srgbClr val="FFFFFF"/>
                </a:solidFill>
              </a:rPr>
            </a:br>
            <a:endParaRPr lang="en-US" sz="46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D8C7D2-B4CA-8BBA-146C-4C382E47E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923022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727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77F19-8D4A-553A-F4A9-71492963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/>
              <a:t>Common Use Cases for Bucket Policies</a:t>
            </a:r>
            <a:br>
              <a:rPr lang="en-US" sz="5400" b="1"/>
            </a:b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3674AB-71E0-1489-C740-F4BD48281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b="1"/>
              <a:t>Grant Public Access</a:t>
            </a:r>
            <a:endParaRPr lang="en-US" sz="2200"/>
          </a:p>
          <a:p>
            <a:pPr lvl="1"/>
            <a:r>
              <a:rPr lang="en-US" sz="2200"/>
              <a:t>Allow everyone to read objects in the bucket (for static websites).</a:t>
            </a:r>
          </a:p>
          <a:p>
            <a:pPr lvl="1"/>
            <a:r>
              <a:rPr lang="en-US" sz="2200"/>
              <a:t>Example:</a:t>
            </a:r>
          </a:p>
          <a:p>
            <a:pPr lvl="2"/>
            <a:r>
              <a:rPr lang="en-US" sz="2200"/>
              <a:t>Principal: *</a:t>
            </a:r>
          </a:p>
          <a:p>
            <a:pPr lvl="2"/>
            <a:r>
              <a:rPr lang="en-US" sz="2200"/>
              <a:t>Action: s3:GetObject</a:t>
            </a:r>
          </a:p>
          <a:p>
            <a:pPr lvl="2"/>
            <a:r>
              <a:rPr lang="en-US" sz="2200"/>
              <a:t>Effect: Allow</a:t>
            </a:r>
          </a:p>
          <a:p>
            <a:r>
              <a:rPr lang="en-US" sz="2200" b="1"/>
              <a:t>Force Encryption on Upload</a:t>
            </a:r>
            <a:endParaRPr lang="en-US" sz="2200"/>
          </a:p>
          <a:p>
            <a:pPr lvl="1"/>
            <a:r>
              <a:rPr lang="en-US" sz="2200"/>
              <a:t>Ensure all objects uploaded are encrypted (for compliance and security).</a:t>
            </a:r>
          </a:p>
          <a:p>
            <a:r>
              <a:rPr lang="en-US" sz="2200" b="1"/>
              <a:t>Grant Cross-Account Access</a:t>
            </a:r>
            <a:endParaRPr lang="en-US" sz="2200"/>
          </a:p>
          <a:p>
            <a:pPr lvl="1"/>
            <a:r>
              <a:rPr lang="en-US" sz="2200"/>
              <a:t>Allow another AWS account or role to access your bucket.</a:t>
            </a:r>
          </a:p>
          <a:p>
            <a:pPr lvl="1"/>
            <a:r>
              <a:rPr lang="en-US" sz="2200"/>
              <a:t>Common in multi-account setups or partner data sharing.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9236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DD447A-1594-4291-5DF2-989DA8B3A3A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7810" b="79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A3AEB9-F9BE-188B-5417-1F701E77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Best Practices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807B2A-1297-9E50-55BD-4401D00CA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48433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5933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406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Amazon S3 – Security </vt:lpstr>
      <vt:lpstr> 1. User-Based Security  </vt:lpstr>
      <vt:lpstr>2. Resource-Based Security </vt:lpstr>
      <vt:lpstr>Access Logic </vt:lpstr>
      <vt:lpstr>Common Use Cases for Bucket Policies </vt:lpstr>
      <vt:lpstr>Best Practices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2025-10-21T10:42:15Z</dcterms:created>
  <dcterms:modified xsi:type="dcterms:W3CDTF">2025-10-21T10:53:50Z</dcterms:modified>
</cp:coreProperties>
</file>