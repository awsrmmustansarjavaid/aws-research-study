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6" d="100"/>
          <a:sy n="76" d="100"/>
        </p:scale>
        <p:origin x="77" y="1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96A868E-5414-4E68-8E89-8BF1C652C0CE}" type="doc">
      <dgm:prSet loTypeId="urn:microsoft.com/office/officeart/2005/8/layout/hierarchy1" loCatId="hierarchy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D2A5EE64-816A-421E-9B3A-C46B7EE80C5C}">
      <dgm:prSet/>
      <dgm:spPr/>
      <dgm:t>
        <a:bodyPr/>
        <a:lstStyle/>
        <a:p>
          <a:r>
            <a:rPr lang="en-US" b="1"/>
            <a:t>Amazon S3 – Pre-Signed URLs </a:t>
          </a:r>
          <a:r>
            <a:rPr lang="en-US"/>
            <a:t>A </a:t>
          </a:r>
          <a:r>
            <a:rPr lang="en-US" b="1"/>
            <a:t>Pre-Signed URL</a:t>
          </a:r>
          <a:r>
            <a:rPr lang="en-US"/>
            <a:t> is a </a:t>
          </a:r>
          <a:r>
            <a:rPr lang="en-US" b="1"/>
            <a:t>temporary, secure link</a:t>
          </a:r>
          <a:r>
            <a:rPr lang="en-US"/>
            <a:t> that provides </a:t>
          </a:r>
          <a:r>
            <a:rPr lang="en-US" b="1"/>
            <a:t>limited-time access</a:t>
          </a:r>
          <a:r>
            <a:rPr lang="en-US"/>
            <a:t> to an S3 object — without requiring the user to have AWS credentials.</a:t>
          </a:r>
        </a:p>
      </dgm:t>
    </dgm:pt>
    <dgm:pt modelId="{ED85C88D-9C7E-4D81-BEA2-C5FD31B1F622}" type="parTrans" cxnId="{96365B59-86FD-48D3-9714-9C476ED8D2B3}">
      <dgm:prSet/>
      <dgm:spPr/>
      <dgm:t>
        <a:bodyPr/>
        <a:lstStyle/>
        <a:p>
          <a:endParaRPr lang="en-US"/>
        </a:p>
      </dgm:t>
    </dgm:pt>
    <dgm:pt modelId="{C052E9F9-E67D-4E02-AC41-24E1B70985E2}" type="sibTrans" cxnId="{96365B59-86FD-48D3-9714-9C476ED8D2B3}">
      <dgm:prSet/>
      <dgm:spPr/>
      <dgm:t>
        <a:bodyPr/>
        <a:lstStyle/>
        <a:p>
          <a:endParaRPr lang="en-US"/>
        </a:p>
      </dgm:t>
    </dgm:pt>
    <dgm:pt modelId="{1BF20057-9B89-4413-9CBE-39C9020BECDF}">
      <dgm:prSet/>
      <dgm:spPr/>
      <dgm:t>
        <a:bodyPr/>
        <a:lstStyle/>
        <a:p>
          <a:r>
            <a:rPr lang="en-US"/>
            <a:t>It allows others to </a:t>
          </a:r>
          <a:r>
            <a:rPr lang="en-US" b="1"/>
            <a:t>download (GET)</a:t>
          </a:r>
          <a:r>
            <a:rPr lang="en-US"/>
            <a:t> or </a:t>
          </a:r>
          <a:r>
            <a:rPr lang="en-US" b="1"/>
            <a:t>upload (PUT)</a:t>
          </a:r>
          <a:r>
            <a:rPr lang="en-US"/>
            <a:t> a specific object within a set time limit.</a:t>
          </a:r>
        </a:p>
      </dgm:t>
    </dgm:pt>
    <dgm:pt modelId="{0368AC76-A6C1-4567-928D-1892558426DD}" type="parTrans" cxnId="{50D99970-EC8C-438A-A92B-736B76762741}">
      <dgm:prSet/>
      <dgm:spPr/>
      <dgm:t>
        <a:bodyPr/>
        <a:lstStyle/>
        <a:p>
          <a:endParaRPr lang="en-US"/>
        </a:p>
      </dgm:t>
    </dgm:pt>
    <dgm:pt modelId="{7F26FE96-D141-4715-8ED1-15069CF21A0D}" type="sibTrans" cxnId="{50D99970-EC8C-438A-A92B-736B76762741}">
      <dgm:prSet/>
      <dgm:spPr/>
      <dgm:t>
        <a:bodyPr/>
        <a:lstStyle/>
        <a:p>
          <a:endParaRPr lang="en-US"/>
        </a:p>
      </dgm:t>
    </dgm:pt>
    <dgm:pt modelId="{4A877311-CDC3-4E1C-90FD-8449D826D3D9}" type="pres">
      <dgm:prSet presAssocID="{E96A868E-5414-4E68-8E89-8BF1C652C0CE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3ACD8009-2275-45C2-98C6-11D3253FEC69}" type="pres">
      <dgm:prSet presAssocID="{D2A5EE64-816A-421E-9B3A-C46B7EE80C5C}" presName="hierRoot1" presStyleCnt="0"/>
      <dgm:spPr/>
    </dgm:pt>
    <dgm:pt modelId="{25898755-CE07-4E22-865B-21B163A2B0D5}" type="pres">
      <dgm:prSet presAssocID="{D2A5EE64-816A-421E-9B3A-C46B7EE80C5C}" presName="composite" presStyleCnt="0"/>
      <dgm:spPr/>
    </dgm:pt>
    <dgm:pt modelId="{15CFD3A5-08B6-4923-B57E-BD85B826DF3B}" type="pres">
      <dgm:prSet presAssocID="{D2A5EE64-816A-421E-9B3A-C46B7EE80C5C}" presName="background" presStyleLbl="node0" presStyleIdx="0" presStyleCnt="2"/>
      <dgm:spPr/>
    </dgm:pt>
    <dgm:pt modelId="{248DACB3-A1AC-4A86-818D-DA3270DB733D}" type="pres">
      <dgm:prSet presAssocID="{D2A5EE64-816A-421E-9B3A-C46B7EE80C5C}" presName="text" presStyleLbl="fgAcc0" presStyleIdx="0" presStyleCnt="2">
        <dgm:presLayoutVars>
          <dgm:chPref val="3"/>
        </dgm:presLayoutVars>
      </dgm:prSet>
      <dgm:spPr/>
    </dgm:pt>
    <dgm:pt modelId="{3F8D5DEE-8604-4403-9511-BC4E7E11B48F}" type="pres">
      <dgm:prSet presAssocID="{D2A5EE64-816A-421E-9B3A-C46B7EE80C5C}" presName="hierChild2" presStyleCnt="0"/>
      <dgm:spPr/>
    </dgm:pt>
    <dgm:pt modelId="{A7143CE3-F14A-45A7-BFF5-506F8FB93525}" type="pres">
      <dgm:prSet presAssocID="{1BF20057-9B89-4413-9CBE-39C9020BECDF}" presName="hierRoot1" presStyleCnt="0"/>
      <dgm:spPr/>
    </dgm:pt>
    <dgm:pt modelId="{055A66C8-0E27-477A-A657-A3FE4531F066}" type="pres">
      <dgm:prSet presAssocID="{1BF20057-9B89-4413-9CBE-39C9020BECDF}" presName="composite" presStyleCnt="0"/>
      <dgm:spPr/>
    </dgm:pt>
    <dgm:pt modelId="{B323A81C-882F-40A6-8A08-72CE36316389}" type="pres">
      <dgm:prSet presAssocID="{1BF20057-9B89-4413-9CBE-39C9020BECDF}" presName="background" presStyleLbl="node0" presStyleIdx="1" presStyleCnt="2"/>
      <dgm:spPr/>
    </dgm:pt>
    <dgm:pt modelId="{4CDCDD4F-C2FA-45A5-AC4A-17C7CAD245C2}" type="pres">
      <dgm:prSet presAssocID="{1BF20057-9B89-4413-9CBE-39C9020BECDF}" presName="text" presStyleLbl="fgAcc0" presStyleIdx="1" presStyleCnt="2">
        <dgm:presLayoutVars>
          <dgm:chPref val="3"/>
        </dgm:presLayoutVars>
      </dgm:prSet>
      <dgm:spPr/>
    </dgm:pt>
    <dgm:pt modelId="{215081BC-3CE3-482E-9569-4F2597EB2166}" type="pres">
      <dgm:prSet presAssocID="{1BF20057-9B89-4413-9CBE-39C9020BECDF}" presName="hierChild2" presStyleCnt="0"/>
      <dgm:spPr/>
    </dgm:pt>
  </dgm:ptLst>
  <dgm:cxnLst>
    <dgm:cxn modelId="{E1A70527-943A-4C74-8090-BB5DA4A65796}" type="presOf" srcId="{D2A5EE64-816A-421E-9B3A-C46B7EE80C5C}" destId="{248DACB3-A1AC-4A86-818D-DA3270DB733D}" srcOrd="0" destOrd="0" presId="urn:microsoft.com/office/officeart/2005/8/layout/hierarchy1"/>
    <dgm:cxn modelId="{50D99970-EC8C-438A-A92B-736B76762741}" srcId="{E96A868E-5414-4E68-8E89-8BF1C652C0CE}" destId="{1BF20057-9B89-4413-9CBE-39C9020BECDF}" srcOrd="1" destOrd="0" parTransId="{0368AC76-A6C1-4567-928D-1892558426DD}" sibTransId="{7F26FE96-D141-4715-8ED1-15069CF21A0D}"/>
    <dgm:cxn modelId="{96365B59-86FD-48D3-9714-9C476ED8D2B3}" srcId="{E96A868E-5414-4E68-8E89-8BF1C652C0CE}" destId="{D2A5EE64-816A-421E-9B3A-C46B7EE80C5C}" srcOrd="0" destOrd="0" parTransId="{ED85C88D-9C7E-4D81-BEA2-C5FD31B1F622}" sibTransId="{C052E9F9-E67D-4E02-AC41-24E1B70985E2}"/>
    <dgm:cxn modelId="{C043EFA5-F22E-42AE-AF71-371A3178E423}" type="presOf" srcId="{E96A868E-5414-4E68-8E89-8BF1C652C0CE}" destId="{4A877311-CDC3-4E1C-90FD-8449D826D3D9}" srcOrd="0" destOrd="0" presId="urn:microsoft.com/office/officeart/2005/8/layout/hierarchy1"/>
    <dgm:cxn modelId="{1619CDDF-24DC-4A31-92B0-EBEC5506EAF9}" type="presOf" srcId="{1BF20057-9B89-4413-9CBE-39C9020BECDF}" destId="{4CDCDD4F-C2FA-45A5-AC4A-17C7CAD245C2}" srcOrd="0" destOrd="0" presId="urn:microsoft.com/office/officeart/2005/8/layout/hierarchy1"/>
    <dgm:cxn modelId="{E09358DB-16AE-43BD-8ADC-2F69BB5DA2E8}" type="presParOf" srcId="{4A877311-CDC3-4E1C-90FD-8449D826D3D9}" destId="{3ACD8009-2275-45C2-98C6-11D3253FEC69}" srcOrd="0" destOrd="0" presId="urn:microsoft.com/office/officeart/2005/8/layout/hierarchy1"/>
    <dgm:cxn modelId="{5DB6A9E3-42E1-42E3-B94F-567EE56D6D9A}" type="presParOf" srcId="{3ACD8009-2275-45C2-98C6-11D3253FEC69}" destId="{25898755-CE07-4E22-865B-21B163A2B0D5}" srcOrd="0" destOrd="0" presId="urn:microsoft.com/office/officeart/2005/8/layout/hierarchy1"/>
    <dgm:cxn modelId="{57E64917-8245-405C-B552-1BCB02E8B533}" type="presParOf" srcId="{25898755-CE07-4E22-865B-21B163A2B0D5}" destId="{15CFD3A5-08B6-4923-B57E-BD85B826DF3B}" srcOrd="0" destOrd="0" presId="urn:microsoft.com/office/officeart/2005/8/layout/hierarchy1"/>
    <dgm:cxn modelId="{6B3F762D-AD32-47CA-926D-971531309F01}" type="presParOf" srcId="{25898755-CE07-4E22-865B-21B163A2B0D5}" destId="{248DACB3-A1AC-4A86-818D-DA3270DB733D}" srcOrd="1" destOrd="0" presId="urn:microsoft.com/office/officeart/2005/8/layout/hierarchy1"/>
    <dgm:cxn modelId="{2BF721A9-FF04-4CCE-A41B-9DCE32A06C79}" type="presParOf" srcId="{3ACD8009-2275-45C2-98C6-11D3253FEC69}" destId="{3F8D5DEE-8604-4403-9511-BC4E7E11B48F}" srcOrd="1" destOrd="0" presId="urn:microsoft.com/office/officeart/2005/8/layout/hierarchy1"/>
    <dgm:cxn modelId="{45E36F56-8A2A-440F-AED7-C38A4C92EE81}" type="presParOf" srcId="{4A877311-CDC3-4E1C-90FD-8449D826D3D9}" destId="{A7143CE3-F14A-45A7-BFF5-506F8FB93525}" srcOrd="1" destOrd="0" presId="urn:microsoft.com/office/officeart/2005/8/layout/hierarchy1"/>
    <dgm:cxn modelId="{6316AA30-210B-4405-A99F-1D1B73614E21}" type="presParOf" srcId="{A7143CE3-F14A-45A7-BFF5-506F8FB93525}" destId="{055A66C8-0E27-477A-A657-A3FE4531F066}" srcOrd="0" destOrd="0" presId="urn:microsoft.com/office/officeart/2005/8/layout/hierarchy1"/>
    <dgm:cxn modelId="{B17EB8BF-955A-4E5F-B4A0-4D8C6E9395B4}" type="presParOf" srcId="{055A66C8-0E27-477A-A657-A3FE4531F066}" destId="{B323A81C-882F-40A6-8A08-72CE36316389}" srcOrd="0" destOrd="0" presId="urn:microsoft.com/office/officeart/2005/8/layout/hierarchy1"/>
    <dgm:cxn modelId="{5C0651DA-6323-4995-9AFB-2D3E461EF5F2}" type="presParOf" srcId="{055A66C8-0E27-477A-A657-A3FE4531F066}" destId="{4CDCDD4F-C2FA-45A5-AC4A-17C7CAD245C2}" srcOrd="1" destOrd="0" presId="urn:microsoft.com/office/officeart/2005/8/layout/hierarchy1"/>
    <dgm:cxn modelId="{F38E039C-1A6D-458B-AEA8-0EBB26405B60}" type="presParOf" srcId="{A7143CE3-F14A-45A7-BFF5-506F8FB93525}" destId="{215081BC-3CE3-482E-9569-4F2597EB2166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5CFD3A5-08B6-4923-B57E-BD85B826DF3B}">
      <dsp:nvSpPr>
        <dsp:cNvPr id="0" name=""/>
        <dsp:cNvSpPr/>
      </dsp:nvSpPr>
      <dsp:spPr>
        <a:xfrm>
          <a:off x="134291" y="612"/>
          <a:ext cx="4332795" cy="275132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48DACB3-A1AC-4A86-818D-DA3270DB733D}">
      <dsp:nvSpPr>
        <dsp:cNvPr id="0" name=""/>
        <dsp:cNvSpPr/>
      </dsp:nvSpPr>
      <dsp:spPr>
        <a:xfrm>
          <a:off x="615713" y="457963"/>
          <a:ext cx="4332795" cy="275132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/>
            <a:t>Amazon S3 – Pre-Signed URLs </a:t>
          </a:r>
          <a:r>
            <a:rPr lang="en-US" sz="2400" kern="1200"/>
            <a:t>A </a:t>
          </a:r>
          <a:r>
            <a:rPr lang="en-US" sz="2400" b="1" kern="1200"/>
            <a:t>Pre-Signed URL</a:t>
          </a:r>
          <a:r>
            <a:rPr lang="en-US" sz="2400" kern="1200"/>
            <a:t> is a </a:t>
          </a:r>
          <a:r>
            <a:rPr lang="en-US" sz="2400" b="1" kern="1200"/>
            <a:t>temporary, secure link</a:t>
          </a:r>
          <a:r>
            <a:rPr lang="en-US" sz="2400" kern="1200"/>
            <a:t> that provides </a:t>
          </a:r>
          <a:r>
            <a:rPr lang="en-US" sz="2400" b="1" kern="1200"/>
            <a:t>limited-time access</a:t>
          </a:r>
          <a:r>
            <a:rPr lang="en-US" sz="2400" kern="1200"/>
            <a:t> to an S3 object — without requiring the user to have AWS credentials.</a:t>
          </a:r>
        </a:p>
      </dsp:txBody>
      <dsp:txXfrm>
        <a:off x="696297" y="538547"/>
        <a:ext cx="4171627" cy="2590157"/>
      </dsp:txXfrm>
    </dsp:sp>
    <dsp:sp modelId="{B323A81C-882F-40A6-8A08-72CE36316389}">
      <dsp:nvSpPr>
        <dsp:cNvPr id="0" name=""/>
        <dsp:cNvSpPr/>
      </dsp:nvSpPr>
      <dsp:spPr>
        <a:xfrm>
          <a:off x="5429930" y="612"/>
          <a:ext cx="4332795" cy="275132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CDCDD4F-C2FA-45A5-AC4A-17C7CAD245C2}">
      <dsp:nvSpPr>
        <dsp:cNvPr id="0" name=""/>
        <dsp:cNvSpPr/>
      </dsp:nvSpPr>
      <dsp:spPr>
        <a:xfrm>
          <a:off x="5911352" y="457963"/>
          <a:ext cx="4332795" cy="275132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It allows others to </a:t>
          </a:r>
          <a:r>
            <a:rPr lang="en-US" sz="2400" b="1" kern="1200"/>
            <a:t>download (GET)</a:t>
          </a:r>
          <a:r>
            <a:rPr lang="en-US" sz="2400" kern="1200"/>
            <a:t> or </a:t>
          </a:r>
          <a:r>
            <a:rPr lang="en-US" sz="2400" b="1" kern="1200"/>
            <a:t>upload (PUT)</a:t>
          </a:r>
          <a:r>
            <a:rPr lang="en-US" sz="2400" kern="1200"/>
            <a:t> a specific object within a set time limit.</a:t>
          </a:r>
        </a:p>
      </dsp:txBody>
      <dsp:txXfrm>
        <a:off x="5991936" y="538547"/>
        <a:ext cx="4171627" cy="259015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D41E95-3A02-1BED-FC55-C6A43EA941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5CEA806-E138-B93D-5BD7-41E1B955FA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EE0C70-ACD3-2FB2-FC6E-5D50D64BC4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34A62D-C67B-4167-B054-CE88C46EE7F7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225285-3E64-9BBF-2DAA-54CDCDC161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9FF690-C046-CBCC-8F7F-8300C2EEF4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4D59E8-284C-4A0E-9CCC-E786970F02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11727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B6DE24-2B8F-5930-0EED-5E578FB5A6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8EF3ED-8720-D37A-17F6-34401A57EF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E5BF98-7F1C-9ADB-4509-91B3431373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34A62D-C67B-4167-B054-CE88C46EE7F7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59FA97-6A64-1129-612A-DEBB4C6B44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C9E84A-3EA5-3594-8A1F-F47A1743B9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4D59E8-284C-4A0E-9CCC-E786970F02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06586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861BE9-69EF-FEDD-099E-E5F94A3FA9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DB9A47-025D-6EEF-7DB5-B7B9F34BF0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51CE67-7EC8-D0A5-628A-0DF623BD77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34A62D-C67B-4167-B054-CE88C46EE7F7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B03D53-63AA-C9EF-33B0-750C6DC2E2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C6F370-0796-866C-48E4-F1B0675228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4D59E8-284C-4A0E-9CCC-E786970F02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7630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79501C-EDB9-80E2-23F6-B674900AC9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64192D-36CF-587E-D429-C766AFEFD37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5F2BBB9-6BCC-7613-376F-7173115C5A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533967-3FBB-97C9-9D74-CABD6D6DFE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34A62D-C67B-4167-B054-CE88C46EE7F7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06A9058-0540-6627-22D4-856C3D07B2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00695E-6597-D8F7-5B21-3536C20CB7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4D59E8-284C-4A0E-9CCC-E786970F02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59751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F715ED-57AC-F4EC-8A58-60D1CA29A7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06482D-F973-2189-58B3-BA609E068F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5B6BCB-72D8-B41F-6FEA-5354C7A03C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0728393-2740-B7E9-FEC2-6346F09F300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558C2C3-A4F4-94A7-4FCE-4430E99F057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C5790E8-C308-E18D-0562-2A9C5FBB1C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34A62D-C67B-4167-B054-CE88C46EE7F7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69313DC-AB59-8F9F-D0E8-98954B8012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162B970-44F7-F2C7-7ABA-F44207CA64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4D59E8-284C-4A0E-9CCC-E786970F02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35665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57A4A1-44EE-7D5E-38B0-4FC13490B2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C8B6F9C-13A2-390F-1938-DEA8766A36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34A62D-C67B-4167-B054-CE88C46EE7F7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0B46AF9-41A4-B9E2-0473-B1B02259AD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D5E677B-0AC1-3B68-D6A6-75EFAE47E8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4D59E8-284C-4A0E-9CCC-E786970F02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21121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5D724F9-7174-E121-68AB-4A01179A35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34A62D-C67B-4167-B054-CE88C46EE7F7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B4145A4-4933-F2BD-C380-8E1D1861C4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46FD03-06FA-F4FE-D5E9-BA07521072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4D59E8-284C-4A0E-9CCC-E786970F02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5836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2A0C5E-EBA5-0955-2BC6-0088C2A3EF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9597EC-472C-1EE2-63A5-93B6576222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206BD0C-82BB-9474-8806-CD06318679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8BDD84A-C75D-C3B9-FAEC-87471B085A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34A62D-C67B-4167-B054-CE88C46EE7F7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4602D6A-DCAA-681E-39E3-3838B8012B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2400D9-17FF-F0BB-31F1-32EA172241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4D59E8-284C-4A0E-9CCC-E786970F02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03985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830F99-F4BF-43F4-178A-C0B349C925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B010A69-3529-A5EE-70DF-D71275F4A5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39E48D3-8BAB-EE6C-BEE0-B87D1BFA01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258588-C81D-4B39-2AFB-4A14381938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34A62D-C67B-4167-B054-CE88C46EE7F7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D7F76D-5577-428D-CDC4-3F7AC02000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10A3619-71C2-0D59-7F85-216155DA49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4D59E8-284C-4A0E-9CCC-E786970F02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04983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D80AC8-6EB3-10D0-3F50-BD9EEC1EF8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3986D51-EFAC-0280-431F-6B22154B4E0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F2C4BB-2BCB-074D-E634-798BDDC6B8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34A62D-C67B-4167-B054-CE88C46EE7F7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F1D733-1A86-C83D-157D-D0BE9D6D10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3A15CF-57E5-019D-50A4-7045093133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4D59E8-284C-4A0E-9CCC-E786970F02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74052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A14E955-71C4-FC13-C5CB-626BE876FA1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D151746-3A31-FB02-C908-336EDC7707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E3D09E-6A60-5498-B32E-1A1054559B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34A62D-C67B-4167-B054-CE88C46EE7F7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26C841-1361-A192-EEBA-0F58C1C3F0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C5BFE9-AFFC-5406-2ACB-C7AB974122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4D59E8-284C-4A0E-9CCC-E786970F02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82157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1674BEF-7AA2-575D-112E-AA94A1710F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0D13DF-6953-D70E-F2C2-30ECBA1B72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E8C7AC-24B1-492E-4416-0A872B9DB67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534A62D-C67B-4167-B054-CE88C46EE7F7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C278AC-A5F4-7D62-DBA3-B812B6A3B9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E3E72B-FF16-6145-7365-0D50A73D3E5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54D59E8-284C-4A0E-9CCC-E786970F02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14627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E8A2AA33-D5C1-4C2E-BAA5-2AAF0E63EF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657E063-AC92-4DBF-9A8C-429C5E2F22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541494"/>
            <a:ext cx="12192000" cy="4316506"/>
          </a:xfrm>
          <a:prstGeom prst="rect">
            <a:avLst/>
          </a:prstGeom>
          <a:solidFill>
            <a:schemeClr val="tx2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1FC90C7F-C82F-4383-8E86-8F056BBA8E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217027" y="-378827"/>
            <a:ext cx="6858000" cy="7615655"/>
          </a:xfrm>
          <a:custGeom>
            <a:avLst/>
            <a:gdLst>
              <a:gd name="connsiteX0" fmla="*/ 0 w 6858000"/>
              <a:gd name="connsiteY0" fmla="*/ 7615655 h 7615655"/>
              <a:gd name="connsiteX1" fmla="*/ 0 w 6858000"/>
              <a:gd name="connsiteY1" fmla="*/ 7533862 h 7615655"/>
              <a:gd name="connsiteX2" fmla="*/ 1092812 w 6858000"/>
              <a:gd name="connsiteY2" fmla="*/ 7533862 h 7615655"/>
              <a:gd name="connsiteX3" fmla="*/ 1092812 w 6858000"/>
              <a:gd name="connsiteY3" fmla="*/ 81793 h 7615655"/>
              <a:gd name="connsiteX4" fmla="*/ 0 w 6858000"/>
              <a:gd name="connsiteY4" fmla="*/ 81793 h 7615655"/>
              <a:gd name="connsiteX5" fmla="*/ 0 w 6858000"/>
              <a:gd name="connsiteY5" fmla="*/ 0 h 7615655"/>
              <a:gd name="connsiteX6" fmla="*/ 1092812 w 6858000"/>
              <a:gd name="connsiteY6" fmla="*/ 0 h 7615655"/>
              <a:gd name="connsiteX7" fmla="*/ 5779244 w 6858000"/>
              <a:gd name="connsiteY7" fmla="*/ 0 h 7615655"/>
              <a:gd name="connsiteX8" fmla="*/ 6858000 w 6858000"/>
              <a:gd name="connsiteY8" fmla="*/ 0 h 7615655"/>
              <a:gd name="connsiteX9" fmla="*/ 6858000 w 6858000"/>
              <a:gd name="connsiteY9" fmla="*/ 81793 h 7615655"/>
              <a:gd name="connsiteX10" fmla="*/ 5779244 w 6858000"/>
              <a:gd name="connsiteY10" fmla="*/ 81793 h 7615655"/>
              <a:gd name="connsiteX11" fmla="*/ 5779244 w 6858000"/>
              <a:gd name="connsiteY11" fmla="*/ 7533862 h 7615655"/>
              <a:gd name="connsiteX12" fmla="*/ 6858000 w 6858000"/>
              <a:gd name="connsiteY12" fmla="*/ 7533862 h 7615655"/>
              <a:gd name="connsiteX13" fmla="*/ 6858000 w 6858000"/>
              <a:gd name="connsiteY13" fmla="*/ 7615655 h 7615655"/>
              <a:gd name="connsiteX14" fmla="*/ 5779244 w 6858000"/>
              <a:gd name="connsiteY14" fmla="*/ 7615655 h 7615655"/>
              <a:gd name="connsiteX15" fmla="*/ 1092812 w 6858000"/>
              <a:gd name="connsiteY15" fmla="*/ 7615655 h 76156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6858000" h="7615655">
                <a:moveTo>
                  <a:pt x="0" y="7615655"/>
                </a:moveTo>
                <a:lnTo>
                  <a:pt x="0" y="7533862"/>
                </a:lnTo>
                <a:lnTo>
                  <a:pt x="1092812" y="7533862"/>
                </a:lnTo>
                <a:lnTo>
                  <a:pt x="1092812" y="81793"/>
                </a:lnTo>
                <a:lnTo>
                  <a:pt x="0" y="81793"/>
                </a:lnTo>
                <a:lnTo>
                  <a:pt x="0" y="0"/>
                </a:lnTo>
                <a:lnTo>
                  <a:pt x="1092812" y="0"/>
                </a:lnTo>
                <a:lnTo>
                  <a:pt x="5779244" y="0"/>
                </a:lnTo>
                <a:lnTo>
                  <a:pt x="6858000" y="0"/>
                </a:lnTo>
                <a:lnTo>
                  <a:pt x="6858000" y="81793"/>
                </a:lnTo>
                <a:lnTo>
                  <a:pt x="5779244" y="81793"/>
                </a:lnTo>
                <a:lnTo>
                  <a:pt x="5779244" y="7533862"/>
                </a:lnTo>
                <a:lnTo>
                  <a:pt x="6858000" y="7533862"/>
                </a:lnTo>
                <a:lnTo>
                  <a:pt x="6858000" y="7615655"/>
                </a:lnTo>
                <a:lnTo>
                  <a:pt x="5779244" y="7615655"/>
                </a:lnTo>
                <a:lnTo>
                  <a:pt x="1092812" y="7615655"/>
                </a:lnTo>
                <a:close/>
              </a:path>
            </a:pathLst>
          </a:cu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C143FA7-26D9-64AF-03D6-B032DC1EC5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76401" y="2043953"/>
            <a:ext cx="5780846" cy="1765198"/>
          </a:xfrm>
        </p:spPr>
        <p:txBody>
          <a:bodyPr>
            <a:normAutofit/>
          </a:bodyPr>
          <a:lstStyle/>
          <a:p>
            <a:r>
              <a:rPr lang="en-US" sz="3200" b="1">
                <a:solidFill>
                  <a:schemeClr val="bg1"/>
                </a:solidFill>
              </a:rPr>
              <a:t>Amazon S3 – Pre-Signed URLs</a:t>
            </a:r>
            <a:endParaRPr lang="en-US" sz="32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398094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6E9B3E6-E277-4D68-BA48-9CB43FFBD6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BC22984-D5E1-4C6B-7BC8-97FEC8E31D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10173010" cy="1554480"/>
          </a:xfrm>
        </p:spPr>
        <p:txBody>
          <a:bodyPr anchor="ctr">
            <a:normAutofit/>
          </a:bodyPr>
          <a:lstStyle/>
          <a:p>
            <a:r>
              <a:rPr lang="en-US" sz="4800" b="1"/>
              <a:t>Amazon S3 – Pre-Signed URLs</a:t>
            </a:r>
            <a:endParaRPr lang="en-US" sz="4800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5D5EEC1-5143-7384-A5E9-40C14C0B706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22368801"/>
              </p:ext>
            </p:extLst>
          </p:nvPr>
        </p:nvGraphicFramePr>
        <p:xfrm>
          <a:off x="904602" y="3017519"/>
          <a:ext cx="10378440" cy="320990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4507236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35">
            <a:extLst>
              <a:ext uri="{FF2B5EF4-FFF2-40B4-BE49-F238E27FC236}">
                <a16:creationId xmlns:a16="http://schemas.microsoft.com/office/drawing/2014/main" id="{4DA718D0-4865-4629-8134-44F68D41D5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65167ED7-6315-43AB-B1B6-C326D5FD8F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-2340441" y="2666183"/>
            <a:ext cx="5860051" cy="527712"/>
            <a:chOff x="6081624" y="1998368"/>
            <a:chExt cx="5613457" cy="782175"/>
          </a:xfrm>
          <a:solidFill>
            <a:schemeClr val="accent4"/>
          </a:solidFill>
        </p:grpSpPr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EF4D8839-FB03-487D-ACC8-8BFEDD4FEB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0EF75023-9A3B-42FC-B704-61A8F7BEF4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6081624" y="1998844"/>
              <a:ext cx="5372968" cy="7816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0" name="Rectangle 49">
            <a:extLst>
              <a:ext uri="{FF2B5EF4-FFF2-40B4-BE49-F238E27FC236}">
                <a16:creationId xmlns:a16="http://schemas.microsoft.com/office/drawing/2014/main" id="{CBC4F608-B4B8-48C3-9572-C0F061B1CD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528" y="922919"/>
            <a:ext cx="11111729" cy="546125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F8555EC-7B33-ECCC-E128-E0D60F8636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2963" y="1238080"/>
            <a:ext cx="9849751" cy="1349671"/>
          </a:xfrm>
        </p:spPr>
        <p:txBody>
          <a:bodyPr anchor="b">
            <a:normAutofit/>
          </a:bodyPr>
          <a:lstStyle/>
          <a:p>
            <a:r>
              <a:rPr lang="en-US" sz="4200" b="1"/>
              <a:t>How Pre-Signed URLs Work</a:t>
            </a:r>
            <a:br>
              <a:rPr lang="en-US" sz="4200" b="1"/>
            </a:br>
            <a:endParaRPr lang="en-US" sz="4200"/>
          </a:p>
        </p:txBody>
      </p:sp>
      <p:sp>
        <p:nvSpPr>
          <p:cNvPr id="51" name="Content Placeholder 2">
            <a:extLst>
              <a:ext uri="{FF2B5EF4-FFF2-40B4-BE49-F238E27FC236}">
                <a16:creationId xmlns:a16="http://schemas.microsoft.com/office/drawing/2014/main" id="{8625F67A-3294-2694-682D-B910F1FBCC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9304" y="2902913"/>
            <a:ext cx="9849751" cy="3032168"/>
          </a:xfrm>
        </p:spPr>
        <p:txBody>
          <a:bodyPr anchor="ctr">
            <a:normAutofit/>
          </a:bodyPr>
          <a:lstStyle/>
          <a:p>
            <a:r>
              <a:rPr lang="en-US" sz="2000"/>
              <a:t>A pre-signed URL is generated by an </a:t>
            </a:r>
            <a:r>
              <a:rPr lang="en-US" sz="2000" b="1"/>
              <a:t>IAM user or role</a:t>
            </a:r>
            <a:r>
              <a:rPr lang="en-US" sz="2000"/>
              <a:t> that already has access to the S3 object.</a:t>
            </a:r>
          </a:p>
          <a:p>
            <a:r>
              <a:rPr lang="en-US" sz="2000"/>
              <a:t>The </a:t>
            </a:r>
            <a:r>
              <a:rPr lang="en-US" sz="2000" b="1"/>
              <a:t>permissions of the URL</a:t>
            </a:r>
            <a:r>
              <a:rPr lang="en-US" sz="2000"/>
              <a:t> are inherited from that user’s IAM policy.</a:t>
            </a:r>
          </a:p>
          <a:p>
            <a:r>
              <a:rPr lang="en-US" sz="2000"/>
              <a:t>The </a:t>
            </a:r>
            <a:r>
              <a:rPr lang="en-US" sz="2000" b="1"/>
              <a:t>recipient of the URL</a:t>
            </a:r>
            <a:r>
              <a:rPr lang="en-US" sz="2000"/>
              <a:t> does not need AWS credentials — they only use the signed link.</a:t>
            </a:r>
          </a:p>
          <a:p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23229566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4" name="Rectangle 33">
            <a:extLst>
              <a:ext uri="{FF2B5EF4-FFF2-40B4-BE49-F238E27FC236}">
                <a16:creationId xmlns:a16="http://schemas.microsoft.com/office/drawing/2014/main" id="{DBF61EA3-B236-439E-9C0B-340980D56B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4BF0B3B-52D4-8EED-9522-4A952B812E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8638" y="386930"/>
            <a:ext cx="9236700" cy="1188950"/>
          </a:xfrm>
        </p:spPr>
        <p:txBody>
          <a:bodyPr anchor="b">
            <a:normAutofit/>
          </a:bodyPr>
          <a:lstStyle/>
          <a:p>
            <a:r>
              <a:rPr lang="en-US" sz="3800" b="1"/>
              <a:t>How to Generate a Pre-Signed URL</a:t>
            </a:r>
            <a:br>
              <a:rPr lang="en-US" sz="3800" b="1" dirty="0"/>
            </a:br>
            <a:endParaRPr lang="en-US" sz="3800" dirty="0"/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28FAF094-D087-493F-8DF9-A486C2D6BB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" y="1998368"/>
            <a:ext cx="11695083" cy="782176"/>
            <a:chOff x="-2" y="1998368"/>
            <a:chExt cx="11695083" cy="782176"/>
          </a:xfrm>
        </p:grpSpPr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8D7C88D8-5509-4514-925A-9CE148E5CB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7275593D-F75E-4426-AE3E-2CDEFD228D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-2" y="1998845"/>
              <a:ext cx="11454595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0" name="Rectangle 39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147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Content Placeholder 2">
            <a:extLst>
              <a:ext uri="{FF2B5EF4-FFF2-40B4-BE49-F238E27FC236}">
                <a16:creationId xmlns:a16="http://schemas.microsoft.com/office/drawing/2014/main" id="{86C021C0-8507-2750-AB0F-202406DC0B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0" y="2599509"/>
            <a:ext cx="10143668" cy="3435531"/>
          </a:xfrm>
        </p:spPr>
        <p:txBody>
          <a:bodyPr anchor="ctr">
            <a:normAutofit/>
          </a:bodyPr>
          <a:lstStyle/>
          <a:p>
            <a:r>
              <a:rPr lang="en-US" sz="2400" dirty="0"/>
              <a:t>You can generate pre-signed URLs using:</a:t>
            </a:r>
          </a:p>
          <a:p>
            <a:r>
              <a:rPr lang="en-US" sz="2400" b="1" dirty="0"/>
              <a:t>AWS Management Console</a:t>
            </a:r>
            <a:endParaRPr lang="en-US" sz="2400" dirty="0"/>
          </a:p>
          <a:p>
            <a:r>
              <a:rPr lang="en-US" sz="2400" b="1" dirty="0"/>
              <a:t>AWS CLI</a:t>
            </a:r>
            <a:endParaRPr lang="en-US" sz="2400" dirty="0"/>
          </a:p>
          <a:p>
            <a:r>
              <a:rPr lang="en-US" sz="2400" b="1" dirty="0"/>
              <a:t>AWS SDKs (e.g., Python Boto3, Node.js SDK, etc.)</a:t>
            </a:r>
            <a:endParaRPr lang="en-US" sz="2400" dirty="0"/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9892672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4" name="Rectangle 43">
            <a:extLst>
              <a:ext uri="{FF2B5EF4-FFF2-40B4-BE49-F238E27FC236}">
                <a16:creationId xmlns:a16="http://schemas.microsoft.com/office/drawing/2014/main" id="{BCED4D40-4B67-4331-AC48-79B82B4A47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8F3F4B0-18D0-77AD-2008-2D6292A190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17576"/>
            <a:ext cx="10909640" cy="124939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URL Expiration</a:t>
            </a:r>
          </a:p>
        </p:txBody>
      </p:sp>
      <p:sp>
        <p:nvSpPr>
          <p:cNvPr id="46" name="sketch line">
            <a:extLst>
              <a:ext uri="{FF2B5EF4-FFF2-40B4-BE49-F238E27FC236}">
                <a16:creationId xmlns:a16="http://schemas.microsoft.com/office/drawing/2014/main" id="{670CEDEF-4F34-412E-84EE-329C1E936A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07702" y="1733454"/>
            <a:ext cx="4572000" cy="18288"/>
          </a:xfrm>
          <a:custGeom>
            <a:avLst/>
            <a:gdLst>
              <a:gd name="connsiteX0" fmla="*/ 0 w 4572000"/>
              <a:gd name="connsiteY0" fmla="*/ 0 h 18288"/>
              <a:gd name="connsiteX1" fmla="*/ 515983 w 4572000"/>
              <a:gd name="connsiteY1" fmla="*/ 0 h 18288"/>
              <a:gd name="connsiteX2" fmla="*/ 1031966 w 4572000"/>
              <a:gd name="connsiteY2" fmla="*/ 0 h 18288"/>
              <a:gd name="connsiteX3" fmla="*/ 1639389 w 4572000"/>
              <a:gd name="connsiteY3" fmla="*/ 0 h 18288"/>
              <a:gd name="connsiteX4" fmla="*/ 2383971 w 4572000"/>
              <a:gd name="connsiteY4" fmla="*/ 0 h 18288"/>
              <a:gd name="connsiteX5" fmla="*/ 2945674 w 4572000"/>
              <a:gd name="connsiteY5" fmla="*/ 0 h 18288"/>
              <a:gd name="connsiteX6" fmla="*/ 3507377 w 4572000"/>
              <a:gd name="connsiteY6" fmla="*/ 0 h 18288"/>
              <a:gd name="connsiteX7" fmla="*/ 4572000 w 4572000"/>
              <a:gd name="connsiteY7" fmla="*/ 0 h 18288"/>
              <a:gd name="connsiteX8" fmla="*/ 4572000 w 4572000"/>
              <a:gd name="connsiteY8" fmla="*/ 18288 h 18288"/>
              <a:gd name="connsiteX9" fmla="*/ 3873137 w 4572000"/>
              <a:gd name="connsiteY9" fmla="*/ 18288 h 18288"/>
              <a:gd name="connsiteX10" fmla="*/ 3311434 w 4572000"/>
              <a:gd name="connsiteY10" fmla="*/ 18288 h 18288"/>
              <a:gd name="connsiteX11" fmla="*/ 2749731 w 4572000"/>
              <a:gd name="connsiteY11" fmla="*/ 18288 h 18288"/>
              <a:gd name="connsiteX12" fmla="*/ 2050869 w 4572000"/>
              <a:gd name="connsiteY12" fmla="*/ 18288 h 18288"/>
              <a:gd name="connsiteX13" fmla="*/ 1306286 w 4572000"/>
              <a:gd name="connsiteY13" fmla="*/ 18288 h 18288"/>
              <a:gd name="connsiteX14" fmla="*/ 790303 w 4572000"/>
              <a:gd name="connsiteY14" fmla="*/ 18288 h 18288"/>
              <a:gd name="connsiteX15" fmla="*/ 0 w 4572000"/>
              <a:gd name="connsiteY15" fmla="*/ 18288 h 18288"/>
              <a:gd name="connsiteX16" fmla="*/ 0 w 4572000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572000" h="18288" fill="none" extrusionOk="0">
                <a:moveTo>
                  <a:pt x="0" y="0"/>
                </a:moveTo>
                <a:cubicBezTo>
                  <a:pt x="105156" y="-20963"/>
                  <a:pt x="340432" y="822"/>
                  <a:pt x="515983" y="0"/>
                </a:cubicBezTo>
                <a:cubicBezTo>
                  <a:pt x="691534" y="-822"/>
                  <a:pt x="850679" y="16479"/>
                  <a:pt x="1031966" y="0"/>
                </a:cubicBezTo>
                <a:cubicBezTo>
                  <a:pt x="1213253" y="-16479"/>
                  <a:pt x="1443646" y="-18730"/>
                  <a:pt x="1639389" y="0"/>
                </a:cubicBezTo>
                <a:cubicBezTo>
                  <a:pt x="1835132" y="18730"/>
                  <a:pt x="2159975" y="18531"/>
                  <a:pt x="2383971" y="0"/>
                </a:cubicBezTo>
                <a:cubicBezTo>
                  <a:pt x="2607967" y="-18531"/>
                  <a:pt x="2719096" y="-12030"/>
                  <a:pt x="2945674" y="0"/>
                </a:cubicBezTo>
                <a:cubicBezTo>
                  <a:pt x="3172252" y="12030"/>
                  <a:pt x="3269167" y="27666"/>
                  <a:pt x="3507377" y="0"/>
                </a:cubicBezTo>
                <a:cubicBezTo>
                  <a:pt x="3745587" y="-27666"/>
                  <a:pt x="4116741" y="18705"/>
                  <a:pt x="4572000" y="0"/>
                </a:cubicBezTo>
                <a:cubicBezTo>
                  <a:pt x="4572895" y="8974"/>
                  <a:pt x="4571454" y="9359"/>
                  <a:pt x="4572000" y="18288"/>
                </a:cubicBezTo>
                <a:cubicBezTo>
                  <a:pt x="4374698" y="3942"/>
                  <a:pt x="4098874" y="-11042"/>
                  <a:pt x="3873137" y="18288"/>
                </a:cubicBezTo>
                <a:cubicBezTo>
                  <a:pt x="3647400" y="47618"/>
                  <a:pt x="3517055" y="5421"/>
                  <a:pt x="3311434" y="18288"/>
                </a:cubicBezTo>
                <a:cubicBezTo>
                  <a:pt x="3105813" y="31155"/>
                  <a:pt x="3025168" y="17856"/>
                  <a:pt x="2749731" y="18288"/>
                </a:cubicBezTo>
                <a:cubicBezTo>
                  <a:pt x="2474294" y="18720"/>
                  <a:pt x="2291766" y="-14168"/>
                  <a:pt x="2050869" y="18288"/>
                </a:cubicBezTo>
                <a:cubicBezTo>
                  <a:pt x="1809972" y="50744"/>
                  <a:pt x="1540276" y="46798"/>
                  <a:pt x="1306286" y="18288"/>
                </a:cubicBezTo>
                <a:cubicBezTo>
                  <a:pt x="1072296" y="-10222"/>
                  <a:pt x="972445" y="19645"/>
                  <a:pt x="790303" y="18288"/>
                </a:cubicBezTo>
                <a:cubicBezTo>
                  <a:pt x="608161" y="16931"/>
                  <a:pt x="200981" y="8241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572000" h="18288" stroke="0" extrusionOk="0">
                <a:moveTo>
                  <a:pt x="0" y="0"/>
                </a:moveTo>
                <a:cubicBezTo>
                  <a:pt x="143285" y="-9565"/>
                  <a:pt x="327959" y="-11498"/>
                  <a:pt x="561703" y="0"/>
                </a:cubicBezTo>
                <a:cubicBezTo>
                  <a:pt x="795447" y="11498"/>
                  <a:pt x="838260" y="18255"/>
                  <a:pt x="1077686" y="0"/>
                </a:cubicBezTo>
                <a:cubicBezTo>
                  <a:pt x="1317112" y="-18255"/>
                  <a:pt x="1437472" y="23514"/>
                  <a:pt x="1639389" y="0"/>
                </a:cubicBezTo>
                <a:cubicBezTo>
                  <a:pt x="1841306" y="-23514"/>
                  <a:pt x="2037142" y="-12551"/>
                  <a:pt x="2292531" y="0"/>
                </a:cubicBezTo>
                <a:cubicBezTo>
                  <a:pt x="2547920" y="12551"/>
                  <a:pt x="2810436" y="-20352"/>
                  <a:pt x="2991394" y="0"/>
                </a:cubicBezTo>
                <a:cubicBezTo>
                  <a:pt x="3172352" y="20352"/>
                  <a:pt x="3530025" y="-13347"/>
                  <a:pt x="3735977" y="0"/>
                </a:cubicBezTo>
                <a:cubicBezTo>
                  <a:pt x="3941929" y="13347"/>
                  <a:pt x="4161497" y="34086"/>
                  <a:pt x="4572000" y="0"/>
                </a:cubicBezTo>
                <a:cubicBezTo>
                  <a:pt x="4571545" y="6162"/>
                  <a:pt x="4571903" y="11775"/>
                  <a:pt x="4572000" y="18288"/>
                </a:cubicBezTo>
                <a:cubicBezTo>
                  <a:pt x="4228040" y="36490"/>
                  <a:pt x="4199736" y="42557"/>
                  <a:pt x="3873137" y="18288"/>
                </a:cubicBezTo>
                <a:cubicBezTo>
                  <a:pt x="3546538" y="-5981"/>
                  <a:pt x="3472124" y="16809"/>
                  <a:pt x="3128554" y="18288"/>
                </a:cubicBezTo>
                <a:cubicBezTo>
                  <a:pt x="2784984" y="19767"/>
                  <a:pt x="2735896" y="-17781"/>
                  <a:pt x="2383971" y="18288"/>
                </a:cubicBezTo>
                <a:cubicBezTo>
                  <a:pt x="2032046" y="54357"/>
                  <a:pt x="2019324" y="2920"/>
                  <a:pt x="1867989" y="18288"/>
                </a:cubicBezTo>
                <a:cubicBezTo>
                  <a:pt x="1716654" y="33656"/>
                  <a:pt x="1418675" y="32575"/>
                  <a:pt x="1169126" y="18288"/>
                </a:cubicBezTo>
                <a:cubicBezTo>
                  <a:pt x="919577" y="4001"/>
                  <a:pt x="798537" y="16165"/>
                  <a:pt x="561703" y="18288"/>
                </a:cubicBezTo>
                <a:cubicBezTo>
                  <a:pt x="324869" y="20411"/>
                  <a:pt x="221395" y="-912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1EB67A24-6EEB-3052-C781-5C712A97B02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34473704"/>
              </p:ext>
            </p:extLst>
          </p:nvPr>
        </p:nvGraphicFramePr>
        <p:xfrm>
          <a:off x="320040" y="2638527"/>
          <a:ext cx="11548874" cy="3576244"/>
        </p:xfrm>
        <a:graphic>
          <a:graphicData uri="http://schemas.openxmlformats.org/drawingml/2006/table">
            <a:tbl>
              <a:tblPr>
                <a:solidFill>
                  <a:schemeClr val="bg1">
                    <a:lumMod val="95000"/>
                  </a:schemeClr>
                </a:solidFill>
              </a:tblPr>
              <a:tblGrid>
                <a:gridCol w="2809991">
                  <a:extLst>
                    <a:ext uri="{9D8B030D-6E8A-4147-A177-3AD203B41FA5}">
                      <a16:colId xmlns:a16="http://schemas.microsoft.com/office/drawing/2014/main" val="2744773367"/>
                    </a:ext>
                  </a:extLst>
                </a:gridCol>
                <a:gridCol w="1993372">
                  <a:extLst>
                    <a:ext uri="{9D8B030D-6E8A-4147-A177-3AD203B41FA5}">
                      <a16:colId xmlns:a16="http://schemas.microsoft.com/office/drawing/2014/main" val="1583672205"/>
                    </a:ext>
                  </a:extLst>
                </a:gridCol>
                <a:gridCol w="3033262">
                  <a:extLst>
                    <a:ext uri="{9D8B030D-6E8A-4147-A177-3AD203B41FA5}">
                      <a16:colId xmlns:a16="http://schemas.microsoft.com/office/drawing/2014/main" val="1398743280"/>
                    </a:ext>
                  </a:extLst>
                </a:gridCol>
                <a:gridCol w="3712249">
                  <a:extLst>
                    <a:ext uri="{9D8B030D-6E8A-4147-A177-3AD203B41FA5}">
                      <a16:colId xmlns:a16="http://schemas.microsoft.com/office/drawing/2014/main" val="4232198683"/>
                    </a:ext>
                  </a:extLst>
                </a:gridCol>
              </a:tblGrid>
              <a:tr h="107463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300" b="1" i="0" u="none" strike="noStrike" cap="none" spc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Method</a:t>
                      </a:r>
                    </a:p>
                  </a:txBody>
                  <a:tcPr marL="123319" marR="364658" marT="35234" marB="264254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300" b="1" i="0" u="none" strike="noStrike" cap="none" spc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Minimum Expiry</a:t>
                      </a:r>
                    </a:p>
                  </a:txBody>
                  <a:tcPr marL="123319" marR="364658" marT="35234" marB="26425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300" b="1" i="0" u="none" strike="noStrike" cap="none" spc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Maximum Expiry</a:t>
                      </a:r>
                    </a:p>
                  </a:txBody>
                  <a:tcPr marL="123319" marR="364658" marT="35234" marB="26425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300" b="1" i="0" u="none" strike="noStrike" cap="none" spc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Default</a:t>
                      </a:r>
                    </a:p>
                  </a:txBody>
                  <a:tcPr marL="123319" marR="364658" marT="35234" marB="26425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5527258"/>
                  </a:ext>
                </a:extLst>
              </a:tr>
              <a:tr h="107463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300" b="1" i="0" u="none" strike="noStrike" cap="none" spc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S3 Console</a:t>
                      </a:r>
                      <a:endParaRPr lang="en-US" sz="2300" b="0" i="0" u="none" strike="noStrike" cap="none" spc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3319" marR="364658" marT="35234" marB="264254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300" b="0" i="0" u="none" strike="noStrike" cap="none" spc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 minute</a:t>
                      </a:r>
                    </a:p>
                  </a:txBody>
                  <a:tcPr marL="123319" marR="364658" marT="35234" marB="26425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300" b="0" i="0" u="none" strike="noStrike" cap="none" spc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720 minutes (12 hours)</a:t>
                      </a:r>
                    </a:p>
                  </a:txBody>
                  <a:tcPr marL="123319" marR="364658" marT="35234" marB="26425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300" b="0" i="0" u="none" strike="noStrike" cap="none" spc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—</a:t>
                      </a:r>
                    </a:p>
                  </a:txBody>
                  <a:tcPr marL="123319" marR="364658" marT="35234" marB="26425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38118650"/>
                  </a:ext>
                </a:extLst>
              </a:tr>
              <a:tr h="142697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300" b="1" i="0" u="none" strike="noStrike" cap="none" spc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AWS CLI / SDK</a:t>
                      </a:r>
                      <a:endParaRPr lang="en-US" sz="2300" b="0" i="0" u="none" strike="noStrike" cap="none" spc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3319" marR="364658" marT="35234" marB="264254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300" b="0" i="0" u="none" strike="noStrike" cap="none" spc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 second</a:t>
                      </a:r>
                    </a:p>
                  </a:txBody>
                  <a:tcPr marL="123319" marR="364658" marT="35234" marB="26425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300" b="0" i="0" u="none" strike="noStrike" cap="none" spc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604,800 seconds (7 days / 168 hours)</a:t>
                      </a:r>
                    </a:p>
                  </a:txBody>
                  <a:tcPr marL="123319" marR="364658" marT="35234" marB="26425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300" b="0" i="0" u="none" strike="noStrike" cap="none" spc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3,600 seconds (1 hour)</a:t>
                      </a:r>
                    </a:p>
                  </a:txBody>
                  <a:tcPr marL="123319" marR="364658" marT="35234" marB="26425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978766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51372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5" name="Rectangle 84">
            <a:extLst>
              <a:ext uri="{FF2B5EF4-FFF2-40B4-BE49-F238E27FC236}">
                <a16:creationId xmlns:a16="http://schemas.microsoft.com/office/drawing/2014/main" id="{DAF1966E-FD40-4A4A-B61B-C4DF7FA05F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87" name="Rectangle 86">
            <a:extLst>
              <a:ext uri="{FF2B5EF4-FFF2-40B4-BE49-F238E27FC236}">
                <a16:creationId xmlns:a16="http://schemas.microsoft.com/office/drawing/2014/main" id="{047BFA19-D45E-416B-A404-7AF2F3F270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89" name="Rectangle 88">
            <a:extLst>
              <a:ext uri="{FF2B5EF4-FFF2-40B4-BE49-F238E27FC236}">
                <a16:creationId xmlns:a16="http://schemas.microsoft.com/office/drawing/2014/main" id="{8E0105E7-23DB-4CF2-8258-FF47C7620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1D8CE97-DBE0-2E77-47EE-767D5AB411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/>
          <a:p>
            <a:r>
              <a:rPr lang="en-US" sz="3700" b="1"/>
              <a:t>Permissions Inheritance</a:t>
            </a:r>
            <a:br>
              <a:rPr lang="en-US" sz="3700" b="1"/>
            </a:br>
            <a:endParaRPr lang="en-US" sz="3700"/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074B4F7D-14B2-478B-8BF5-01E4E0C5D2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8834" y="758952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AC67CF-7941-C0EF-10F9-A71F5C1BA0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5568" y="2481943"/>
            <a:ext cx="10168128" cy="3695020"/>
          </a:xfrm>
        </p:spPr>
        <p:txBody>
          <a:bodyPr>
            <a:normAutofit/>
          </a:bodyPr>
          <a:lstStyle/>
          <a:p>
            <a:pPr>
              <a:spcBef>
                <a:spcPts val="0"/>
              </a:spcBef>
            </a:pPr>
            <a:r>
              <a:rPr lang="en-US" sz="2200" dirty="0"/>
              <a:t>The user who generates the pre-signed URL must have the necessary S3 permissions (e.g.s3:GetObject or s3:PutObject).</a:t>
            </a:r>
          </a:p>
          <a:p>
            <a:pPr>
              <a:spcBef>
                <a:spcPts val="0"/>
              </a:spcBef>
            </a:pPr>
            <a:r>
              <a:rPr lang="en-US" sz="2200" dirty="0"/>
              <a:t>The recipient inherits these permissions, but only for the specific object and specific operation (GET or PUT).</a:t>
            </a:r>
          </a:p>
          <a:p>
            <a:pPr>
              <a:spcBef>
                <a:spcPts val="0"/>
              </a:spcBef>
            </a:pPr>
            <a:r>
              <a:rPr lang="en-US" sz="2200" dirty="0"/>
              <a:t>The recipient cannot perform any other actions beyond the operation signed in the URL.</a:t>
            </a:r>
          </a:p>
          <a:p>
            <a:pPr>
              <a:spcBef>
                <a:spcPts val="0"/>
              </a:spcBef>
            </a:pPr>
            <a:r>
              <a:rPr lang="en-US" sz="2200" b="1" dirty="0"/>
              <a:t>Example:</a:t>
            </a:r>
          </a:p>
          <a:p>
            <a:pPr>
              <a:spcBef>
                <a:spcPts val="0"/>
              </a:spcBef>
            </a:pPr>
            <a:r>
              <a:rPr lang="en-US" sz="2200" dirty="0"/>
              <a:t>If (IAM user) has only s3:GetObject permission and generates a pre-signed URL, recipients can download but cannot upload or delete objects.</a:t>
            </a:r>
          </a:p>
          <a:p>
            <a:pPr>
              <a:spcBef>
                <a:spcPts val="0"/>
              </a:spcBef>
            </a:pPr>
            <a:r>
              <a:rPr lang="en-US" sz="2200" dirty="0"/>
              <a:t>If (IAM user) is an Administrator, still the URL will only allow the operation defined during generation (GET or PUT),not full admin access.</a:t>
            </a:r>
          </a:p>
          <a:p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13573754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B74DC9F-2D19-AA65-BFC6-2B8E5B3CAA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5400"/>
              <a:t>Use Cases</a:t>
            </a:r>
          </a:p>
        </p:txBody>
      </p:sp>
      <p:sp>
        <p:nvSpPr>
          <p:cNvPr id="17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F7EB83-56A0-05CC-636C-AF1A868B1C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r>
              <a:rPr lang="en-US" sz="2000" b="1" dirty="0"/>
              <a:t>Temporary Download Link</a:t>
            </a:r>
            <a:br>
              <a:rPr lang="en-US" sz="2000" dirty="0"/>
            </a:br>
            <a:r>
              <a:rPr lang="en-US" sz="2000" dirty="0"/>
              <a:t>You uploaded a file (like a video, report, or image) to an S3 bucket and want to let someone </a:t>
            </a:r>
            <a:r>
              <a:rPr lang="en-US" sz="2000" b="1" dirty="0"/>
              <a:t>download</a:t>
            </a:r>
            <a:r>
              <a:rPr lang="en-US" sz="2000" dirty="0"/>
              <a:t> it for a short time without making the bucket public.</a:t>
            </a:r>
          </a:p>
          <a:p>
            <a:r>
              <a:rPr lang="en-US" sz="2000" b="1" dirty="0"/>
              <a:t>Example:</a:t>
            </a:r>
            <a:br>
              <a:rPr lang="en-US" sz="2000" dirty="0"/>
            </a:br>
            <a:r>
              <a:rPr lang="en-US" sz="2000" dirty="0"/>
              <a:t>Ali has a file lecture1.mp4 in his bucket </a:t>
            </a:r>
            <a:r>
              <a:rPr lang="en-US" sz="2000" dirty="0" err="1"/>
              <a:t>cloudclass</a:t>
            </a:r>
            <a:r>
              <a:rPr lang="en-US" sz="2000" dirty="0"/>
              <a:t>-bucket.</a:t>
            </a:r>
            <a:br>
              <a:rPr lang="en-US" sz="2000" dirty="0"/>
            </a:br>
            <a:r>
              <a:rPr lang="en-US" sz="2000" dirty="0"/>
              <a:t>He wants students to download it within </a:t>
            </a:r>
            <a:r>
              <a:rPr lang="en-US" sz="2000" b="1" dirty="0"/>
              <a:t>1 hour</a:t>
            </a:r>
            <a:r>
              <a:rPr lang="en-US" sz="2000" dirty="0"/>
              <a:t> only.</a:t>
            </a:r>
          </a:p>
          <a:p>
            <a:r>
              <a:rPr lang="en-US" sz="2000" b="1" dirty="0"/>
              <a:t>Command:</a:t>
            </a:r>
            <a:endParaRPr lang="en-US" sz="2000" dirty="0"/>
          </a:p>
          <a:p>
            <a:r>
              <a:rPr lang="en-US" sz="2000" dirty="0" err="1"/>
              <a:t>aws</a:t>
            </a:r>
            <a:r>
              <a:rPr lang="en-US" sz="2000" dirty="0"/>
              <a:t> s3 </a:t>
            </a:r>
            <a:r>
              <a:rPr lang="en-US" sz="2000" dirty="0" err="1"/>
              <a:t>presign</a:t>
            </a:r>
            <a:r>
              <a:rPr lang="en-US" sz="2000" dirty="0"/>
              <a:t> s3://cloudclass-bucket/lecture1.mp4 --expires-in 3600</a:t>
            </a:r>
          </a:p>
          <a:p>
            <a:r>
              <a:rPr lang="en-US" sz="2000" b="1" dirty="0"/>
              <a:t>Result:</a:t>
            </a:r>
            <a:br>
              <a:rPr lang="en-US" sz="2000" dirty="0"/>
            </a:br>
            <a:r>
              <a:rPr lang="en-US" sz="2000" dirty="0"/>
              <a:t>This creates a </a:t>
            </a:r>
            <a:r>
              <a:rPr lang="en-US" sz="2000" b="1" dirty="0"/>
              <a:t>temporary link</a:t>
            </a:r>
            <a:r>
              <a:rPr lang="en-US" sz="2000" dirty="0"/>
              <a:t> (valid for 1 hour).</a:t>
            </a:r>
            <a:br>
              <a:rPr lang="en-US" sz="2000" dirty="0"/>
            </a:br>
            <a:r>
              <a:rPr lang="en-US" sz="2000" dirty="0"/>
              <a:t>Anyone with the link can download the video, after that it will show </a:t>
            </a:r>
            <a:r>
              <a:rPr lang="en-US" sz="2000" b="1" dirty="0"/>
              <a:t>Access Denied</a:t>
            </a:r>
            <a:r>
              <a:rPr lang="en-US" sz="2000" dirty="0"/>
              <a:t>.</a:t>
            </a:r>
          </a:p>
          <a:p>
            <a:r>
              <a:rPr lang="en-US" sz="2000" b="1" dirty="0"/>
              <a:t>Good for:</a:t>
            </a:r>
            <a:r>
              <a:rPr lang="en-US" sz="2000" dirty="0"/>
              <a:t> sharing videos, PDFs, or reports securely.</a:t>
            </a:r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7351068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BF61EA3-B236-439E-9C0B-340980D56B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AC28CE-BCF5-28B3-698F-43F1251806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8638" y="386930"/>
            <a:ext cx="9236700" cy="1188950"/>
          </a:xfrm>
        </p:spPr>
        <p:txBody>
          <a:bodyPr anchor="b">
            <a:normAutofit/>
          </a:bodyPr>
          <a:lstStyle/>
          <a:p>
            <a:r>
              <a:rPr lang="en-US" sz="3800" b="1" dirty="0"/>
              <a:t>Share Files with External Partners</a:t>
            </a:r>
            <a:br>
              <a:rPr lang="en-US" sz="3800" b="1" dirty="0"/>
            </a:br>
            <a:endParaRPr lang="en-US" sz="3800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28FAF094-D087-493F-8DF9-A486C2D6BB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" y="1998368"/>
            <a:ext cx="11695083" cy="782176"/>
            <a:chOff x="-2" y="1998368"/>
            <a:chExt cx="11695083" cy="782176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D7C88D8-5509-4514-925A-9CE148E5CB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275593D-F75E-4426-AE3E-2CDEFD228D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-2" y="1998845"/>
              <a:ext cx="11454595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147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597EC3-0E41-E32E-59D0-6524C051B8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0" y="2599509"/>
            <a:ext cx="10143668" cy="3435531"/>
          </a:xfrm>
        </p:spPr>
        <p:txBody>
          <a:bodyPr anchor="ctr">
            <a:normAutofit/>
          </a:bodyPr>
          <a:lstStyle/>
          <a:p>
            <a:r>
              <a:rPr lang="en-US" sz="2200" dirty="0"/>
              <a:t>Share project files or logs with a third party without giving them AWS access.</a:t>
            </a:r>
          </a:p>
          <a:p>
            <a:r>
              <a:rPr lang="en-US" sz="2200" b="1" dirty="0"/>
              <a:t>Example:</a:t>
            </a:r>
            <a:br>
              <a:rPr lang="en-US" sz="2200" dirty="0"/>
            </a:br>
            <a:r>
              <a:rPr lang="en-US" sz="2200" dirty="0"/>
              <a:t>Ali needs to send a log file to an external auditor.</a:t>
            </a:r>
          </a:p>
          <a:p>
            <a:r>
              <a:rPr lang="en-US" sz="2200" dirty="0" err="1"/>
              <a:t>aws</a:t>
            </a:r>
            <a:r>
              <a:rPr lang="en-US" sz="2200" dirty="0"/>
              <a:t> s3 </a:t>
            </a:r>
            <a:r>
              <a:rPr lang="en-US" sz="2200" dirty="0" err="1"/>
              <a:t>presign</a:t>
            </a:r>
            <a:r>
              <a:rPr lang="en-US" sz="2200" dirty="0"/>
              <a:t> s3://cloudclass-bucket/logs/audit2025.txt --expires-in 43200</a:t>
            </a:r>
          </a:p>
          <a:p>
            <a:r>
              <a:rPr lang="en-US" sz="2200" dirty="0"/>
              <a:t>(43200 seconds = 12 hours)</a:t>
            </a:r>
          </a:p>
          <a:p>
            <a:r>
              <a:rPr lang="en-US" sz="2200" dirty="0"/>
              <a:t>He shares the generated link via email.</a:t>
            </a:r>
            <a:br>
              <a:rPr lang="en-US" sz="2200" dirty="0"/>
            </a:br>
            <a:r>
              <a:rPr lang="en-US" sz="2200" dirty="0"/>
              <a:t>The auditor can download the file once, securely.</a:t>
            </a:r>
          </a:p>
          <a:p>
            <a:r>
              <a:rPr lang="en-US" sz="2200" b="1" dirty="0"/>
              <a:t>Good for:</a:t>
            </a:r>
            <a:r>
              <a:rPr lang="en-US" sz="2200" dirty="0"/>
              <a:t> collaboration or external audits.</a:t>
            </a:r>
          </a:p>
          <a:p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7628161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531</Words>
  <Application>Microsoft Office PowerPoint</Application>
  <PresentationFormat>Widescreen</PresentationFormat>
  <Paragraphs>47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Aptos</vt:lpstr>
      <vt:lpstr>Aptos Display</vt:lpstr>
      <vt:lpstr>Arial</vt:lpstr>
      <vt:lpstr>Calibri</vt:lpstr>
      <vt:lpstr>Office Theme</vt:lpstr>
      <vt:lpstr>Amazon S3 – Pre-Signed URLs</vt:lpstr>
      <vt:lpstr>Amazon S3 – Pre-Signed URLs</vt:lpstr>
      <vt:lpstr>How Pre-Signed URLs Work </vt:lpstr>
      <vt:lpstr>How to Generate a Pre-Signed URL </vt:lpstr>
      <vt:lpstr>URL Expiration</vt:lpstr>
      <vt:lpstr>Permissions Inheritance </vt:lpstr>
      <vt:lpstr>Use Cases</vt:lpstr>
      <vt:lpstr>Share Files with External Partners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Adnan Ullah</dc:creator>
  <cp:lastModifiedBy>Adnan Ullah</cp:lastModifiedBy>
  <cp:revision>1</cp:revision>
  <dcterms:created xsi:type="dcterms:W3CDTF">2025-10-23T06:33:40Z</dcterms:created>
  <dcterms:modified xsi:type="dcterms:W3CDTF">2025-10-23T06:56:40Z</dcterms:modified>
</cp:coreProperties>
</file>