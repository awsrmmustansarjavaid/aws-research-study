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A56AE4D-5C2B-4BC8-B45D-7A4027912B63}" type="doc">
      <dgm:prSet loTypeId="urn:microsoft.com/office/officeart/2008/layout/LinedList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2787F8F6-5F42-4FD6-863D-3924D544EE2B}">
      <dgm:prSet/>
      <dgm:spPr/>
      <dgm:t>
        <a:bodyPr/>
        <a:lstStyle/>
        <a:p>
          <a:r>
            <a:rPr lang="en-US"/>
            <a:t>Uses AWS global edge network (same infrastructure as CloudFront).</a:t>
          </a:r>
        </a:p>
      </dgm:t>
    </dgm:pt>
    <dgm:pt modelId="{9B2A1F9D-D86B-46FF-BF2B-84E2787971BF}" type="parTrans" cxnId="{774D399A-503C-4277-8A7F-18A1E137F1E0}">
      <dgm:prSet/>
      <dgm:spPr/>
      <dgm:t>
        <a:bodyPr/>
        <a:lstStyle/>
        <a:p>
          <a:endParaRPr lang="en-US"/>
        </a:p>
      </dgm:t>
    </dgm:pt>
    <dgm:pt modelId="{439524D5-AA0E-42B0-B1F8-DE3D48F4B476}" type="sibTrans" cxnId="{774D399A-503C-4277-8A7F-18A1E137F1E0}">
      <dgm:prSet/>
      <dgm:spPr/>
      <dgm:t>
        <a:bodyPr/>
        <a:lstStyle/>
        <a:p>
          <a:endParaRPr lang="en-US"/>
        </a:p>
      </dgm:t>
    </dgm:pt>
    <dgm:pt modelId="{F02BFB2F-F5C1-496C-9FC1-FA3A4DF811B6}">
      <dgm:prSet/>
      <dgm:spPr/>
      <dgm:t>
        <a:bodyPr/>
        <a:lstStyle/>
        <a:p>
          <a:r>
            <a:rPr lang="en-US"/>
            <a:t>Works with multi-part uploads, making large file transfers even faster.</a:t>
          </a:r>
        </a:p>
      </dgm:t>
    </dgm:pt>
    <dgm:pt modelId="{62876A10-C46C-44A2-A922-D70CD98B5F6C}" type="parTrans" cxnId="{59F1F6B5-E62C-4294-AA84-361E4BF6B2B6}">
      <dgm:prSet/>
      <dgm:spPr/>
      <dgm:t>
        <a:bodyPr/>
        <a:lstStyle/>
        <a:p>
          <a:endParaRPr lang="en-US"/>
        </a:p>
      </dgm:t>
    </dgm:pt>
    <dgm:pt modelId="{9DEC3707-3D43-4873-A596-96669051737B}" type="sibTrans" cxnId="{59F1F6B5-E62C-4294-AA84-361E4BF6B2B6}">
      <dgm:prSet/>
      <dgm:spPr/>
      <dgm:t>
        <a:bodyPr/>
        <a:lstStyle/>
        <a:p>
          <a:endParaRPr lang="en-US"/>
        </a:p>
      </dgm:t>
    </dgm:pt>
    <dgm:pt modelId="{845F812C-777A-435F-B8B3-B2340769B623}">
      <dgm:prSet/>
      <dgm:spPr/>
      <dgm:t>
        <a:bodyPr/>
        <a:lstStyle/>
        <a:p>
          <a:r>
            <a:rPr lang="en-US"/>
            <a:t>Can be used for both public (internet) and private (AWS) networks.</a:t>
          </a:r>
        </a:p>
      </dgm:t>
    </dgm:pt>
    <dgm:pt modelId="{A662C9DA-D120-4A52-8FC2-122D5674D47A}" type="parTrans" cxnId="{B162A541-209C-4E06-A5BC-FF9FECBC89CD}">
      <dgm:prSet/>
      <dgm:spPr/>
      <dgm:t>
        <a:bodyPr/>
        <a:lstStyle/>
        <a:p>
          <a:endParaRPr lang="en-US"/>
        </a:p>
      </dgm:t>
    </dgm:pt>
    <dgm:pt modelId="{D9D3C759-D6EA-421D-AFF2-B23C01540CE2}" type="sibTrans" cxnId="{B162A541-209C-4E06-A5BC-FF9FECBC89CD}">
      <dgm:prSet/>
      <dgm:spPr/>
      <dgm:t>
        <a:bodyPr/>
        <a:lstStyle/>
        <a:p>
          <a:endParaRPr lang="en-US"/>
        </a:p>
      </dgm:t>
    </dgm:pt>
    <dgm:pt modelId="{34755F2E-D839-4A1E-9F21-E28182F0AAD5}">
      <dgm:prSet/>
      <dgm:spPr/>
      <dgm:t>
        <a:bodyPr/>
        <a:lstStyle/>
        <a:p>
          <a:r>
            <a:rPr lang="en-US"/>
            <a:t>Must be enabled at the bucket level.</a:t>
          </a:r>
        </a:p>
      </dgm:t>
    </dgm:pt>
    <dgm:pt modelId="{924888DD-0584-49FA-986C-69CF74B6B45D}" type="parTrans" cxnId="{8EF9E234-0A21-423B-9420-AA573525C2AC}">
      <dgm:prSet/>
      <dgm:spPr/>
      <dgm:t>
        <a:bodyPr/>
        <a:lstStyle/>
        <a:p>
          <a:endParaRPr lang="en-US"/>
        </a:p>
      </dgm:t>
    </dgm:pt>
    <dgm:pt modelId="{31EB24D7-8297-479E-8C74-6B1293179084}" type="sibTrans" cxnId="{8EF9E234-0A21-423B-9420-AA573525C2AC}">
      <dgm:prSet/>
      <dgm:spPr/>
      <dgm:t>
        <a:bodyPr/>
        <a:lstStyle/>
        <a:p>
          <a:endParaRPr lang="en-US"/>
        </a:p>
      </dgm:t>
    </dgm:pt>
    <dgm:pt modelId="{D164F160-0121-4A20-B574-5823E1598A75}">
      <dgm:prSet/>
      <dgm:spPr/>
      <dgm:t>
        <a:bodyPr/>
        <a:lstStyle/>
        <a:p>
          <a:r>
            <a:rPr lang="en-US"/>
            <a:t>The bucket gets a special accelerated endpoint like:</a:t>
          </a:r>
        </a:p>
      </dgm:t>
    </dgm:pt>
    <dgm:pt modelId="{F5FCDBB8-C312-4E7F-B29D-74447C354038}" type="parTrans" cxnId="{01419CEA-5AFE-4712-BB19-E0F257773DA8}">
      <dgm:prSet/>
      <dgm:spPr/>
      <dgm:t>
        <a:bodyPr/>
        <a:lstStyle/>
        <a:p>
          <a:endParaRPr lang="en-US"/>
        </a:p>
      </dgm:t>
    </dgm:pt>
    <dgm:pt modelId="{F7653C84-E151-4A3C-B221-8B0CC04AFBC0}" type="sibTrans" cxnId="{01419CEA-5AFE-4712-BB19-E0F257773DA8}">
      <dgm:prSet/>
      <dgm:spPr/>
      <dgm:t>
        <a:bodyPr/>
        <a:lstStyle/>
        <a:p>
          <a:endParaRPr lang="en-US"/>
        </a:p>
      </dgm:t>
    </dgm:pt>
    <dgm:pt modelId="{8954DF5F-FC09-4D2C-919C-BB63FE7B0AE0}">
      <dgm:prSet/>
      <dgm:spPr/>
      <dgm:t>
        <a:bodyPr/>
        <a:lstStyle/>
        <a:p>
          <a:r>
            <a:rPr lang="en-US"/>
            <a:t>bucketname.s3-accelerate.amazonaws.com</a:t>
          </a:r>
        </a:p>
      </dgm:t>
    </dgm:pt>
    <dgm:pt modelId="{36AFFA91-D52C-41E7-BAAD-D5A7C92C25B8}" type="parTrans" cxnId="{6D199A81-3EB2-4540-91A5-D527EF255336}">
      <dgm:prSet/>
      <dgm:spPr/>
      <dgm:t>
        <a:bodyPr/>
        <a:lstStyle/>
        <a:p>
          <a:endParaRPr lang="en-US"/>
        </a:p>
      </dgm:t>
    </dgm:pt>
    <dgm:pt modelId="{D0C59D07-5AB5-44B7-9961-E2CB0562757E}" type="sibTrans" cxnId="{6D199A81-3EB2-4540-91A5-D527EF255336}">
      <dgm:prSet/>
      <dgm:spPr/>
      <dgm:t>
        <a:bodyPr/>
        <a:lstStyle/>
        <a:p>
          <a:endParaRPr lang="en-US"/>
        </a:p>
      </dgm:t>
    </dgm:pt>
    <dgm:pt modelId="{5BC46738-BA09-4EC7-B979-397394B7CC73}" type="pres">
      <dgm:prSet presAssocID="{9A56AE4D-5C2B-4BC8-B45D-7A4027912B63}" presName="vert0" presStyleCnt="0">
        <dgm:presLayoutVars>
          <dgm:dir/>
          <dgm:animOne val="branch"/>
          <dgm:animLvl val="lvl"/>
        </dgm:presLayoutVars>
      </dgm:prSet>
      <dgm:spPr/>
    </dgm:pt>
    <dgm:pt modelId="{401893BD-0DD5-4F90-BC22-836ED562A110}" type="pres">
      <dgm:prSet presAssocID="{2787F8F6-5F42-4FD6-863D-3924D544EE2B}" presName="thickLine" presStyleLbl="alignNode1" presStyleIdx="0" presStyleCnt="6"/>
      <dgm:spPr/>
    </dgm:pt>
    <dgm:pt modelId="{4D89AAC2-0B8D-4AF1-A577-8309A54E1641}" type="pres">
      <dgm:prSet presAssocID="{2787F8F6-5F42-4FD6-863D-3924D544EE2B}" presName="horz1" presStyleCnt="0"/>
      <dgm:spPr/>
    </dgm:pt>
    <dgm:pt modelId="{087BC342-0B44-4B9F-9763-10FE75FF8389}" type="pres">
      <dgm:prSet presAssocID="{2787F8F6-5F42-4FD6-863D-3924D544EE2B}" presName="tx1" presStyleLbl="revTx" presStyleIdx="0" presStyleCnt="6"/>
      <dgm:spPr/>
    </dgm:pt>
    <dgm:pt modelId="{4D63B626-352E-46C1-B74C-D91E5CFA47A9}" type="pres">
      <dgm:prSet presAssocID="{2787F8F6-5F42-4FD6-863D-3924D544EE2B}" presName="vert1" presStyleCnt="0"/>
      <dgm:spPr/>
    </dgm:pt>
    <dgm:pt modelId="{0E66BB88-BF52-4B4F-9957-6646D475775C}" type="pres">
      <dgm:prSet presAssocID="{F02BFB2F-F5C1-496C-9FC1-FA3A4DF811B6}" presName="thickLine" presStyleLbl="alignNode1" presStyleIdx="1" presStyleCnt="6"/>
      <dgm:spPr/>
    </dgm:pt>
    <dgm:pt modelId="{F2A21329-7F14-41D1-A5ED-29CF283C3DBB}" type="pres">
      <dgm:prSet presAssocID="{F02BFB2F-F5C1-496C-9FC1-FA3A4DF811B6}" presName="horz1" presStyleCnt="0"/>
      <dgm:spPr/>
    </dgm:pt>
    <dgm:pt modelId="{5C3C7A2A-12D6-493A-8B4A-A576F653928D}" type="pres">
      <dgm:prSet presAssocID="{F02BFB2F-F5C1-496C-9FC1-FA3A4DF811B6}" presName="tx1" presStyleLbl="revTx" presStyleIdx="1" presStyleCnt="6"/>
      <dgm:spPr/>
    </dgm:pt>
    <dgm:pt modelId="{DEA92FDF-706C-480F-8F48-F95BFED02CC6}" type="pres">
      <dgm:prSet presAssocID="{F02BFB2F-F5C1-496C-9FC1-FA3A4DF811B6}" presName="vert1" presStyleCnt="0"/>
      <dgm:spPr/>
    </dgm:pt>
    <dgm:pt modelId="{A444AB22-5CB8-4ABE-A52A-A9AE29036B34}" type="pres">
      <dgm:prSet presAssocID="{845F812C-777A-435F-B8B3-B2340769B623}" presName="thickLine" presStyleLbl="alignNode1" presStyleIdx="2" presStyleCnt="6"/>
      <dgm:spPr/>
    </dgm:pt>
    <dgm:pt modelId="{E38BFEB1-74E0-4E14-8DCF-A762E2972A6F}" type="pres">
      <dgm:prSet presAssocID="{845F812C-777A-435F-B8B3-B2340769B623}" presName="horz1" presStyleCnt="0"/>
      <dgm:spPr/>
    </dgm:pt>
    <dgm:pt modelId="{77229042-461D-4B29-97B6-1334CAF9DD4A}" type="pres">
      <dgm:prSet presAssocID="{845F812C-777A-435F-B8B3-B2340769B623}" presName="tx1" presStyleLbl="revTx" presStyleIdx="2" presStyleCnt="6"/>
      <dgm:spPr/>
    </dgm:pt>
    <dgm:pt modelId="{A35BE4D3-D2C3-43CE-A1F2-6C0B6626E2D3}" type="pres">
      <dgm:prSet presAssocID="{845F812C-777A-435F-B8B3-B2340769B623}" presName="vert1" presStyleCnt="0"/>
      <dgm:spPr/>
    </dgm:pt>
    <dgm:pt modelId="{0D6FFA52-00E3-4AB6-B4EF-A85B1DB39F32}" type="pres">
      <dgm:prSet presAssocID="{34755F2E-D839-4A1E-9F21-E28182F0AAD5}" presName="thickLine" presStyleLbl="alignNode1" presStyleIdx="3" presStyleCnt="6"/>
      <dgm:spPr/>
    </dgm:pt>
    <dgm:pt modelId="{41D78727-F570-47F7-8BEA-7B056339CE96}" type="pres">
      <dgm:prSet presAssocID="{34755F2E-D839-4A1E-9F21-E28182F0AAD5}" presName="horz1" presStyleCnt="0"/>
      <dgm:spPr/>
    </dgm:pt>
    <dgm:pt modelId="{E6C01019-7A00-4750-91D8-1249A9B3F739}" type="pres">
      <dgm:prSet presAssocID="{34755F2E-D839-4A1E-9F21-E28182F0AAD5}" presName="tx1" presStyleLbl="revTx" presStyleIdx="3" presStyleCnt="6"/>
      <dgm:spPr/>
    </dgm:pt>
    <dgm:pt modelId="{551DEC0C-4D11-47D6-89CD-5165240ECB9B}" type="pres">
      <dgm:prSet presAssocID="{34755F2E-D839-4A1E-9F21-E28182F0AAD5}" presName="vert1" presStyleCnt="0"/>
      <dgm:spPr/>
    </dgm:pt>
    <dgm:pt modelId="{48AD7A3A-1092-4757-A84E-6A855F643E32}" type="pres">
      <dgm:prSet presAssocID="{D164F160-0121-4A20-B574-5823E1598A75}" presName="thickLine" presStyleLbl="alignNode1" presStyleIdx="4" presStyleCnt="6"/>
      <dgm:spPr/>
    </dgm:pt>
    <dgm:pt modelId="{AEDCAA4B-C596-4307-8CDF-23423874E1CB}" type="pres">
      <dgm:prSet presAssocID="{D164F160-0121-4A20-B574-5823E1598A75}" presName="horz1" presStyleCnt="0"/>
      <dgm:spPr/>
    </dgm:pt>
    <dgm:pt modelId="{3AD9C7EB-8ADD-49BD-9971-5725FB1755F8}" type="pres">
      <dgm:prSet presAssocID="{D164F160-0121-4A20-B574-5823E1598A75}" presName="tx1" presStyleLbl="revTx" presStyleIdx="4" presStyleCnt="6"/>
      <dgm:spPr/>
    </dgm:pt>
    <dgm:pt modelId="{1310E01D-F58F-4981-9E36-F879E8404AB3}" type="pres">
      <dgm:prSet presAssocID="{D164F160-0121-4A20-B574-5823E1598A75}" presName="vert1" presStyleCnt="0"/>
      <dgm:spPr/>
    </dgm:pt>
    <dgm:pt modelId="{2CD84D84-2F34-481C-AE64-E3031F96F4EA}" type="pres">
      <dgm:prSet presAssocID="{8954DF5F-FC09-4D2C-919C-BB63FE7B0AE0}" presName="thickLine" presStyleLbl="alignNode1" presStyleIdx="5" presStyleCnt="6"/>
      <dgm:spPr/>
    </dgm:pt>
    <dgm:pt modelId="{537722FB-4EC1-4391-A823-378374475431}" type="pres">
      <dgm:prSet presAssocID="{8954DF5F-FC09-4D2C-919C-BB63FE7B0AE0}" presName="horz1" presStyleCnt="0"/>
      <dgm:spPr/>
    </dgm:pt>
    <dgm:pt modelId="{DC107E70-C35E-45CB-BDB3-8DF691D7EA0E}" type="pres">
      <dgm:prSet presAssocID="{8954DF5F-FC09-4D2C-919C-BB63FE7B0AE0}" presName="tx1" presStyleLbl="revTx" presStyleIdx="5" presStyleCnt="6"/>
      <dgm:spPr/>
    </dgm:pt>
    <dgm:pt modelId="{8EF94FD3-8724-49C1-B625-59BA73D941B6}" type="pres">
      <dgm:prSet presAssocID="{8954DF5F-FC09-4D2C-919C-BB63FE7B0AE0}" presName="vert1" presStyleCnt="0"/>
      <dgm:spPr/>
    </dgm:pt>
  </dgm:ptLst>
  <dgm:cxnLst>
    <dgm:cxn modelId="{6986F417-53C4-4C8C-9A7D-58E4D7464591}" type="presOf" srcId="{34755F2E-D839-4A1E-9F21-E28182F0AAD5}" destId="{E6C01019-7A00-4750-91D8-1249A9B3F739}" srcOrd="0" destOrd="0" presId="urn:microsoft.com/office/officeart/2008/layout/LinedList"/>
    <dgm:cxn modelId="{CEEDE22C-94D3-4890-AD1F-C7CACC26D79B}" type="presOf" srcId="{8954DF5F-FC09-4D2C-919C-BB63FE7B0AE0}" destId="{DC107E70-C35E-45CB-BDB3-8DF691D7EA0E}" srcOrd="0" destOrd="0" presId="urn:microsoft.com/office/officeart/2008/layout/LinedList"/>
    <dgm:cxn modelId="{4B77E62F-FD5C-4519-80E9-4E52B0564F2A}" type="presOf" srcId="{D164F160-0121-4A20-B574-5823E1598A75}" destId="{3AD9C7EB-8ADD-49BD-9971-5725FB1755F8}" srcOrd="0" destOrd="0" presId="urn:microsoft.com/office/officeart/2008/layout/LinedList"/>
    <dgm:cxn modelId="{8EF9E234-0A21-423B-9420-AA573525C2AC}" srcId="{9A56AE4D-5C2B-4BC8-B45D-7A4027912B63}" destId="{34755F2E-D839-4A1E-9F21-E28182F0AAD5}" srcOrd="3" destOrd="0" parTransId="{924888DD-0584-49FA-986C-69CF74B6B45D}" sibTransId="{31EB24D7-8297-479E-8C74-6B1293179084}"/>
    <dgm:cxn modelId="{B162A541-209C-4E06-A5BC-FF9FECBC89CD}" srcId="{9A56AE4D-5C2B-4BC8-B45D-7A4027912B63}" destId="{845F812C-777A-435F-B8B3-B2340769B623}" srcOrd="2" destOrd="0" parTransId="{A662C9DA-D120-4A52-8FC2-122D5674D47A}" sibTransId="{D9D3C759-D6EA-421D-AFF2-B23C01540CE2}"/>
    <dgm:cxn modelId="{6D199A81-3EB2-4540-91A5-D527EF255336}" srcId="{9A56AE4D-5C2B-4BC8-B45D-7A4027912B63}" destId="{8954DF5F-FC09-4D2C-919C-BB63FE7B0AE0}" srcOrd="5" destOrd="0" parTransId="{36AFFA91-D52C-41E7-BAAD-D5A7C92C25B8}" sibTransId="{D0C59D07-5AB5-44B7-9961-E2CB0562757E}"/>
    <dgm:cxn modelId="{85DDA186-710D-4420-AB76-3466F96E4EA4}" type="presOf" srcId="{845F812C-777A-435F-B8B3-B2340769B623}" destId="{77229042-461D-4B29-97B6-1334CAF9DD4A}" srcOrd="0" destOrd="0" presId="urn:microsoft.com/office/officeart/2008/layout/LinedList"/>
    <dgm:cxn modelId="{E1FECE93-15E0-4368-8124-A00E5F3C4CF7}" type="presOf" srcId="{2787F8F6-5F42-4FD6-863D-3924D544EE2B}" destId="{087BC342-0B44-4B9F-9763-10FE75FF8389}" srcOrd="0" destOrd="0" presId="urn:microsoft.com/office/officeart/2008/layout/LinedList"/>
    <dgm:cxn modelId="{774D399A-503C-4277-8A7F-18A1E137F1E0}" srcId="{9A56AE4D-5C2B-4BC8-B45D-7A4027912B63}" destId="{2787F8F6-5F42-4FD6-863D-3924D544EE2B}" srcOrd="0" destOrd="0" parTransId="{9B2A1F9D-D86B-46FF-BF2B-84E2787971BF}" sibTransId="{439524D5-AA0E-42B0-B1F8-DE3D48F4B476}"/>
    <dgm:cxn modelId="{5EECFCA8-21D9-4D14-A1DB-F2267592AB39}" type="presOf" srcId="{9A56AE4D-5C2B-4BC8-B45D-7A4027912B63}" destId="{5BC46738-BA09-4EC7-B979-397394B7CC73}" srcOrd="0" destOrd="0" presId="urn:microsoft.com/office/officeart/2008/layout/LinedList"/>
    <dgm:cxn modelId="{59F1F6B5-E62C-4294-AA84-361E4BF6B2B6}" srcId="{9A56AE4D-5C2B-4BC8-B45D-7A4027912B63}" destId="{F02BFB2F-F5C1-496C-9FC1-FA3A4DF811B6}" srcOrd="1" destOrd="0" parTransId="{62876A10-C46C-44A2-A922-D70CD98B5F6C}" sibTransId="{9DEC3707-3D43-4873-A596-96669051737B}"/>
    <dgm:cxn modelId="{2C76DDB7-4314-4342-8FC6-DF9D2CAAC72B}" type="presOf" srcId="{F02BFB2F-F5C1-496C-9FC1-FA3A4DF811B6}" destId="{5C3C7A2A-12D6-493A-8B4A-A576F653928D}" srcOrd="0" destOrd="0" presId="urn:microsoft.com/office/officeart/2008/layout/LinedList"/>
    <dgm:cxn modelId="{01419CEA-5AFE-4712-BB19-E0F257773DA8}" srcId="{9A56AE4D-5C2B-4BC8-B45D-7A4027912B63}" destId="{D164F160-0121-4A20-B574-5823E1598A75}" srcOrd="4" destOrd="0" parTransId="{F5FCDBB8-C312-4E7F-B29D-74447C354038}" sibTransId="{F7653C84-E151-4A3C-B221-8B0CC04AFBC0}"/>
    <dgm:cxn modelId="{C52B4709-CD9E-4128-BEDB-35200FE12055}" type="presParOf" srcId="{5BC46738-BA09-4EC7-B979-397394B7CC73}" destId="{401893BD-0DD5-4F90-BC22-836ED562A110}" srcOrd="0" destOrd="0" presId="urn:microsoft.com/office/officeart/2008/layout/LinedList"/>
    <dgm:cxn modelId="{6DEDB038-69B7-4958-954A-64F217AAE955}" type="presParOf" srcId="{5BC46738-BA09-4EC7-B979-397394B7CC73}" destId="{4D89AAC2-0B8D-4AF1-A577-8309A54E1641}" srcOrd="1" destOrd="0" presId="urn:microsoft.com/office/officeart/2008/layout/LinedList"/>
    <dgm:cxn modelId="{AA61712B-D0B0-4872-B919-3893DDFB5BFE}" type="presParOf" srcId="{4D89AAC2-0B8D-4AF1-A577-8309A54E1641}" destId="{087BC342-0B44-4B9F-9763-10FE75FF8389}" srcOrd="0" destOrd="0" presId="urn:microsoft.com/office/officeart/2008/layout/LinedList"/>
    <dgm:cxn modelId="{860E58DE-6584-4708-87DC-B0A411236800}" type="presParOf" srcId="{4D89AAC2-0B8D-4AF1-A577-8309A54E1641}" destId="{4D63B626-352E-46C1-B74C-D91E5CFA47A9}" srcOrd="1" destOrd="0" presId="urn:microsoft.com/office/officeart/2008/layout/LinedList"/>
    <dgm:cxn modelId="{FB55F646-04C5-4CF1-98F5-45C5EF953CF0}" type="presParOf" srcId="{5BC46738-BA09-4EC7-B979-397394B7CC73}" destId="{0E66BB88-BF52-4B4F-9957-6646D475775C}" srcOrd="2" destOrd="0" presId="urn:microsoft.com/office/officeart/2008/layout/LinedList"/>
    <dgm:cxn modelId="{E4BFC048-10E2-48DA-A341-E640ABA8C2A8}" type="presParOf" srcId="{5BC46738-BA09-4EC7-B979-397394B7CC73}" destId="{F2A21329-7F14-41D1-A5ED-29CF283C3DBB}" srcOrd="3" destOrd="0" presId="urn:microsoft.com/office/officeart/2008/layout/LinedList"/>
    <dgm:cxn modelId="{821E7178-01D9-4687-AD24-CBF514EF6D6F}" type="presParOf" srcId="{F2A21329-7F14-41D1-A5ED-29CF283C3DBB}" destId="{5C3C7A2A-12D6-493A-8B4A-A576F653928D}" srcOrd="0" destOrd="0" presId="urn:microsoft.com/office/officeart/2008/layout/LinedList"/>
    <dgm:cxn modelId="{D6DAF29A-E436-4A36-AD6F-66322F1D03EA}" type="presParOf" srcId="{F2A21329-7F14-41D1-A5ED-29CF283C3DBB}" destId="{DEA92FDF-706C-480F-8F48-F95BFED02CC6}" srcOrd="1" destOrd="0" presId="urn:microsoft.com/office/officeart/2008/layout/LinedList"/>
    <dgm:cxn modelId="{6D0A7F5A-B65E-4252-AB6A-348BC2B2B8BE}" type="presParOf" srcId="{5BC46738-BA09-4EC7-B979-397394B7CC73}" destId="{A444AB22-5CB8-4ABE-A52A-A9AE29036B34}" srcOrd="4" destOrd="0" presId="urn:microsoft.com/office/officeart/2008/layout/LinedList"/>
    <dgm:cxn modelId="{8B76FE3F-7019-4725-AB5D-714F39C8E4B6}" type="presParOf" srcId="{5BC46738-BA09-4EC7-B979-397394B7CC73}" destId="{E38BFEB1-74E0-4E14-8DCF-A762E2972A6F}" srcOrd="5" destOrd="0" presId="urn:microsoft.com/office/officeart/2008/layout/LinedList"/>
    <dgm:cxn modelId="{39E536C8-E25E-462E-B74D-6C60D79A57EA}" type="presParOf" srcId="{E38BFEB1-74E0-4E14-8DCF-A762E2972A6F}" destId="{77229042-461D-4B29-97B6-1334CAF9DD4A}" srcOrd="0" destOrd="0" presId="urn:microsoft.com/office/officeart/2008/layout/LinedList"/>
    <dgm:cxn modelId="{26D092E1-8A47-4F24-979E-DE9AD429C7F1}" type="presParOf" srcId="{E38BFEB1-74E0-4E14-8DCF-A762E2972A6F}" destId="{A35BE4D3-D2C3-43CE-A1F2-6C0B6626E2D3}" srcOrd="1" destOrd="0" presId="urn:microsoft.com/office/officeart/2008/layout/LinedList"/>
    <dgm:cxn modelId="{3441E2A4-8629-4575-B08A-1AAA32ACB4D4}" type="presParOf" srcId="{5BC46738-BA09-4EC7-B979-397394B7CC73}" destId="{0D6FFA52-00E3-4AB6-B4EF-A85B1DB39F32}" srcOrd="6" destOrd="0" presId="urn:microsoft.com/office/officeart/2008/layout/LinedList"/>
    <dgm:cxn modelId="{8D02C79F-AFF0-493A-8223-27FCF7113010}" type="presParOf" srcId="{5BC46738-BA09-4EC7-B979-397394B7CC73}" destId="{41D78727-F570-47F7-8BEA-7B056339CE96}" srcOrd="7" destOrd="0" presId="urn:microsoft.com/office/officeart/2008/layout/LinedList"/>
    <dgm:cxn modelId="{B91EB1DE-3174-4A96-887A-E32B4DE98004}" type="presParOf" srcId="{41D78727-F570-47F7-8BEA-7B056339CE96}" destId="{E6C01019-7A00-4750-91D8-1249A9B3F739}" srcOrd="0" destOrd="0" presId="urn:microsoft.com/office/officeart/2008/layout/LinedList"/>
    <dgm:cxn modelId="{00CD76E9-8C10-47BB-87D2-BF0D67084609}" type="presParOf" srcId="{41D78727-F570-47F7-8BEA-7B056339CE96}" destId="{551DEC0C-4D11-47D6-89CD-5165240ECB9B}" srcOrd="1" destOrd="0" presId="urn:microsoft.com/office/officeart/2008/layout/LinedList"/>
    <dgm:cxn modelId="{ECE8BAFD-E37A-4E63-B222-6816DFBFD707}" type="presParOf" srcId="{5BC46738-BA09-4EC7-B979-397394B7CC73}" destId="{48AD7A3A-1092-4757-A84E-6A855F643E32}" srcOrd="8" destOrd="0" presId="urn:microsoft.com/office/officeart/2008/layout/LinedList"/>
    <dgm:cxn modelId="{155F7294-069D-4972-831B-B7B856C7591A}" type="presParOf" srcId="{5BC46738-BA09-4EC7-B979-397394B7CC73}" destId="{AEDCAA4B-C596-4307-8CDF-23423874E1CB}" srcOrd="9" destOrd="0" presId="urn:microsoft.com/office/officeart/2008/layout/LinedList"/>
    <dgm:cxn modelId="{5FA06088-35A3-4760-ADE8-1FAEBF15C6B5}" type="presParOf" srcId="{AEDCAA4B-C596-4307-8CDF-23423874E1CB}" destId="{3AD9C7EB-8ADD-49BD-9971-5725FB1755F8}" srcOrd="0" destOrd="0" presId="urn:microsoft.com/office/officeart/2008/layout/LinedList"/>
    <dgm:cxn modelId="{31953AEE-F922-4415-82D7-4373D969041F}" type="presParOf" srcId="{AEDCAA4B-C596-4307-8CDF-23423874E1CB}" destId="{1310E01D-F58F-4981-9E36-F879E8404AB3}" srcOrd="1" destOrd="0" presId="urn:microsoft.com/office/officeart/2008/layout/LinedList"/>
    <dgm:cxn modelId="{B696F5ED-06D1-4958-B285-0BF1F644A933}" type="presParOf" srcId="{5BC46738-BA09-4EC7-B979-397394B7CC73}" destId="{2CD84D84-2F34-481C-AE64-E3031F96F4EA}" srcOrd="10" destOrd="0" presId="urn:microsoft.com/office/officeart/2008/layout/LinedList"/>
    <dgm:cxn modelId="{9C431301-FEB6-419C-8C99-276DB6E75A12}" type="presParOf" srcId="{5BC46738-BA09-4EC7-B979-397394B7CC73}" destId="{537722FB-4EC1-4391-A823-378374475431}" srcOrd="11" destOrd="0" presId="urn:microsoft.com/office/officeart/2008/layout/LinedList"/>
    <dgm:cxn modelId="{5C699C78-6BEE-4A52-BA11-799C01DFBB5B}" type="presParOf" srcId="{537722FB-4EC1-4391-A823-378374475431}" destId="{DC107E70-C35E-45CB-BDB3-8DF691D7EA0E}" srcOrd="0" destOrd="0" presId="urn:microsoft.com/office/officeart/2008/layout/LinedList"/>
    <dgm:cxn modelId="{C95DED05-759F-4F97-9F94-F0ACBCC01A57}" type="presParOf" srcId="{537722FB-4EC1-4391-A823-378374475431}" destId="{8EF94FD3-8724-49C1-B625-59BA73D941B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41C9D5E-9652-4BDA-ABB1-F0C0823E72D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C1FCFDF-16CD-40BA-831F-9FA7B6E03A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Slightly higher cost than standard S3 transfers.</a:t>
          </a:r>
        </a:p>
      </dgm:t>
    </dgm:pt>
    <dgm:pt modelId="{A9F9B615-2737-411E-8887-CCFD4544E7EA}" type="parTrans" cxnId="{0399330B-5F40-49DF-AF4C-30834CF0669B}">
      <dgm:prSet/>
      <dgm:spPr/>
      <dgm:t>
        <a:bodyPr/>
        <a:lstStyle/>
        <a:p>
          <a:endParaRPr lang="en-US"/>
        </a:p>
      </dgm:t>
    </dgm:pt>
    <dgm:pt modelId="{ACA7350E-BE5F-41B9-A65F-64944816CECC}" type="sibTrans" cxnId="{0399330B-5F40-49DF-AF4C-30834CF0669B}">
      <dgm:prSet/>
      <dgm:spPr/>
      <dgm:t>
        <a:bodyPr/>
        <a:lstStyle/>
        <a:p>
          <a:endParaRPr lang="en-US"/>
        </a:p>
      </dgm:t>
    </dgm:pt>
    <dgm:pt modelId="{8608EB5A-2399-4BF3-B04F-1F33CE8B24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May not improve performance if upload source and bucket are in the same region.</a:t>
          </a:r>
        </a:p>
      </dgm:t>
    </dgm:pt>
    <dgm:pt modelId="{C928E4C5-092C-4413-A3F3-DFD8F12F0C9E}" type="parTrans" cxnId="{38B4BAEC-6E01-4210-9C3A-6FBFAF87F8B7}">
      <dgm:prSet/>
      <dgm:spPr/>
      <dgm:t>
        <a:bodyPr/>
        <a:lstStyle/>
        <a:p>
          <a:endParaRPr lang="en-US"/>
        </a:p>
      </dgm:t>
    </dgm:pt>
    <dgm:pt modelId="{C9E92E66-BC1D-416C-B3C3-88A52BB95119}" type="sibTrans" cxnId="{38B4BAEC-6E01-4210-9C3A-6FBFAF87F8B7}">
      <dgm:prSet/>
      <dgm:spPr/>
      <dgm:t>
        <a:bodyPr/>
        <a:lstStyle/>
        <a:p>
          <a:endParaRPr lang="en-US"/>
        </a:p>
      </dgm:t>
    </dgm:pt>
    <dgm:pt modelId="{12F2A14E-06C2-46AB-B056-31D928121D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Must be enabled manually in S3 bucket settings.</a:t>
          </a:r>
        </a:p>
      </dgm:t>
    </dgm:pt>
    <dgm:pt modelId="{A3DB29F1-3B0C-44C3-BA13-112F3BAF4872}" type="parTrans" cxnId="{299C33FA-00D6-4DF8-AC48-21A557B1FA5E}">
      <dgm:prSet/>
      <dgm:spPr/>
      <dgm:t>
        <a:bodyPr/>
        <a:lstStyle/>
        <a:p>
          <a:endParaRPr lang="en-US"/>
        </a:p>
      </dgm:t>
    </dgm:pt>
    <dgm:pt modelId="{7D0F9518-187F-4D4E-AFDA-9C6C3EF065AC}" type="sibTrans" cxnId="{299C33FA-00D6-4DF8-AC48-21A557B1FA5E}">
      <dgm:prSet/>
      <dgm:spPr/>
      <dgm:t>
        <a:bodyPr/>
        <a:lstStyle/>
        <a:p>
          <a:endParaRPr lang="en-US"/>
        </a:p>
      </dgm:t>
    </dgm:pt>
    <dgm:pt modelId="{B8EC30F1-D8C4-4654-AA50-8FEF7CDBC8B3}" type="pres">
      <dgm:prSet presAssocID="{041C9D5E-9652-4BDA-ABB1-F0C0823E72D8}" presName="root" presStyleCnt="0">
        <dgm:presLayoutVars>
          <dgm:dir/>
          <dgm:resizeHandles val="exact"/>
        </dgm:presLayoutVars>
      </dgm:prSet>
      <dgm:spPr/>
    </dgm:pt>
    <dgm:pt modelId="{EDCEB4A6-179E-4C33-B080-25CD24C15FE1}" type="pres">
      <dgm:prSet presAssocID="{8C1FCFDF-16CD-40BA-831F-9FA7B6E03A01}" presName="compNode" presStyleCnt="0"/>
      <dgm:spPr/>
    </dgm:pt>
    <dgm:pt modelId="{9CC2C951-113B-4840-B07D-E2DF82B084C1}" type="pres">
      <dgm:prSet presAssocID="{8C1FCFDF-16CD-40BA-831F-9FA7B6E03A01}" presName="bgRect" presStyleLbl="bgShp" presStyleIdx="0" presStyleCnt="3"/>
      <dgm:spPr/>
    </dgm:pt>
    <dgm:pt modelId="{4003C159-4103-4284-B1B2-8AAE407A6667}" type="pres">
      <dgm:prSet presAssocID="{8C1FCFDF-16CD-40BA-831F-9FA7B6E03A0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131EF60-C874-47BF-B1CA-14B3C2E5768B}" type="pres">
      <dgm:prSet presAssocID="{8C1FCFDF-16CD-40BA-831F-9FA7B6E03A01}" presName="spaceRect" presStyleCnt="0"/>
      <dgm:spPr/>
    </dgm:pt>
    <dgm:pt modelId="{569A0EE4-1B68-423F-AA50-73982A97624E}" type="pres">
      <dgm:prSet presAssocID="{8C1FCFDF-16CD-40BA-831F-9FA7B6E03A01}" presName="parTx" presStyleLbl="revTx" presStyleIdx="0" presStyleCnt="3">
        <dgm:presLayoutVars>
          <dgm:chMax val="0"/>
          <dgm:chPref val="0"/>
        </dgm:presLayoutVars>
      </dgm:prSet>
      <dgm:spPr/>
    </dgm:pt>
    <dgm:pt modelId="{79B59E14-0B2A-4296-B5AF-064F4EA28C85}" type="pres">
      <dgm:prSet presAssocID="{ACA7350E-BE5F-41B9-A65F-64944816CECC}" presName="sibTrans" presStyleCnt="0"/>
      <dgm:spPr/>
    </dgm:pt>
    <dgm:pt modelId="{3E733DA9-2011-4CE6-93D1-5A21FA09352E}" type="pres">
      <dgm:prSet presAssocID="{8608EB5A-2399-4BF3-B04F-1F33CE8B242D}" presName="compNode" presStyleCnt="0"/>
      <dgm:spPr/>
    </dgm:pt>
    <dgm:pt modelId="{D28406A9-BD6C-4FF1-9225-8150C58B8233}" type="pres">
      <dgm:prSet presAssocID="{8608EB5A-2399-4BF3-B04F-1F33CE8B242D}" presName="bgRect" presStyleLbl="bgShp" presStyleIdx="1" presStyleCnt="3"/>
      <dgm:spPr/>
    </dgm:pt>
    <dgm:pt modelId="{F52995C4-E183-473C-8035-34D78ADF3E59}" type="pres">
      <dgm:prSet presAssocID="{8608EB5A-2399-4BF3-B04F-1F33CE8B242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A4092078-2EDB-46E4-B632-51FF850A3C37}" type="pres">
      <dgm:prSet presAssocID="{8608EB5A-2399-4BF3-B04F-1F33CE8B242D}" presName="spaceRect" presStyleCnt="0"/>
      <dgm:spPr/>
    </dgm:pt>
    <dgm:pt modelId="{F82B3954-1DC4-48C9-A63C-3627DCCA2929}" type="pres">
      <dgm:prSet presAssocID="{8608EB5A-2399-4BF3-B04F-1F33CE8B242D}" presName="parTx" presStyleLbl="revTx" presStyleIdx="1" presStyleCnt="3">
        <dgm:presLayoutVars>
          <dgm:chMax val="0"/>
          <dgm:chPref val="0"/>
        </dgm:presLayoutVars>
      </dgm:prSet>
      <dgm:spPr/>
    </dgm:pt>
    <dgm:pt modelId="{0188E256-2270-40B0-A560-9FB400F9E4E7}" type="pres">
      <dgm:prSet presAssocID="{C9E92E66-BC1D-416C-B3C3-88A52BB95119}" presName="sibTrans" presStyleCnt="0"/>
      <dgm:spPr/>
    </dgm:pt>
    <dgm:pt modelId="{75E247E7-5CF5-4BFC-9B6C-67BFBF7D985D}" type="pres">
      <dgm:prSet presAssocID="{12F2A14E-06C2-46AB-B056-31D928121D44}" presName="compNode" presStyleCnt="0"/>
      <dgm:spPr/>
    </dgm:pt>
    <dgm:pt modelId="{FDCEDCF9-CA55-470E-8C05-1C79609B2D63}" type="pres">
      <dgm:prSet presAssocID="{12F2A14E-06C2-46AB-B056-31D928121D44}" presName="bgRect" presStyleLbl="bgShp" presStyleIdx="2" presStyleCnt="3"/>
      <dgm:spPr/>
    </dgm:pt>
    <dgm:pt modelId="{C830A998-F9C9-4727-AA78-269528136AC2}" type="pres">
      <dgm:prSet presAssocID="{12F2A14E-06C2-46AB-B056-31D928121D4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57D54AB-A917-4557-9720-E237CB2A69D3}" type="pres">
      <dgm:prSet presAssocID="{12F2A14E-06C2-46AB-B056-31D928121D44}" presName="spaceRect" presStyleCnt="0"/>
      <dgm:spPr/>
    </dgm:pt>
    <dgm:pt modelId="{75348886-5456-4FBE-B551-DD6BD930D295}" type="pres">
      <dgm:prSet presAssocID="{12F2A14E-06C2-46AB-B056-31D928121D4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399330B-5F40-49DF-AF4C-30834CF0669B}" srcId="{041C9D5E-9652-4BDA-ABB1-F0C0823E72D8}" destId="{8C1FCFDF-16CD-40BA-831F-9FA7B6E03A01}" srcOrd="0" destOrd="0" parTransId="{A9F9B615-2737-411E-8887-CCFD4544E7EA}" sibTransId="{ACA7350E-BE5F-41B9-A65F-64944816CECC}"/>
    <dgm:cxn modelId="{19D64C7F-47C0-497D-8396-B81C5C96B189}" type="presOf" srcId="{8608EB5A-2399-4BF3-B04F-1F33CE8B242D}" destId="{F82B3954-1DC4-48C9-A63C-3627DCCA2929}" srcOrd="0" destOrd="0" presId="urn:microsoft.com/office/officeart/2018/2/layout/IconVerticalSolidList"/>
    <dgm:cxn modelId="{FDDD9292-EC02-463C-953E-EC4DAA21644B}" type="presOf" srcId="{8C1FCFDF-16CD-40BA-831F-9FA7B6E03A01}" destId="{569A0EE4-1B68-423F-AA50-73982A97624E}" srcOrd="0" destOrd="0" presId="urn:microsoft.com/office/officeart/2018/2/layout/IconVerticalSolidList"/>
    <dgm:cxn modelId="{C33FD596-7F39-494B-8DA6-E20DE2E94395}" type="presOf" srcId="{041C9D5E-9652-4BDA-ABB1-F0C0823E72D8}" destId="{B8EC30F1-D8C4-4654-AA50-8FEF7CDBC8B3}" srcOrd="0" destOrd="0" presId="urn:microsoft.com/office/officeart/2018/2/layout/IconVerticalSolidList"/>
    <dgm:cxn modelId="{887077D7-6581-4549-A7EF-0665237073FD}" type="presOf" srcId="{12F2A14E-06C2-46AB-B056-31D928121D44}" destId="{75348886-5456-4FBE-B551-DD6BD930D295}" srcOrd="0" destOrd="0" presId="urn:microsoft.com/office/officeart/2018/2/layout/IconVerticalSolidList"/>
    <dgm:cxn modelId="{38B4BAEC-6E01-4210-9C3A-6FBFAF87F8B7}" srcId="{041C9D5E-9652-4BDA-ABB1-F0C0823E72D8}" destId="{8608EB5A-2399-4BF3-B04F-1F33CE8B242D}" srcOrd="1" destOrd="0" parTransId="{C928E4C5-092C-4413-A3F3-DFD8F12F0C9E}" sibTransId="{C9E92E66-BC1D-416C-B3C3-88A52BB95119}"/>
    <dgm:cxn modelId="{299C33FA-00D6-4DF8-AC48-21A557B1FA5E}" srcId="{041C9D5E-9652-4BDA-ABB1-F0C0823E72D8}" destId="{12F2A14E-06C2-46AB-B056-31D928121D44}" srcOrd="2" destOrd="0" parTransId="{A3DB29F1-3B0C-44C3-BA13-112F3BAF4872}" sibTransId="{7D0F9518-187F-4D4E-AFDA-9C6C3EF065AC}"/>
    <dgm:cxn modelId="{21D556E8-392F-406D-869A-71769C73F0E4}" type="presParOf" srcId="{B8EC30F1-D8C4-4654-AA50-8FEF7CDBC8B3}" destId="{EDCEB4A6-179E-4C33-B080-25CD24C15FE1}" srcOrd="0" destOrd="0" presId="urn:microsoft.com/office/officeart/2018/2/layout/IconVerticalSolidList"/>
    <dgm:cxn modelId="{F363C906-ED72-45D1-B5B3-C8E3EB1C8C37}" type="presParOf" srcId="{EDCEB4A6-179E-4C33-B080-25CD24C15FE1}" destId="{9CC2C951-113B-4840-B07D-E2DF82B084C1}" srcOrd="0" destOrd="0" presId="urn:microsoft.com/office/officeart/2018/2/layout/IconVerticalSolidList"/>
    <dgm:cxn modelId="{C6EA2849-7C12-44F5-B747-3CE44861DEEB}" type="presParOf" srcId="{EDCEB4A6-179E-4C33-B080-25CD24C15FE1}" destId="{4003C159-4103-4284-B1B2-8AAE407A6667}" srcOrd="1" destOrd="0" presId="urn:microsoft.com/office/officeart/2018/2/layout/IconVerticalSolidList"/>
    <dgm:cxn modelId="{D9F23741-D730-4FF5-B0E6-9FD275374772}" type="presParOf" srcId="{EDCEB4A6-179E-4C33-B080-25CD24C15FE1}" destId="{F131EF60-C874-47BF-B1CA-14B3C2E5768B}" srcOrd="2" destOrd="0" presId="urn:microsoft.com/office/officeart/2018/2/layout/IconVerticalSolidList"/>
    <dgm:cxn modelId="{E00F31D2-CE1A-4A46-A974-116422CFD750}" type="presParOf" srcId="{EDCEB4A6-179E-4C33-B080-25CD24C15FE1}" destId="{569A0EE4-1B68-423F-AA50-73982A97624E}" srcOrd="3" destOrd="0" presId="urn:microsoft.com/office/officeart/2018/2/layout/IconVerticalSolidList"/>
    <dgm:cxn modelId="{DBF22BB7-3100-40B7-ADA0-33A9E175AACF}" type="presParOf" srcId="{B8EC30F1-D8C4-4654-AA50-8FEF7CDBC8B3}" destId="{79B59E14-0B2A-4296-B5AF-064F4EA28C85}" srcOrd="1" destOrd="0" presId="urn:microsoft.com/office/officeart/2018/2/layout/IconVerticalSolidList"/>
    <dgm:cxn modelId="{389EEBE4-C5CC-4A76-B705-3FDAAF6D53C2}" type="presParOf" srcId="{B8EC30F1-D8C4-4654-AA50-8FEF7CDBC8B3}" destId="{3E733DA9-2011-4CE6-93D1-5A21FA09352E}" srcOrd="2" destOrd="0" presId="urn:microsoft.com/office/officeart/2018/2/layout/IconVerticalSolidList"/>
    <dgm:cxn modelId="{A63EB81D-ADAB-44A4-A112-D632F0D4936C}" type="presParOf" srcId="{3E733DA9-2011-4CE6-93D1-5A21FA09352E}" destId="{D28406A9-BD6C-4FF1-9225-8150C58B8233}" srcOrd="0" destOrd="0" presId="urn:microsoft.com/office/officeart/2018/2/layout/IconVerticalSolidList"/>
    <dgm:cxn modelId="{82229ADB-D2D2-4059-B3BE-68902FCD18D2}" type="presParOf" srcId="{3E733DA9-2011-4CE6-93D1-5A21FA09352E}" destId="{F52995C4-E183-473C-8035-34D78ADF3E59}" srcOrd="1" destOrd="0" presId="urn:microsoft.com/office/officeart/2018/2/layout/IconVerticalSolidList"/>
    <dgm:cxn modelId="{D78EA9D2-41D3-429F-BBC2-E1FBA887B8FF}" type="presParOf" srcId="{3E733DA9-2011-4CE6-93D1-5A21FA09352E}" destId="{A4092078-2EDB-46E4-B632-51FF850A3C37}" srcOrd="2" destOrd="0" presId="urn:microsoft.com/office/officeart/2018/2/layout/IconVerticalSolidList"/>
    <dgm:cxn modelId="{05DC95FD-38E3-46F2-A194-18ED987EB858}" type="presParOf" srcId="{3E733DA9-2011-4CE6-93D1-5A21FA09352E}" destId="{F82B3954-1DC4-48C9-A63C-3627DCCA2929}" srcOrd="3" destOrd="0" presId="urn:microsoft.com/office/officeart/2018/2/layout/IconVerticalSolidList"/>
    <dgm:cxn modelId="{B3DE3D0F-25A3-4BE6-8BD8-71A8D548EC31}" type="presParOf" srcId="{B8EC30F1-D8C4-4654-AA50-8FEF7CDBC8B3}" destId="{0188E256-2270-40B0-A560-9FB400F9E4E7}" srcOrd="3" destOrd="0" presId="urn:microsoft.com/office/officeart/2018/2/layout/IconVerticalSolidList"/>
    <dgm:cxn modelId="{E5CE61FD-D7C4-4F9A-A9AA-DD9A230D0627}" type="presParOf" srcId="{B8EC30F1-D8C4-4654-AA50-8FEF7CDBC8B3}" destId="{75E247E7-5CF5-4BFC-9B6C-67BFBF7D985D}" srcOrd="4" destOrd="0" presId="urn:microsoft.com/office/officeart/2018/2/layout/IconVerticalSolidList"/>
    <dgm:cxn modelId="{BBFE3B1D-2C5D-4CF4-89E2-E1CC2E1953EE}" type="presParOf" srcId="{75E247E7-5CF5-4BFC-9B6C-67BFBF7D985D}" destId="{FDCEDCF9-CA55-470E-8C05-1C79609B2D63}" srcOrd="0" destOrd="0" presId="urn:microsoft.com/office/officeart/2018/2/layout/IconVerticalSolidList"/>
    <dgm:cxn modelId="{9247F4A9-DE26-4DFA-97D4-33B2EF6720D0}" type="presParOf" srcId="{75E247E7-5CF5-4BFC-9B6C-67BFBF7D985D}" destId="{C830A998-F9C9-4727-AA78-269528136AC2}" srcOrd="1" destOrd="0" presId="urn:microsoft.com/office/officeart/2018/2/layout/IconVerticalSolidList"/>
    <dgm:cxn modelId="{2A42D1A8-EF3D-469C-B7C6-68C7678C6FE0}" type="presParOf" srcId="{75E247E7-5CF5-4BFC-9B6C-67BFBF7D985D}" destId="{157D54AB-A917-4557-9720-E237CB2A69D3}" srcOrd="2" destOrd="0" presId="urn:microsoft.com/office/officeart/2018/2/layout/IconVerticalSolidList"/>
    <dgm:cxn modelId="{12A5DF71-D9B1-4EB5-BC6F-549F4526E825}" type="presParOf" srcId="{75E247E7-5CF5-4BFC-9B6C-67BFBF7D985D}" destId="{75348886-5456-4FBE-B551-DD6BD930D29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1893BD-0DD5-4F90-BC22-836ED562A110}">
      <dsp:nvSpPr>
        <dsp:cNvPr id="0" name=""/>
        <dsp:cNvSpPr/>
      </dsp:nvSpPr>
      <dsp:spPr>
        <a:xfrm>
          <a:off x="0" y="2455"/>
          <a:ext cx="614476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BC342-0B44-4B9F-9763-10FE75FF8389}">
      <dsp:nvSpPr>
        <dsp:cNvPr id="0" name=""/>
        <dsp:cNvSpPr/>
      </dsp:nvSpPr>
      <dsp:spPr>
        <a:xfrm>
          <a:off x="0" y="2455"/>
          <a:ext cx="6144767" cy="83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Uses AWS global edge network (same infrastructure as CloudFront).</a:t>
          </a:r>
        </a:p>
      </dsp:txBody>
      <dsp:txXfrm>
        <a:off x="0" y="2455"/>
        <a:ext cx="6144767" cy="837381"/>
      </dsp:txXfrm>
    </dsp:sp>
    <dsp:sp modelId="{0E66BB88-BF52-4B4F-9957-6646D475775C}">
      <dsp:nvSpPr>
        <dsp:cNvPr id="0" name=""/>
        <dsp:cNvSpPr/>
      </dsp:nvSpPr>
      <dsp:spPr>
        <a:xfrm>
          <a:off x="0" y="839837"/>
          <a:ext cx="614476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3C7A2A-12D6-493A-8B4A-A576F653928D}">
      <dsp:nvSpPr>
        <dsp:cNvPr id="0" name=""/>
        <dsp:cNvSpPr/>
      </dsp:nvSpPr>
      <dsp:spPr>
        <a:xfrm>
          <a:off x="0" y="839837"/>
          <a:ext cx="6144767" cy="83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Works with multi-part uploads, making large file transfers even faster.</a:t>
          </a:r>
        </a:p>
      </dsp:txBody>
      <dsp:txXfrm>
        <a:off x="0" y="839837"/>
        <a:ext cx="6144767" cy="837381"/>
      </dsp:txXfrm>
    </dsp:sp>
    <dsp:sp modelId="{A444AB22-5CB8-4ABE-A52A-A9AE29036B34}">
      <dsp:nvSpPr>
        <dsp:cNvPr id="0" name=""/>
        <dsp:cNvSpPr/>
      </dsp:nvSpPr>
      <dsp:spPr>
        <a:xfrm>
          <a:off x="0" y="1677218"/>
          <a:ext cx="614476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229042-461D-4B29-97B6-1334CAF9DD4A}">
      <dsp:nvSpPr>
        <dsp:cNvPr id="0" name=""/>
        <dsp:cNvSpPr/>
      </dsp:nvSpPr>
      <dsp:spPr>
        <a:xfrm>
          <a:off x="0" y="1677218"/>
          <a:ext cx="6144767" cy="83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Can be used for both public (internet) and private (AWS) networks.</a:t>
          </a:r>
        </a:p>
      </dsp:txBody>
      <dsp:txXfrm>
        <a:off x="0" y="1677218"/>
        <a:ext cx="6144767" cy="837381"/>
      </dsp:txXfrm>
    </dsp:sp>
    <dsp:sp modelId="{0D6FFA52-00E3-4AB6-B4EF-A85B1DB39F32}">
      <dsp:nvSpPr>
        <dsp:cNvPr id="0" name=""/>
        <dsp:cNvSpPr/>
      </dsp:nvSpPr>
      <dsp:spPr>
        <a:xfrm>
          <a:off x="0" y="2514599"/>
          <a:ext cx="614476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C01019-7A00-4750-91D8-1249A9B3F739}">
      <dsp:nvSpPr>
        <dsp:cNvPr id="0" name=""/>
        <dsp:cNvSpPr/>
      </dsp:nvSpPr>
      <dsp:spPr>
        <a:xfrm>
          <a:off x="0" y="2514599"/>
          <a:ext cx="6144767" cy="83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Must be enabled at the bucket level.</a:t>
          </a:r>
        </a:p>
      </dsp:txBody>
      <dsp:txXfrm>
        <a:off x="0" y="2514599"/>
        <a:ext cx="6144767" cy="837381"/>
      </dsp:txXfrm>
    </dsp:sp>
    <dsp:sp modelId="{48AD7A3A-1092-4757-A84E-6A855F643E32}">
      <dsp:nvSpPr>
        <dsp:cNvPr id="0" name=""/>
        <dsp:cNvSpPr/>
      </dsp:nvSpPr>
      <dsp:spPr>
        <a:xfrm>
          <a:off x="0" y="3351981"/>
          <a:ext cx="614476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D9C7EB-8ADD-49BD-9971-5725FB1755F8}">
      <dsp:nvSpPr>
        <dsp:cNvPr id="0" name=""/>
        <dsp:cNvSpPr/>
      </dsp:nvSpPr>
      <dsp:spPr>
        <a:xfrm>
          <a:off x="0" y="3351981"/>
          <a:ext cx="6144767" cy="83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The bucket gets a special accelerated endpoint like:</a:t>
          </a:r>
        </a:p>
      </dsp:txBody>
      <dsp:txXfrm>
        <a:off x="0" y="3351981"/>
        <a:ext cx="6144767" cy="837381"/>
      </dsp:txXfrm>
    </dsp:sp>
    <dsp:sp modelId="{2CD84D84-2F34-481C-AE64-E3031F96F4EA}">
      <dsp:nvSpPr>
        <dsp:cNvPr id="0" name=""/>
        <dsp:cNvSpPr/>
      </dsp:nvSpPr>
      <dsp:spPr>
        <a:xfrm>
          <a:off x="0" y="4189362"/>
          <a:ext cx="6144767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107E70-C35E-45CB-BDB3-8DF691D7EA0E}">
      <dsp:nvSpPr>
        <dsp:cNvPr id="0" name=""/>
        <dsp:cNvSpPr/>
      </dsp:nvSpPr>
      <dsp:spPr>
        <a:xfrm>
          <a:off x="0" y="4189362"/>
          <a:ext cx="6144767" cy="8373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bucketname.s3-accelerate.amazonaws.com</a:t>
          </a:r>
        </a:p>
      </dsp:txBody>
      <dsp:txXfrm>
        <a:off x="0" y="4189362"/>
        <a:ext cx="6144767" cy="83738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C2C951-113B-4840-B07D-E2DF82B084C1}">
      <dsp:nvSpPr>
        <dsp:cNvPr id="0" name=""/>
        <dsp:cNvSpPr/>
      </dsp:nvSpPr>
      <dsp:spPr>
        <a:xfrm>
          <a:off x="0" y="459"/>
          <a:ext cx="11155680" cy="10761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03C159-4103-4284-B1B2-8AAE407A6667}">
      <dsp:nvSpPr>
        <dsp:cNvPr id="0" name=""/>
        <dsp:cNvSpPr/>
      </dsp:nvSpPr>
      <dsp:spPr>
        <a:xfrm>
          <a:off x="325525" y="242586"/>
          <a:ext cx="591864" cy="5918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9A0EE4-1B68-423F-AA50-73982A97624E}">
      <dsp:nvSpPr>
        <dsp:cNvPr id="0" name=""/>
        <dsp:cNvSpPr/>
      </dsp:nvSpPr>
      <dsp:spPr>
        <a:xfrm>
          <a:off x="1242914" y="459"/>
          <a:ext cx="9912765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Slightly higher cost than standard S3 transfers.</a:t>
          </a:r>
        </a:p>
      </dsp:txBody>
      <dsp:txXfrm>
        <a:off x="1242914" y="459"/>
        <a:ext cx="9912765" cy="1076116"/>
      </dsp:txXfrm>
    </dsp:sp>
    <dsp:sp modelId="{D28406A9-BD6C-4FF1-9225-8150C58B8233}">
      <dsp:nvSpPr>
        <dsp:cNvPr id="0" name=""/>
        <dsp:cNvSpPr/>
      </dsp:nvSpPr>
      <dsp:spPr>
        <a:xfrm>
          <a:off x="0" y="1345605"/>
          <a:ext cx="11155680" cy="10761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2995C4-E183-473C-8035-34D78ADF3E59}">
      <dsp:nvSpPr>
        <dsp:cNvPr id="0" name=""/>
        <dsp:cNvSpPr/>
      </dsp:nvSpPr>
      <dsp:spPr>
        <a:xfrm>
          <a:off x="325525" y="1587731"/>
          <a:ext cx="591864" cy="5918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2B3954-1DC4-48C9-A63C-3627DCCA2929}">
      <dsp:nvSpPr>
        <dsp:cNvPr id="0" name=""/>
        <dsp:cNvSpPr/>
      </dsp:nvSpPr>
      <dsp:spPr>
        <a:xfrm>
          <a:off x="1242914" y="1345605"/>
          <a:ext cx="9912765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May not improve performance if upload source and bucket are in the same region.</a:t>
          </a:r>
        </a:p>
      </dsp:txBody>
      <dsp:txXfrm>
        <a:off x="1242914" y="1345605"/>
        <a:ext cx="9912765" cy="1076116"/>
      </dsp:txXfrm>
    </dsp:sp>
    <dsp:sp modelId="{FDCEDCF9-CA55-470E-8C05-1C79609B2D63}">
      <dsp:nvSpPr>
        <dsp:cNvPr id="0" name=""/>
        <dsp:cNvSpPr/>
      </dsp:nvSpPr>
      <dsp:spPr>
        <a:xfrm>
          <a:off x="0" y="2690751"/>
          <a:ext cx="11155680" cy="10761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30A998-F9C9-4727-AA78-269528136AC2}">
      <dsp:nvSpPr>
        <dsp:cNvPr id="0" name=""/>
        <dsp:cNvSpPr/>
      </dsp:nvSpPr>
      <dsp:spPr>
        <a:xfrm>
          <a:off x="325525" y="2932877"/>
          <a:ext cx="591864" cy="5918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348886-5456-4FBE-B551-DD6BD930D295}">
      <dsp:nvSpPr>
        <dsp:cNvPr id="0" name=""/>
        <dsp:cNvSpPr/>
      </dsp:nvSpPr>
      <dsp:spPr>
        <a:xfrm>
          <a:off x="1242914" y="2690751"/>
          <a:ext cx="9912765" cy="10761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889" tIns="113889" rIns="113889" bIns="113889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Must be enabled manually in S3 bucket settings.</a:t>
          </a:r>
        </a:p>
      </dsp:txBody>
      <dsp:txXfrm>
        <a:off x="1242914" y="2690751"/>
        <a:ext cx="9912765" cy="10761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43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894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59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152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509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83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047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737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53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635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310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161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00F0CCF-61F2-006D-C6EB-0E3FF7D1E0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193" b="21934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95FAE947-7211-4722-9026-8E874A8AD3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944761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E3A244-9B7E-E41D-5D29-84D8ED6D9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68532" y="2523744"/>
            <a:ext cx="5032105" cy="3612122"/>
          </a:xfrm>
        </p:spPr>
        <p:txBody>
          <a:bodyPr anchor="ctr">
            <a:normAutofit/>
          </a:bodyPr>
          <a:lstStyle/>
          <a:p>
            <a:pPr algn="r">
              <a:lnSpc>
                <a:spcPct val="90000"/>
              </a:lnSpc>
            </a:pPr>
            <a:r>
              <a:rPr lang="en-US" sz="6100">
                <a:solidFill>
                  <a:srgbClr val="FFFFFF"/>
                </a:solidFill>
              </a:rPr>
              <a:t>Amazon S3 Transfer Acceleration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853E504-CE7A-45E8-9030-0BFDACF83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8532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526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9E10BDB4-64F2-477D-A03B-9F8352D5E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E70D4-1B93-D70C-5C77-5939D4942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300216" cy="132588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Definition:</a:t>
            </a:r>
            <a:br>
              <a:rPr lang="en-US" dirty="0"/>
            </a:br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8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271C494-8107-3D61-D611-4FBC7C22A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3612" y="611650"/>
            <a:ext cx="416052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14" name="Graphic 13" descr="Download from cloud">
            <a:extLst>
              <a:ext uri="{FF2B5EF4-FFF2-40B4-BE49-F238E27FC236}">
                <a16:creationId xmlns:a16="http://schemas.microsoft.com/office/drawing/2014/main" id="{92BE2A66-6A0D-1B2D-E283-E89F8CEBE7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867" y="2429691"/>
            <a:ext cx="3916313" cy="3916313"/>
          </a:xfrm>
          <a:prstGeom prst="rect">
            <a:avLst/>
          </a:prstGeom>
        </p:spPr>
      </p:pic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07E8A6A-099E-4D5D-F50E-F56DB819E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224" y="1088136"/>
            <a:ext cx="4160520" cy="52578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/>
              <a:t>Amazon S3 Transfer Acceleration increases upload and download speed between your client and an S3 bucket.</a:t>
            </a:r>
          </a:p>
          <a:p>
            <a:pPr>
              <a:lnSpc>
                <a:spcPct val="100000"/>
              </a:lnSpc>
            </a:pPr>
            <a:r>
              <a:rPr lang="en-US" sz="1700"/>
              <a:t>It uses Amazon CloudFront edge locations to accelerate data transfer over long distances.</a:t>
            </a:r>
          </a:p>
          <a:p>
            <a:pPr>
              <a:lnSpc>
                <a:spcPct val="100000"/>
              </a:lnSpc>
            </a:pPr>
            <a:r>
              <a:rPr lang="en-US" sz="1700" b="1"/>
              <a:t>How It Works:</a:t>
            </a:r>
            <a:endParaRPr lang="en-US" sz="1700"/>
          </a:p>
          <a:p>
            <a:pPr>
              <a:lnSpc>
                <a:spcPct val="100000"/>
              </a:lnSpc>
            </a:pPr>
            <a:r>
              <a:rPr lang="en-US" sz="1700"/>
              <a:t>The user uploads a file to a nearby AWS Edge Location (closest geographical point).</a:t>
            </a:r>
          </a:p>
          <a:p>
            <a:pPr>
              <a:lnSpc>
                <a:spcPct val="100000"/>
              </a:lnSpc>
            </a:pPr>
            <a:r>
              <a:rPr lang="en-US" sz="1700"/>
              <a:t>The Edge Location uses AWS’s optimized private network to send data to the target S3 bucket (in any AWS Region).</a:t>
            </a:r>
          </a:p>
          <a:p>
            <a:pPr>
              <a:lnSpc>
                <a:spcPct val="100000"/>
              </a:lnSpc>
            </a:pPr>
            <a:r>
              <a:rPr lang="en-US" sz="1700"/>
              <a:t>This reduces latency and improves transfer speed  especially over long distances or slow internet routes.</a:t>
            </a:r>
          </a:p>
          <a:p>
            <a:pPr>
              <a:lnSpc>
                <a:spcPct val="100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685114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4E17AA97-89A7-45C1-B813-BFF6C23D7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607081-0516-1B2F-8885-C34B8399B8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288536" cy="3364992"/>
          </a:xfrm>
        </p:spPr>
        <p:txBody>
          <a:bodyPr>
            <a:normAutofit/>
          </a:bodyPr>
          <a:lstStyle/>
          <a:p>
            <a:r>
              <a:rPr lang="en-US"/>
              <a:t>Key Points:</a:t>
            </a:r>
            <a:br>
              <a:rPr lang="en-US"/>
            </a:br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91E908F-EF1E-2FDB-BE4D-3F4C56B2F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7A2980E-8F82-6B7D-A838-277407403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1208" y="6299535"/>
            <a:ext cx="11155680" cy="4646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0FCBDB-D4B4-A80F-37A1-3548B9C68BC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3803604"/>
              </p:ext>
            </p:extLst>
          </p:nvPr>
        </p:nvGraphicFramePr>
        <p:xfrm>
          <a:off x="5532120" y="978408"/>
          <a:ext cx="6144768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4366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9EE42DCE-4A4F-44C4-84E5-261B3BEEF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790C2A-7ACC-2BAE-2275-5180C8EFF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81928" cy="1463040"/>
          </a:xfrm>
        </p:spPr>
        <p:txBody>
          <a:bodyPr>
            <a:normAutofit/>
          </a:bodyPr>
          <a:lstStyle/>
          <a:p>
            <a:r>
              <a:rPr lang="en-US"/>
              <a:t>When to Use:</a:t>
            </a:r>
            <a:br>
              <a:rPr lang="en-US"/>
            </a:br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87F59F2-5FBC-40CD-AD35-376AECE49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281928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2333F5EF-0508-66B8-FD58-296FE3BB4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281928" cy="37673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You or your users are uploading data from distant locations (far from the S3 bucket’s region).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You need faster, consistent upload performance over the internet.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Useful for global applications where users are spread worldwide.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b="1" dirty="0"/>
              <a:t>Example:</a:t>
            </a:r>
            <a:endParaRPr lang="en-US" dirty="0"/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dirty="0"/>
              <a:t>User in New York (USA) uploads to an S3 bucket in Sydney (Australia).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/>
              <a:t>Normally: upload travels through the public internet → slow.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/>
              <a:t>With Transfer Acceleration: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/>
              <a:t>File goes to nearest edge location in New York.</a:t>
            </a:r>
          </a:p>
          <a:p>
            <a:pPr lvl="2">
              <a:lnSpc>
                <a:spcPct val="100000"/>
              </a:lnSpc>
              <a:spcBef>
                <a:spcPts val="0"/>
              </a:spcBef>
            </a:pPr>
            <a:r>
              <a:rPr lang="en-US"/>
              <a:t>Then sent via AWS internal high-speed network to Sydney → faster upload.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pic>
        <p:nvPicPr>
          <p:cNvPr id="14" name="Graphic 13" descr="Syncing Cloud">
            <a:extLst>
              <a:ext uri="{FF2B5EF4-FFF2-40B4-BE49-F238E27FC236}">
                <a16:creationId xmlns:a16="http://schemas.microsoft.com/office/drawing/2014/main" id="{36BE743F-A206-38A3-8392-999045A291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17668" y="1994644"/>
            <a:ext cx="4356461" cy="435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69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3A60B-1787-CBBB-9BD3-CE87ECE89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Limitations: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2C6132-9381-080C-1A24-4BEAFA4A2B6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21208" y="2578608"/>
          <a:ext cx="11155680" cy="3767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2148125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299</Words>
  <Application>Microsoft Office PowerPoint</Application>
  <PresentationFormat>Widescreen</PresentationFormat>
  <Paragraphs>29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Bierstadt</vt:lpstr>
      <vt:lpstr>GestaltVTI</vt:lpstr>
      <vt:lpstr>Amazon S3 Transfer Acceleration</vt:lpstr>
      <vt:lpstr>Definition: </vt:lpstr>
      <vt:lpstr>Key Points: </vt:lpstr>
      <vt:lpstr>When to Use: </vt:lpstr>
      <vt:lpstr>Limitations: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Adnan Ullah</dc:creator>
  <cp:lastModifiedBy>Adnan Ullah</cp:lastModifiedBy>
  <cp:revision>1</cp:revision>
  <dcterms:created xsi:type="dcterms:W3CDTF">2025-10-24T11:28:42Z</dcterms:created>
  <dcterms:modified xsi:type="dcterms:W3CDTF">2025-10-24T11:40:01Z</dcterms:modified>
</cp:coreProperties>
</file>