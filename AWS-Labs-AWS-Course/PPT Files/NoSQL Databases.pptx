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752" autoAdjust="0"/>
  </p:normalViewPr>
  <p:slideViewPr>
    <p:cSldViewPr snapToGrid="0">
      <p:cViewPr varScale="1">
        <p:scale>
          <a:sx n="70" d="100"/>
          <a:sy n="70" d="100"/>
        </p:scale>
        <p:origin x="11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C1891F-AE0C-4F94-A0F9-F85AED46DF3C}"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266010B6-8EAC-4B1B-AC9D-81E4083EAF72}">
      <dgm:prSet/>
      <dgm:spPr/>
      <dgm:t>
        <a:bodyPr/>
        <a:lstStyle/>
        <a:p>
          <a:r>
            <a:rPr lang="en-US"/>
            <a:t>NoSQL means non-relational databases (not like Excel tables). </a:t>
          </a:r>
        </a:p>
      </dgm:t>
    </dgm:pt>
    <dgm:pt modelId="{B10A224C-EDF3-4963-A943-551CF4337DC6}" type="parTrans" cxnId="{40BA7EA5-47CB-465D-BD7E-74484E75345C}">
      <dgm:prSet/>
      <dgm:spPr/>
      <dgm:t>
        <a:bodyPr/>
        <a:lstStyle/>
        <a:p>
          <a:endParaRPr lang="en-US"/>
        </a:p>
      </dgm:t>
    </dgm:pt>
    <dgm:pt modelId="{BFFF2DA6-4033-479B-B035-13A25690E1F8}" type="sibTrans" cxnId="{40BA7EA5-47CB-465D-BD7E-74484E75345C}">
      <dgm:prSet/>
      <dgm:spPr/>
      <dgm:t>
        <a:bodyPr/>
        <a:lstStyle/>
        <a:p>
          <a:endParaRPr lang="en-US"/>
        </a:p>
      </dgm:t>
    </dgm:pt>
    <dgm:pt modelId="{A0FE58D0-F28F-4F92-BA79-9DEBDE2BE524}">
      <dgm:prSet/>
      <dgm:spPr/>
      <dgm:t>
        <a:bodyPr/>
        <a:lstStyle/>
        <a:p>
          <a:r>
            <a:rPr lang="en-US"/>
            <a:t>These databases are designed for specific data models and allow flexible structures.</a:t>
          </a:r>
        </a:p>
      </dgm:t>
    </dgm:pt>
    <dgm:pt modelId="{EA4E77AC-AF7F-4A6B-B6F2-6D112214922B}" type="parTrans" cxnId="{F0991E86-835C-4270-B6BD-5C0DA1338A9D}">
      <dgm:prSet/>
      <dgm:spPr/>
      <dgm:t>
        <a:bodyPr/>
        <a:lstStyle/>
        <a:p>
          <a:endParaRPr lang="en-US"/>
        </a:p>
      </dgm:t>
    </dgm:pt>
    <dgm:pt modelId="{F0622DDD-9B1D-43CF-9C33-E2ED6FA84C1B}" type="sibTrans" cxnId="{F0991E86-835C-4270-B6BD-5C0DA1338A9D}">
      <dgm:prSet/>
      <dgm:spPr/>
      <dgm:t>
        <a:bodyPr/>
        <a:lstStyle/>
        <a:p>
          <a:endParaRPr lang="en-US"/>
        </a:p>
      </dgm:t>
    </dgm:pt>
    <dgm:pt modelId="{536BCA9B-B4BD-4B4B-83BB-3E8B856DBC07}">
      <dgm:prSet/>
      <dgm:spPr/>
      <dgm:t>
        <a:bodyPr/>
        <a:lstStyle/>
        <a:p>
          <a:r>
            <a:rPr lang="en-US" b="1"/>
            <a:t>Benefits of NoSQL </a:t>
          </a:r>
          <a:endParaRPr lang="en-US"/>
        </a:p>
      </dgm:t>
    </dgm:pt>
    <dgm:pt modelId="{38BF3A8A-1AE0-421D-A81A-1B46092ED33F}" type="parTrans" cxnId="{0ED9C723-B92C-4A3C-86B0-CD4EC877A659}">
      <dgm:prSet/>
      <dgm:spPr/>
      <dgm:t>
        <a:bodyPr/>
        <a:lstStyle/>
        <a:p>
          <a:endParaRPr lang="en-US"/>
        </a:p>
      </dgm:t>
    </dgm:pt>
    <dgm:pt modelId="{1365F9C1-58D1-4FBB-9ED3-E99D483AC82D}" type="sibTrans" cxnId="{0ED9C723-B92C-4A3C-86B0-CD4EC877A659}">
      <dgm:prSet/>
      <dgm:spPr/>
      <dgm:t>
        <a:bodyPr/>
        <a:lstStyle/>
        <a:p>
          <a:endParaRPr lang="en-US"/>
        </a:p>
      </dgm:t>
    </dgm:pt>
    <dgm:pt modelId="{D0348403-639E-4FB2-B68B-59EC032393F0}">
      <dgm:prSet/>
      <dgm:spPr/>
      <dgm:t>
        <a:bodyPr/>
        <a:lstStyle/>
        <a:p>
          <a:r>
            <a:rPr lang="en-US" dirty="0"/>
            <a:t>Flexibility – Easy to change and update data structure. </a:t>
          </a:r>
        </a:p>
      </dgm:t>
    </dgm:pt>
    <dgm:pt modelId="{DC2E4255-092E-4453-9657-0219819550EA}" type="parTrans" cxnId="{34018367-A881-4C16-82C1-91466622BD14}">
      <dgm:prSet/>
      <dgm:spPr/>
      <dgm:t>
        <a:bodyPr/>
        <a:lstStyle/>
        <a:p>
          <a:endParaRPr lang="en-US"/>
        </a:p>
      </dgm:t>
    </dgm:pt>
    <dgm:pt modelId="{8CC0CC96-B5E3-4593-BB18-36D42861DB52}" type="sibTrans" cxnId="{34018367-A881-4C16-82C1-91466622BD14}">
      <dgm:prSet/>
      <dgm:spPr/>
      <dgm:t>
        <a:bodyPr/>
        <a:lstStyle/>
        <a:p>
          <a:endParaRPr lang="en-US"/>
        </a:p>
      </dgm:t>
    </dgm:pt>
    <dgm:pt modelId="{33282E9D-059F-40BF-9EE1-8DE9E2DBBC8F}">
      <dgm:prSet/>
      <dgm:spPr/>
      <dgm:t>
        <a:bodyPr/>
        <a:lstStyle/>
        <a:p>
          <a:r>
            <a:rPr lang="en-US" dirty="0"/>
            <a:t>Scalability – Can handle large amounts of data by spreading across multiple servers. </a:t>
          </a:r>
        </a:p>
      </dgm:t>
    </dgm:pt>
    <dgm:pt modelId="{A138A726-8A0D-416F-88CA-F53619CD5E21}" type="parTrans" cxnId="{89AF8F2B-C0C7-49A6-BAFD-25C303033465}">
      <dgm:prSet/>
      <dgm:spPr/>
      <dgm:t>
        <a:bodyPr/>
        <a:lstStyle/>
        <a:p>
          <a:endParaRPr lang="en-US"/>
        </a:p>
      </dgm:t>
    </dgm:pt>
    <dgm:pt modelId="{B24578EF-013B-4532-9F5A-2822553312B4}" type="sibTrans" cxnId="{89AF8F2B-C0C7-49A6-BAFD-25C303033465}">
      <dgm:prSet/>
      <dgm:spPr/>
      <dgm:t>
        <a:bodyPr/>
        <a:lstStyle/>
        <a:p>
          <a:endParaRPr lang="en-US"/>
        </a:p>
      </dgm:t>
    </dgm:pt>
    <dgm:pt modelId="{D1FBF670-0259-49FC-88CB-42F4F56AB9A8}">
      <dgm:prSet/>
      <dgm:spPr/>
      <dgm:t>
        <a:bodyPr/>
        <a:lstStyle/>
        <a:p>
          <a:r>
            <a:rPr lang="en-US" dirty="0"/>
            <a:t>High Performance – Optimized for fast access to specific types of data.</a:t>
          </a:r>
        </a:p>
      </dgm:t>
    </dgm:pt>
    <dgm:pt modelId="{C59FC031-4C74-4D96-A061-054FED931F66}" type="parTrans" cxnId="{FC0A41B5-9020-45CF-8546-A9B5C2DF6C51}">
      <dgm:prSet/>
      <dgm:spPr/>
      <dgm:t>
        <a:bodyPr/>
        <a:lstStyle/>
        <a:p>
          <a:endParaRPr lang="en-US"/>
        </a:p>
      </dgm:t>
    </dgm:pt>
    <dgm:pt modelId="{A1CF388C-9DE9-41C8-856E-1AF0D3F35DC2}" type="sibTrans" cxnId="{FC0A41B5-9020-45CF-8546-A9B5C2DF6C51}">
      <dgm:prSet/>
      <dgm:spPr/>
      <dgm:t>
        <a:bodyPr/>
        <a:lstStyle/>
        <a:p>
          <a:endParaRPr lang="en-US"/>
        </a:p>
      </dgm:t>
    </dgm:pt>
    <dgm:pt modelId="{BF0F5CC3-3F8F-458C-BC62-3E1BA8729025}">
      <dgm:prSet/>
      <dgm:spPr/>
      <dgm:t>
        <a:bodyPr/>
        <a:lstStyle/>
        <a:p>
          <a:r>
            <a:rPr lang="en-US" dirty="0"/>
            <a:t>Highly Functional – Designed for different use cases. </a:t>
          </a:r>
        </a:p>
      </dgm:t>
    </dgm:pt>
    <dgm:pt modelId="{1E701B4E-2D1B-4644-9FF2-B5820055990D}" type="parTrans" cxnId="{8DB8F8C8-1FCD-4859-BF46-7CE818299875}">
      <dgm:prSet/>
      <dgm:spPr/>
      <dgm:t>
        <a:bodyPr/>
        <a:lstStyle/>
        <a:p>
          <a:endParaRPr lang="en-US"/>
        </a:p>
      </dgm:t>
    </dgm:pt>
    <dgm:pt modelId="{8CBEE05C-B3A7-467C-B75E-45E032A3F33E}" type="sibTrans" cxnId="{8DB8F8C8-1FCD-4859-BF46-7CE818299875}">
      <dgm:prSet/>
      <dgm:spPr/>
      <dgm:t>
        <a:bodyPr/>
        <a:lstStyle/>
        <a:p>
          <a:endParaRPr lang="en-US"/>
        </a:p>
      </dgm:t>
    </dgm:pt>
    <dgm:pt modelId="{CB1CF47C-496B-488B-8A1A-6B86D369F9EF}" type="pres">
      <dgm:prSet presAssocID="{8BC1891F-AE0C-4F94-A0F9-F85AED46DF3C}" presName="diagram" presStyleCnt="0">
        <dgm:presLayoutVars>
          <dgm:dir/>
          <dgm:resizeHandles val="exact"/>
        </dgm:presLayoutVars>
      </dgm:prSet>
      <dgm:spPr/>
    </dgm:pt>
    <dgm:pt modelId="{985653AA-6BC7-4DDF-9865-D14E62BFDB20}" type="pres">
      <dgm:prSet presAssocID="{266010B6-8EAC-4B1B-AC9D-81E4083EAF72}" presName="node" presStyleLbl="node1" presStyleIdx="0" presStyleCnt="7">
        <dgm:presLayoutVars>
          <dgm:bulletEnabled val="1"/>
        </dgm:presLayoutVars>
      </dgm:prSet>
      <dgm:spPr/>
    </dgm:pt>
    <dgm:pt modelId="{4A5E5074-C91F-4615-9894-68A53926CCD8}" type="pres">
      <dgm:prSet presAssocID="{BFFF2DA6-4033-479B-B035-13A25690E1F8}" presName="sibTrans" presStyleCnt="0"/>
      <dgm:spPr/>
    </dgm:pt>
    <dgm:pt modelId="{44F1D484-A4BA-4C3D-B72D-C2424B1913D7}" type="pres">
      <dgm:prSet presAssocID="{A0FE58D0-F28F-4F92-BA79-9DEBDE2BE524}" presName="node" presStyleLbl="node1" presStyleIdx="1" presStyleCnt="7">
        <dgm:presLayoutVars>
          <dgm:bulletEnabled val="1"/>
        </dgm:presLayoutVars>
      </dgm:prSet>
      <dgm:spPr/>
    </dgm:pt>
    <dgm:pt modelId="{AE29AFEA-FA59-44C5-B087-BA781969508E}" type="pres">
      <dgm:prSet presAssocID="{F0622DDD-9B1D-43CF-9C33-E2ED6FA84C1B}" presName="sibTrans" presStyleCnt="0"/>
      <dgm:spPr/>
    </dgm:pt>
    <dgm:pt modelId="{D4B8B4B9-CDD9-4A3A-B5DF-463AB9280688}" type="pres">
      <dgm:prSet presAssocID="{536BCA9B-B4BD-4B4B-83BB-3E8B856DBC07}" presName="node" presStyleLbl="node1" presStyleIdx="2" presStyleCnt="7">
        <dgm:presLayoutVars>
          <dgm:bulletEnabled val="1"/>
        </dgm:presLayoutVars>
      </dgm:prSet>
      <dgm:spPr/>
    </dgm:pt>
    <dgm:pt modelId="{CE1F054A-219C-4BAD-B828-17D7E849F124}" type="pres">
      <dgm:prSet presAssocID="{1365F9C1-58D1-4FBB-9ED3-E99D483AC82D}" presName="sibTrans" presStyleCnt="0"/>
      <dgm:spPr/>
    </dgm:pt>
    <dgm:pt modelId="{D5DB81F1-F640-4078-802E-2E47C500D271}" type="pres">
      <dgm:prSet presAssocID="{D0348403-639E-4FB2-B68B-59EC032393F0}" presName="node" presStyleLbl="node1" presStyleIdx="3" presStyleCnt="7">
        <dgm:presLayoutVars>
          <dgm:bulletEnabled val="1"/>
        </dgm:presLayoutVars>
      </dgm:prSet>
      <dgm:spPr/>
    </dgm:pt>
    <dgm:pt modelId="{4D2ABEB6-5390-47BD-AD4A-159E5EFCFDBF}" type="pres">
      <dgm:prSet presAssocID="{8CC0CC96-B5E3-4593-BB18-36D42861DB52}" presName="sibTrans" presStyleCnt="0"/>
      <dgm:spPr/>
    </dgm:pt>
    <dgm:pt modelId="{84C00C15-069E-4FA7-829F-C910B470DEBE}" type="pres">
      <dgm:prSet presAssocID="{33282E9D-059F-40BF-9EE1-8DE9E2DBBC8F}" presName="node" presStyleLbl="node1" presStyleIdx="4" presStyleCnt="7">
        <dgm:presLayoutVars>
          <dgm:bulletEnabled val="1"/>
        </dgm:presLayoutVars>
      </dgm:prSet>
      <dgm:spPr/>
    </dgm:pt>
    <dgm:pt modelId="{468A65B2-32FF-4528-8137-CD6FCB4EDBAB}" type="pres">
      <dgm:prSet presAssocID="{B24578EF-013B-4532-9F5A-2822553312B4}" presName="sibTrans" presStyleCnt="0"/>
      <dgm:spPr/>
    </dgm:pt>
    <dgm:pt modelId="{3EFF09F4-0A63-4E98-89BD-FEC0CD2E5EA0}" type="pres">
      <dgm:prSet presAssocID="{D1FBF670-0259-49FC-88CB-42F4F56AB9A8}" presName="node" presStyleLbl="node1" presStyleIdx="5" presStyleCnt="7">
        <dgm:presLayoutVars>
          <dgm:bulletEnabled val="1"/>
        </dgm:presLayoutVars>
      </dgm:prSet>
      <dgm:spPr/>
    </dgm:pt>
    <dgm:pt modelId="{372CAA64-E529-46F4-B94A-CC7797499297}" type="pres">
      <dgm:prSet presAssocID="{A1CF388C-9DE9-41C8-856E-1AF0D3F35DC2}" presName="sibTrans" presStyleCnt="0"/>
      <dgm:spPr/>
    </dgm:pt>
    <dgm:pt modelId="{F773D8E1-E28B-455D-9EF9-0A31DA61E20E}" type="pres">
      <dgm:prSet presAssocID="{BF0F5CC3-3F8F-458C-BC62-3E1BA8729025}" presName="node" presStyleLbl="node1" presStyleIdx="6" presStyleCnt="7">
        <dgm:presLayoutVars>
          <dgm:bulletEnabled val="1"/>
        </dgm:presLayoutVars>
      </dgm:prSet>
      <dgm:spPr/>
    </dgm:pt>
  </dgm:ptLst>
  <dgm:cxnLst>
    <dgm:cxn modelId="{0ED9C723-B92C-4A3C-86B0-CD4EC877A659}" srcId="{8BC1891F-AE0C-4F94-A0F9-F85AED46DF3C}" destId="{536BCA9B-B4BD-4B4B-83BB-3E8B856DBC07}" srcOrd="2" destOrd="0" parTransId="{38BF3A8A-1AE0-421D-A81A-1B46092ED33F}" sibTransId="{1365F9C1-58D1-4FBB-9ED3-E99D483AC82D}"/>
    <dgm:cxn modelId="{89AF8F2B-C0C7-49A6-BAFD-25C303033465}" srcId="{8BC1891F-AE0C-4F94-A0F9-F85AED46DF3C}" destId="{33282E9D-059F-40BF-9EE1-8DE9E2DBBC8F}" srcOrd="4" destOrd="0" parTransId="{A138A726-8A0D-416F-88CA-F53619CD5E21}" sibTransId="{B24578EF-013B-4532-9F5A-2822553312B4}"/>
    <dgm:cxn modelId="{CA424F60-B544-422B-A136-3B7B2C8D4C50}" type="presOf" srcId="{BF0F5CC3-3F8F-458C-BC62-3E1BA8729025}" destId="{F773D8E1-E28B-455D-9EF9-0A31DA61E20E}" srcOrd="0" destOrd="0" presId="urn:microsoft.com/office/officeart/2005/8/layout/default"/>
    <dgm:cxn modelId="{34018367-A881-4C16-82C1-91466622BD14}" srcId="{8BC1891F-AE0C-4F94-A0F9-F85AED46DF3C}" destId="{D0348403-639E-4FB2-B68B-59EC032393F0}" srcOrd="3" destOrd="0" parTransId="{DC2E4255-092E-4453-9657-0219819550EA}" sibTransId="{8CC0CC96-B5E3-4593-BB18-36D42861DB52}"/>
    <dgm:cxn modelId="{70292253-FF9C-4605-874F-269F96375292}" type="presOf" srcId="{D0348403-639E-4FB2-B68B-59EC032393F0}" destId="{D5DB81F1-F640-4078-802E-2E47C500D271}" srcOrd="0" destOrd="0" presId="urn:microsoft.com/office/officeart/2005/8/layout/default"/>
    <dgm:cxn modelId="{F0991E86-835C-4270-B6BD-5C0DA1338A9D}" srcId="{8BC1891F-AE0C-4F94-A0F9-F85AED46DF3C}" destId="{A0FE58D0-F28F-4F92-BA79-9DEBDE2BE524}" srcOrd="1" destOrd="0" parTransId="{EA4E77AC-AF7F-4A6B-B6F2-6D112214922B}" sibTransId="{F0622DDD-9B1D-43CF-9C33-E2ED6FA84C1B}"/>
    <dgm:cxn modelId="{C68D0292-8C41-4EBD-BD9E-9A55232BF284}" type="presOf" srcId="{536BCA9B-B4BD-4B4B-83BB-3E8B856DBC07}" destId="{D4B8B4B9-CDD9-4A3A-B5DF-463AB9280688}" srcOrd="0" destOrd="0" presId="urn:microsoft.com/office/officeart/2005/8/layout/default"/>
    <dgm:cxn modelId="{C60DE797-C9C6-4D14-8829-275958CF84C5}" type="presOf" srcId="{33282E9D-059F-40BF-9EE1-8DE9E2DBBC8F}" destId="{84C00C15-069E-4FA7-829F-C910B470DEBE}" srcOrd="0" destOrd="0" presId="urn:microsoft.com/office/officeart/2005/8/layout/default"/>
    <dgm:cxn modelId="{40BA7EA5-47CB-465D-BD7E-74484E75345C}" srcId="{8BC1891F-AE0C-4F94-A0F9-F85AED46DF3C}" destId="{266010B6-8EAC-4B1B-AC9D-81E4083EAF72}" srcOrd="0" destOrd="0" parTransId="{B10A224C-EDF3-4963-A943-551CF4337DC6}" sibTransId="{BFFF2DA6-4033-479B-B035-13A25690E1F8}"/>
    <dgm:cxn modelId="{FC0A41B5-9020-45CF-8546-A9B5C2DF6C51}" srcId="{8BC1891F-AE0C-4F94-A0F9-F85AED46DF3C}" destId="{D1FBF670-0259-49FC-88CB-42F4F56AB9A8}" srcOrd="5" destOrd="0" parTransId="{C59FC031-4C74-4D96-A061-054FED931F66}" sibTransId="{A1CF388C-9DE9-41C8-856E-1AF0D3F35DC2}"/>
    <dgm:cxn modelId="{1B88E5B7-7695-48A0-9EEC-122C3F91706C}" type="presOf" srcId="{A0FE58D0-F28F-4F92-BA79-9DEBDE2BE524}" destId="{44F1D484-A4BA-4C3D-B72D-C2424B1913D7}" srcOrd="0" destOrd="0" presId="urn:microsoft.com/office/officeart/2005/8/layout/default"/>
    <dgm:cxn modelId="{504802BE-BFAF-4760-B0A9-2EBB5E9B5371}" type="presOf" srcId="{8BC1891F-AE0C-4F94-A0F9-F85AED46DF3C}" destId="{CB1CF47C-496B-488B-8A1A-6B86D369F9EF}" srcOrd="0" destOrd="0" presId="urn:microsoft.com/office/officeart/2005/8/layout/default"/>
    <dgm:cxn modelId="{11DC0EC8-8A82-440B-BA22-87DEFE8398D9}" type="presOf" srcId="{266010B6-8EAC-4B1B-AC9D-81E4083EAF72}" destId="{985653AA-6BC7-4DDF-9865-D14E62BFDB20}" srcOrd="0" destOrd="0" presId="urn:microsoft.com/office/officeart/2005/8/layout/default"/>
    <dgm:cxn modelId="{8DB8F8C8-1FCD-4859-BF46-7CE818299875}" srcId="{8BC1891F-AE0C-4F94-A0F9-F85AED46DF3C}" destId="{BF0F5CC3-3F8F-458C-BC62-3E1BA8729025}" srcOrd="6" destOrd="0" parTransId="{1E701B4E-2D1B-4644-9FF2-B5820055990D}" sibTransId="{8CBEE05C-B3A7-467C-B75E-45E032A3F33E}"/>
    <dgm:cxn modelId="{66384CDD-7454-4304-A07E-AC167423D507}" type="presOf" srcId="{D1FBF670-0259-49FC-88CB-42F4F56AB9A8}" destId="{3EFF09F4-0A63-4E98-89BD-FEC0CD2E5EA0}" srcOrd="0" destOrd="0" presId="urn:microsoft.com/office/officeart/2005/8/layout/default"/>
    <dgm:cxn modelId="{119D6D68-DDF4-4A0B-8F77-538AD34DEDB8}" type="presParOf" srcId="{CB1CF47C-496B-488B-8A1A-6B86D369F9EF}" destId="{985653AA-6BC7-4DDF-9865-D14E62BFDB20}" srcOrd="0" destOrd="0" presId="urn:microsoft.com/office/officeart/2005/8/layout/default"/>
    <dgm:cxn modelId="{D5AF29E7-65AD-43D9-A92D-4D04F1AB5BC0}" type="presParOf" srcId="{CB1CF47C-496B-488B-8A1A-6B86D369F9EF}" destId="{4A5E5074-C91F-4615-9894-68A53926CCD8}" srcOrd="1" destOrd="0" presId="urn:microsoft.com/office/officeart/2005/8/layout/default"/>
    <dgm:cxn modelId="{FEF77BDE-6044-470C-BE72-A318AAFDABF4}" type="presParOf" srcId="{CB1CF47C-496B-488B-8A1A-6B86D369F9EF}" destId="{44F1D484-A4BA-4C3D-B72D-C2424B1913D7}" srcOrd="2" destOrd="0" presId="urn:microsoft.com/office/officeart/2005/8/layout/default"/>
    <dgm:cxn modelId="{7E8E5B1C-2ACE-4DCE-813C-7E6B40FB0459}" type="presParOf" srcId="{CB1CF47C-496B-488B-8A1A-6B86D369F9EF}" destId="{AE29AFEA-FA59-44C5-B087-BA781969508E}" srcOrd="3" destOrd="0" presId="urn:microsoft.com/office/officeart/2005/8/layout/default"/>
    <dgm:cxn modelId="{95F5612E-6D0D-4F58-BDAE-BFE38FBCC309}" type="presParOf" srcId="{CB1CF47C-496B-488B-8A1A-6B86D369F9EF}" destId="{D4B8B4B9-CDD9-4A3A-B5DF-463AB9280688}" srcOrd="4" destOrd="0" presId="urn:microsoft.com/office/officeart/2005/8/layout/default"/>
    <dgm:cxn modelId="{CFF54485-0F1C-42A9-B9B4-6402559E3294}" type="presParOf" srcId="{CB1CF47C-496B-488B-8A1A-6B86D369F9EF}" destId="{CE1F054A-219C-4BAD-B828-17D7E849F124}" srcOrd="5" destOrd="0" presId="urn:microsoft.com/office/officeart/2005/8/layout/default"/>
    <dgm:cxn modelId="{615F018C-DD0A-4701-8560-39C28997D141}" type="presParOf" srcId="{CB1CF47C-496B-488B-8A1A-6B86D369F9EF}" destId="{D5DB81F1-F640-4078-802E-2E47C500D271}" srcOrd="6" destOrd="0" presId="urn:microsoft.com/office/officeart/2005/8/layout/default"/>
    <dgm:cxn modelId="{897CB88C-6F31-4362-8C21-F1485A651CD4}" type="presParOf" srcId="{CB1CF47C-496B-488B-8A1A-6B86D369F9EF}" destId="{4D2ABEB6-5390-47BD-AD4A-159E5EFCFDBF}" srcOrd="7" destOrd="0" presId="urn:microsoft.com/office/officeart/2005/8/layout/default"/>
    <dgm:cxn modelId="{4E415FE1-A196-4DCB-A223-DF1CFA82289D}" type="presParOf" srcId="{CB1CF47C-496B-488B-8A1A-6B86D369F9EF}" destId="{84C00C15-069E-4FA7-829F-C910B470DEBE}" srcOrd="8" destOrd="0" presId="urn:microsoft.com/office/officeart/2005/8/layout/default"/>
    <dgm:cxn modelId="{ED698CAB-263C-40E4-A564-4E9DEEA65298}" type="presParOf" srcId="{CB1CF47C-496B-488B-8A1A-6B86D369F9EF}" destId="{468A65B2-32FF-4528-8137-CD6FCB4EDBAB}" srcOrd="9" destOrd="0" presId="urn:microsoft.com/office/officeart/2005/8/layout/default"/>
    <dgm:cxn modelId="{A43F0BF7-D43F-42C3-9B27-557E835048E9}" type="presParOf" srcId="{CB1CF47C-496B-488B-8A1A-6B86D369F9EF}" destId="{3EFF09F4-0A63-4E98-89BD-FEC0CD2E5EA0}" srcOrd="10" destOrd="0" presId="urn:microsoft.com/office/officeart/2005/8/layout/default"/>
    <dgm:cxn modelId="{B3E5C983-9DB6-41E3-95BF-9D5AA76D4E1B}" type="presParOf" srcId="{CB1CF47C-496B-488B-8A1A-6B86D369F9EF}" destId="{372CAA64-E529-46F4-B94A-CC7797499297}" srcOrd="11" destOrd="0" presId="urn:microsoft.com/office/officeart/2005/8/layout/default"/>
    <dgm:cxn modelId="{67243095-03F2-410D-9CC0-2FE27C9E6A29}" type="presParOf" srcId="{CB1CF47C-496B-488B-8A1A-6B86D369F9EF}" destId="{F773D8E1-E28B-455D-9EF9-0A31DA61E20E}"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8F927A-0EBD-479D-989B-CE17AA241BEB}"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F435186-DA87-4D1B-9C1F-09E158D14379}">
      <dgm:prSet/>
      <dgm:spPr/>
      <dgm:t>
        <a:bodyPr/>
        <a:lstStyle/>
        <a:p>
          <a:r>
            <a:rPr lang="en-US" b="1" dirty="0"/>
            <a:t>DynamoDB Streams: </a:t>
          </a:r>
          <a:r>
            <a:rPr lang="en-US" dirty="0"/>
            <a:t>Enables real-time processing of data changes, ideal for event-driven architectures. </a:t>
          </a:r>
        </a:p>
      </dgm:t>
    </dgm:pt>
    <dgm:pt modelId="{4B661C7E-BC40-4A0E-A469-4B99CB4D0827}" type="parTrans" cxnId="{FCEA63FB-0597-4D84-A530-8D73145C0009}">
      <dgm:prSet/>
      <dgm:spPr/>
      <dgm:t>
        <a:bodyPr/>
        <a:lstStyle/>
        <a:p>
          <a:endParaRPr lang="en-US"/>
        </a:p>
      </dgm:t>
    </dgm:pt>
    <dgm:pt modelId="{7DBE2273-D4F7-4310-8AD2-DF8ADF59D560}" type="sibTrans" cxnId="{FCEA63FB-0597-4D84-A530-8D73145C0009}">
      <dgm:prSet/>
      <dgm:spPr/>
      <dgm:t>
        <a:bodyPr/>
        <a:lstStyle/>
        <a:p>
          <a:endParaRPr lang="en-US"/>
        </a:p>
      </dgm:t>
    </dgm:pt>
    <dgm:pt modelId="{4ADCFDFB-B175-466C-A40B-1927AD427602}">
      <dgm:prSet/>
      <dgm:spPr/>
      <dgm:t>
        <a:bodyPr/>
        <a:lstStyle/>
        <a:p>
          <a:r>
            <a:rPr lang="en-US" b="1"/>
            <a:t>Global Tables: </a:t>
          </a:r>
          <a:r>
            <a:rPr lang="en-US"/>
            <a:t>Provides multi-region replication, ensuring low-latency access and high availability. </a:t>
          </a:r>
        </a:p>
      </dgm:t>
    </dgm:pt>
    <dgm:pt modelId="{FF6E3E4E-A446-450C-8070-C1D3EAF24E67}" type="parTrans" cxnId="{69B6BA8B-515F-48AA-92FD-4D92912DD2B6}">
      <dgm:prSet/>
      <dgm:spPr/>
      <dgm:t>
        <a:bodyPr/>
        <a:lstStyle/>
        <a:p>
          <a:endParaRPr lang="en-US"/>
        </a:p>
      </dgm:t>
    </dgm:pt>
    <dgm:pt modelId="{0D2698BA-35F8-483D-B40E-320318B595CB}" type="sibTrans" cxnId="{69B6BA8B-515F-48AA-92FD-4D92912DD2B6}">
      <dgm:prSet/>
      <dgm:spPr/>
      <dgm:t>
        <a:bodyPr/>
        <a:lstStyle/>
        <a:p>
          <a:endParaRPr lang="en-US"/>
        </a:p>
      </dgm:t>
    </dgm:pt>
    <dgm:pt modelId="{CB96895E-0698-4EE8-A192-135A9195135B}">
      <dgm:prSet/>
      <dgm:spPr/>
      <dgm:t>
        <a:bodyPr/>
        <a:lstStyle/>
        <a:p>
          <a:r>
            <a:rPr lang="en-US" b="1" dirty="0"/>
            <a:t>Time-to-Live (TTL): </a:t>
          </a:r>
          <a:r>
            <a:rPr lang="en-US" dirty="0"/>
            <a:t>Automatically expires and removes outdated data to save costs. </a:t>
          </a:r>
        </a:p>
      </dgm:t>
    </dgm:pt>
    <dgm:pt modelId="{516A7616-A399-454F-918D-1750468C5D39}" type="parTrans" cxnId="{7A11C7F1-208C-4E48-A85A-9D11C717AEE6}">
      <dgm:prSet/>
      <dgm:spPr/>
      <dgm:t>
        <a:bodyPr/>
        <a:lstStyle/>
        <a:p>
          <a:endParaRPr lang="en-US"/>
        </a:p>
      </dgm:t>
    </dgm:pt>
    <dgm:pt modelId="{C3703858-C63C-4732-B89A-BDD04F73D53B}" type="sibTrans" cxnId="{7A11C7F1-208C-4E48-A85A-9D11C717AEE6}">
      <dgm:prSet/>
      <dgm:spPr/>
      <dgm:t>
        <a:bodyPr/>
        <a:lstStyle/>
        <a:p>
          <a:endParaRPr lang="en-US"/>
        </a:p>
      </dgm:t>
    </dgm:pt>
    <dgm:pt modelId="{9108C5B4-AA77-44DD-B706-3423952B3C1B}">
      <dgm:prSet/>
      <dgm:spPr/>
      <dgm:t>
        <a:bodyPr/>
        <a:lstStyle/>
        <a:p>
          <a:r>
            <a:rPr lang="en-US" dirty="0"/>
            <a:t>Backup and Restore: Continuous backups with point-in-time recovery ensure data durability</a:t>
          </a:r>
        </a:p>
      </dgm:t>
    </dgm:pt>
    <dgm:pt modelId="{306CCDEF-823E-4185-ABEE-37BB5B916346}" type="parTrans" cxnId="{AB31E36C-A2EB-4FC4-BF74-730F0DC88523}">
      <dgm:prSet/>
      <dgm:spPr/>
      <dgm:t>
        <a:bodyPr/>
        <a:lstStyle/>
        <a:p>
          <a:endParaRPr lang="en-US"/>
        </a:p>
      </dgm:t>
    </dgm:pt>
    <dgm:pt modelId="{31E95CDC-9A98-420D-903E-5D4E6D6C643A}" type="sibTrans" cxnId="{AB31E36C-A2EB-4FC4-BF74-730F0DC88523}">
      <dgm:prSet/>
      <dgm:spPr/>
      <dgm:t>
        <a:bodyPr/>
        <a:lstStyle/>
        <a:p>
          <a:endParaRPr lang="en-US"/>
        </a:p>
      </dgm:t>
    </dgm:pt>
    <dgm:pt modelId="{D2FD6DBC-2EED-4161-977B-9D2F28761293}" type="pres">
      <dgm:prSet presAssocID="{938F927A-0EBD-479D-989B-CE17AA241BEB}" presName="root" presStyleCnt="0">
        <dgm:presLayoutVars>
          <dgm:dir/>
          <dgm:resizeHandles val="exact"/>
        </dgm:presLayoutVars>
      </dgm:prSet>
      <dgm:spPr/>
    </dgm:pt>
    <dgm:pt modelId="{F2462C06-87B1-40E0-945D-298EDB8B6DC4}" type="pres">
      <dgm:prSet presAssocID="{938F927A-0EBD-479D-989B-CE17AA241BEB}" presName="container" presStyleCnt="0">
        <dgm:presLayoutVars>
          <dgm:dir/>
          <dgm:resizeHandles val="exact"/>
        </dgm:presLayoutVars>
      </dgm:prSet>
      <dgm:spPr/>
    </dgm:pt>
    <dgm:pt modelId="{DD668518-99F0-4845-8DCD-E40C39E23318}" type="pres">
      <dgm:prSet presAssocID="{0F435186-DA87-4D1B-9C1F-09E158D14379}" presName="compNode" presStyleCnt="0"/>
      <dgm:spPr/>
    </dgm:pt>
    <dgm:pt modelId="{053054F2-02E0-4CA7-8E22-1DF20FFAE085}" type="pres">
      <dgm:prSet presAssocID="{0F435186-DA87-4D1B-9C1F-09E158D14379}" presName="iconBgRect" presStyleLbl="bgShp" presStyleIdx="0" presStyleCnt="4"/>
      <dgm:spPr/>
    </dgm:pt>
    <dgm:pt modelId="{7ECC9621-28B1-43D2-8418-3438BFC9A2DA}" type="pres">
      <dgm:prSet presAssocID="{0F435186-DA87-4D1B-9C1F-09E158D1437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DE6956F-F679-4C59-A519-5A72FDCAC4D7}" type="pres">
      <dgm:prSet presAssocID="{0F435186-DA87-4D1B-9C1F-09E158D14379}" presName="spaceRect" presStyleCnt="0"/>
      <dgm:spPr/>
    </dgm:pt>
    <dgm:pt modelId="{71FA6AAB-BED4-4B49-B6DD-C20D9485278B}" type="pres">
      <dgm:prSet presAssocID="{0F435186-DA87-4D1B-9C1F-09E158D14379}" presName="textRect" presStyleLbl="revTx" presStyleIdx="0" presStyleCnt="4">
        <dgm:presLayoutVars>
          <dgm:chMax val="1"/>
          <dgm:chPref val="1"/>
        </dgm:presLayoutVars>
      </dgm:prSet>
      <dgm:spPr/>
    </dgm:pt>
    <dgm:pt modelId="{272AF5F1-1DB3-4C0A-95C5-ED45F5502FD1}" type="pres">
      <dgm:prSet presAssocID="{7DBE2273-D4F7-4310-8AD2-DF8ADF59D560}" presName="sibTrans" presStyleLbl="sibTrans2D1" presStyleIdx="0" presStyleCnt="0"/>
      <dgm:spPr/>
    </dgm:pt>
    <dgm:pt modelId="{EEB910D2-DF73-4A38-9F8D-FE69E153A475}" type="pres">
      <dgm:prSet presAssocID="{4ADCFDFB-B175-466C-A40B-1927AD427602}" presName="compNode" presStyleCnt="0"/>
      <dgm:spPr/>
    </dgm:pt>
    <dgm:pt modelId="{F1E512B9-B238-4740-9D36-3F89BE563C45}" type="pres">
      <dgm:prSet presAssocID="{4ADCFDFB-B175-466C-A40B-1927AD427602}" presName="iconBgRect" presStyleLbl="bgShp" presStyleIdx="1" presStyleCnt="4"/>
      <dgm:spPr/>
    </dgm:pt>
    <dgm:pt modelId="{D1591084-BF0B-4B34-80C0-EB942BEA95F1}" type="pres">
      <dgm:prSet presAssocID="{4ADCFDFB-B175-466C-A40B-1927AD42760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DFE6C581-4521-44F5-97D4-B488AE07F18D}" type="pres">
      <dgm:prSet presAssocID="{4ADCFDFB-B175-466C-A40B-1927AD427602}" presName="spaceRect" presStyleCnt="0"/>
      <dgm:spPr/>
    </dgm:pt>
    <dgm:pt modelId="{28355E5C-D1EE-43DF-90E3-1B28BADCBE13}" type="pres">
      <dgm:prSet presAssocID="{4ADCFDFB-B175-466C-A40B-1927AD427602}" presName="textRect" presStyleLbl="revTx" presStyleIdx="1" presStyleCnt="4">
        <dgm:presLayoutVars>
          <dgm:chMax val="1"/>
          <dgm:chPref val="1"/>
        </dgm:presLayoutVars>
      </dgm:prSet>
      <dgm:spPr/>
    </dgm:pt>
    <dgm:pt modelId="{746DBEDD-063C-4677-A411-662DF5A2BF5F}" type="pres">
      <dgm:prSet presAssocID="{0D2698BA-35F8-483D-B40E-320318B595CB}" presName="sibTrans" presStyleLbl="sibTrans2D1" presStyleIdx="0" presStyleCnt="0"/>
      <dgm:spPr/>
    </dgm:pt>
    <dgm:pt modelId="{BC0B0A5D-B2B4-4015-BB1A-89458C83BFA7}" type="pres">
      <dgm:prSet presAssocID="{CB96895E-0698-4EE8-A192-135A9195135B}" presName="compNode" presStyleCnt="0"/>
      <dgm:spPr/>
    </dgm:pt>
    <dgm:pt modelId="{5EA57755-CE13-4944-A3FF-5B91DE18A9AB}" type="pres">
      <dgm:prSet presAssocID="{CB96895E-0698-4EE8-A192-135A9195135B}" presName="iconBgRect" presStyleLbl="bgShp" presStyleIdx="2" presStyleCnt="4"/>
      <dgm:spPr/>
    </dgm:pt>
    <dgm:pt modelId="{DB5E199C-475A-4405-9160-0274DCEFF469}" type="pres">
      <dgm:prSet presAssocID="{CB96895E-0698-4EE8-A192-135A9195135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ing Cloud"/>
        </a:ext>
      </dgm:extLst>
    </dgm:pt>
    <dgm:pt modelId="{5948F81D-327C-4290-8D32-41E645BE71F9}" type="pres">
      <dgm:prSet presAssocID="{CB96895E-0698-4EE8-A192-135A9195135B}" presName="spaceRect" presStyleCnt="0"/>
      <dgm:spPr/>
    </dgm:pt>
    <dgm:pt modelId="{30046AC6-2DF9-4078-B994-DEECBD94381B}" type="pres">
      <dgm:prSet presAssocID="{CB96895E-0698-4EE8-A192-135A9195135B}" presName="textRect" presStyleLbl="revTx" presStyleIdx="2" presStyleCnt="4">
        <dgm:presLayoutVars>
          <dgm:chMax val="1"/>
          <dgm:chPref val="1"/>
        </dgm:presLayoutVars>
      </dgm:prSet>
      <dgm:spPr/>
    </dgm:pt>
    <dgm:pt modelId="{B5D95F32-B1AE-4521-87F9-D699B971B188}" type="pres">
      <dgm:prSet presAssocID="{C3703858-C63C-4732-B89A-BDD04F73D53B}" presName="sibTrans" presStyleLbl="sibTrans2D1" presStyleIdx="0" presStyleCnt="0"/>
      <dgm:spPr/>
    </dgm:pt>
    <dgm:pt modelId="{59533DFE-62AA-4BB3-BDD5-3BFED274C0CE}" type="pres">
      <dgm:prSet presAssocID="{9108C5B4-AA77-44DD-B706-3423952B3C1B}" presName="compNode" presStyleCnt="0"/>
      <dgm:spPr/>
    </dgm:pt>
    <dgm:pt modelId="{3848C8CD-95BD-40DF-97F5-8B34B80CBDA4}" type="pres">
      <dgm:prSet presAssocID="{9108C5B4-AA77-44DD-B706-3423952B3C1B}" presName="iconBgRect" presStyleLbl="bgShp" presStyleIdx="3" presStyleCnt="4"/>
      <dgm:spPr/>
    </dgm:pt>
    <dgm:pt modelId="{4FB12E7D-DADF-46AB-8AF5-2BD93C15C683}" type="pres">
      <dgm:prSet presAssocID="{9108C5B4-AA77-44DD-B706-3423952B3C1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k"/>
        </a:ext>
      </dgm:extLst>
    </dgm:pt>
    <dgm:pt modelId="{3307ADBF-110D-4E9C-B032-A582484D9335}" type="pres">
      <dgm:prSet presAssocID="{9108C5B4-AA77-44DD-B706-3423952B3C1B}" presName="spaceRect" presStyleCnt="0"/>
      <dgm:spPr/>
    </dgm:pt>
    <dgm:pt modelId="{3A4336DF-D1E9-475B-90AA-EBCCD3B2E07E}" type="pres">
      <dgm:prSet presAssocID="{9108C5B4-AA77-44DD-B706-3423952B3C1B}" presName="textRect" presStyleLbl="revTx" presStyleIdx="3" presStyleCnt="4">
        <dgm:presLayoutVars>
          <dgm:chMax val="1"/>
          <dgm:chPref val="1"/>
        </dgm:presLayoutVars>
      </dgm:prSet>
      <dgm:spPr/>
    </dgm:pt>
  </dgm:ptLst>
  <dgm:cxnLst>
    <dgm:cxn modelId="{78A8BE04-48BE-4495-9197-1394D71D90E8}" type="presOf" srcId="{0F435186-DA87-4D1B-9C1F-09E158D14379}" destId="{71FA6AAB-BED4-4B49-B6DD-C20D9485278B}" srcOrd="0" destOrd="0" presId="urn:microsoft.com/office/officeart/2018/2/layout/IconCircleList"/>
    <dgm:cxn modelId="{05278124-7FE0-452D-BB57-D8BC610BE7C5}" type="presOf" srcId="{4ADCFDFB-B175-466C-A40B-1927AD427602}" destId="{28355E5C-D1EE-43DF-90E3-1B28BADCBE13}" srcOrd="0" destOrd="0" presId="urn:microsoft.com/office/officeart/2018/2/layout/IconCircleList"/>
    <dgm:cxn modelId="{AB31E36C-A2EB-4FC4-BF74-730F0DC88523}" srcId="{938F927A-0EBD-479D-989B-CE17AA241BEB}" destId="{9108C5B4-AA77-44DD-B706-3423952B3C1B}" srcOrd="3" destOrd="0" parTransId="{306CCDEF-823E-4185-ABEE-37BB5B916346}" sibTransId="{31E95CDC-9A98-420D-903E-5D4E6D6C643A}"/>
    <dgm:cxn modelId="{744B1376-C3C3-462A-880F-8FBDE5A2A7C6}" type="presOf" srcId="{CB96895E-0698-4EE8-A192-135A9195135B}" destId="{30046AC6-2DF9-4078-B994-DEECBD94381B}" srcOrd="0" destOrd="0" presId="urn:microsoft.com/office/officeart/2018/2/layout/IconCircleList"/>
    <dgm:cxn modelId="{CCA7E580-1A71-46A5-B391-042557BF5D84}" type="presOf" srcId="{0D2698BA-35F8-483D-B40E-320318B595CB}" destId="{746DBEDD-063C-4677-A411-662DF5A2BF5F}" srcOrd="0" destOrd="0" presId="urn:microsoft.com/office/officeart/2018/2/layout/IconCircleList"/>
    <dgm:cxn modelId="{B6B75C8A-438A-4A63-81CC-0C3D57F46C9F}" type="presOf" srcId="{938F927A-0EBD-479D-989B-CE17AA241BEB}" destId="{D2FD6DBC-2EED-4161-977B-9D2F28761293}" srcOrd="0" destOrd="0" presId="urn:microsoft.com/office/officeart/2018/2/layout/IconCircleList"/>
    <dgm:cxn modelId="{E799BB8A-D618-4839-9E58-D2CBEA33DAC8}" type="presOf" srcId="{7DBE2273-D4F7-4310-8AD2-DF8ADF59D560}" destId="{272AF5F1-1DB3-4C0A-95C5-ED45F5502FD1}" srcOrd="0" destOrd="0" presId="urn:microsoft.com/office/officeart/2018/2/layout/IconCircleList"/>
    <dgm:cxn modelId="{69B6BA8B-515F-48AA-92FD-4D92912DD2B6}" srcId="{938F927A-0EBD-479D-989B-CE17AA241BEB}" destId="{4ADCFDFB-B175-466C-A40B-1927AD427602}" srcOrd="1" destOrd="0" parTransId="{FF6E3E4E-A446-450C-8070-C1D3EAF24E67}" sibTransId="{0D2698BA-35F8-483D-B40E-320318B595CB}"/>
    <dgm:cxn modelId="{EF2E1FD0-1FAE-4BBC-981B-B5BD5410BCE7}" type="presOf" srcId="{C3703858-C63C-4732-B89A-BDD04F73D53B}" destId="{B5D95F32-B1AE-4521-87F9-D699B971B188}" srcOrd="0" destOrd="0" presId="urn:microsoft.com/office/officeart/2018/2/layout/IconCircleList"/>
    <dgm:cxn modelId="{E56CC0EC-8445-490B-B3A1-DF6423379A04}" type="presOf" srcId="{9108C5B4-AA77-44DD-B706-3423952B3C1B}" destId="{3A4336DF-D1E9-475B-90AA-EBCCD3B2E07E}" srcOrd="0" destOrd="0" presId="urn:microsoft.com/office/officeart/2018/2/layout/IconCircleList"/>
    <dgm:cxn modelId="{7A11C7F1-208C-4E48-A85A-9D11C717AEE6}" srcId="{938F927A-0EBD-479D-989B-CE17AA241BEB}" destId="{CB96895E-0698-4EE8-A192-135A9195135B}" srcOrd="2" destOrd="0" parTransId="{516A7616-A399-454F-918D-1750468C5D39}" sibTransId="{C3703858-C63C-4732-B89A-BDD04F73D53B}"/>
    <dgm:cxn modelId="{FCEA63FB-0597-4D84-A530-8D73145C0009}" srcId="{938F927A-0EBD-479D-989B-CE17AA241BEB}" destId="{0F435186-DA87-4D1B-9C1F-09E158D14379}" srcOrd="0" destOrd="0" parTransId="{4B661C7E-BC40-4A0E-A469-4B99CB4D0827}" sibTransId="{7DBE2273-D4F7-4310-8AD2-DF8ADF59D560}"/>
    <dgm:cxn modelId="{1D6F613D-CCA9-4DD1-89D1-B8CB5221D935}" type="presParOf" srcId="{D2FD6DBC-2EED-4161-977B-9D2F28761293}" destId="{F2462C06-87B1-40E0-945D-298EDB8B6DC4}" srcOrd="0" destOrd="0" presId="urn:microsoft.com/office/officeart/2018/2/layout/IconCircleList"/>
    <dgm:cxn modelId="{3DA840A2-433A-45A5-A5B8-0C8B42EBB835}" type="presParOf" srcId="{F2462C06-87B1-40E0-945D-298EDB8B6DC4}" destId="{DD668518-99F0-4845-8DCD-E40C39E23318}" srcOrd="0" destOrd="0" presId="urn:microsoft.com/office/officeart/2018/2/layout/IconCircleList"/>
    <dgm:cxn modelId="{CE537DED-8F46-48C7-9E2B-1D142BC7B12D}" type="presParOf" srcId="{DD668518-99F0-4845-8DCD-E40C39E23318}" destId="{053054F2-02E0-4CA7-8E22-1DF20FFAE085}" srcOrd="0" destOrd="0" presId="urn:microsoft.com/office/officeart/2018/2/layout/IconCircleList"/>
    <dgm:cxn modelId="{525E6076-F816-489F-B157-E92CBD682C37}" type="presParOf" srcId="{DD668518-99F0-4845-8DCD-E40C39E23318}" destId="{7ECC9621-28B1-43D2-8418-3438BFC9A2DA}" srcOrd="1" destOrd="0" presId="urn:microsoft.com/office/officeart/2018/2/layout/IconCircleList"/>
    <dgm:cxn modelId="{C44F932F-B8B0-4EE7-AA5C-C36C57522B31}" type="presParOf" srcId="{DD668518-99F0-4845-8DCD-E40C39E23318}" destId="{1DE6956F-F679-4C59-A519-5A72FDCAC4D7}" srcOrd="2" destOrd="0" presId="urn:microsoft.com/office/officeart/2018/2/layout/IconCircleList"/>
    <dgm:cxn modelId="{124F8C25-3FCC-4E6B-A827-5C978C0F3B1F}" type="presParOf" srcId="{DD668518-99F0-4845-8DCD-E40C39E23318}" destId="{71FA6AAB-BED4-4B49-B6DD-C20D9485278B}" srcOrd="3" destOrd="0" presId="urn:microsoft.com/office/officeart/2018/2/layout/IconCircleList"/>
    <dgm:cxn modelId="{AA2E747C-653D-41A5-815B-3932F9807C10}" type="presParOf" srcId="{F2462C06-87B1-40E0-945D-298EDB8B6DC4}" destId="{272AF5F1-1DB3-4C0A-95C5-ED45F5502FD1}" srcOrd="1" destOrd="0" presId="urn:microsoft.com/office/officeart/2018/2/layout/IconCircleList"/>
    <dgm:cxn modelId="{44D4CDE6-4F0F-4D45-8711-68480C5F6289}" type="presParOf" srcId="{F2462C06-87B1-40E0-945D-298EDB8B6DC4}" destId="{EEB910D2-DF73-4A38-9F8D-FE69E153A475}" srcOrd="2" destOrd="0" presId="urn:microsoft.com/office/officeart/2018/2/layout/IconCircleList"/>
    <dgm:cxn modelId="{E80ECB67-F0C1-41DD-A270-297D03AB11E1}" type="presParOf" srcId="{EEB910D2-DF73-4A38-9F8D-FE69E153A475}" destId="{F1E512B9-B238-4740-9D36-3F89BE563C45}" srcOrd="0" destOrd="0" presId="urn:microsoft.com/office/officeart/2018/2/layout/IconCircleList"/>
    <dgm:cxn modelId="{B0A7950A-6CBF-48BD-87B2-3C9EBF966758}" type="presParOf" srcId="{EEB910D2-DF73-4A38-9F8D-FE69E153A475}" destId="{D1591084-BF0B-4B34-80C0-EB942BEA95F1}" srcOrd="1" destOrd="0" presId="urn:microsoft.com/office/officeart/2018/2/layout/IconCircleList"/>
    <dgm:cxn modelId="{8C51894F-1B67-40C9-AF69-BBAE54698BFD}" type="presParOf" srcId="{EEB910D2-DF73-4A38-9F8D-FE69E153A475}" destId="{DFE6C581-4521-44F5-97D4-B488AE07F18D}" srcOrd="2" destOrd="0" presId="urn:microsoft.com/office/officeart/2018/2/layout/IconCircleList"/>
    <dgm:cxn modelId="{F901FF8E-0A57-4808-8134-4724BB061855}" type="presParOf" srcId="{EEB910D2-DF73-4A38-9F8D-FE69E153A475}" destId="{28355E5C-D1EE-43DF-90E3-1B28BADCBE13}" srcOrd="3" destOrd="0" presId="urn:microsoft.com/office/officeart/2018/2/layout/IconCircleList"/>
    <dgm:cxn modelId="{8771C7DD-5FFF-4815-9F42-E570B91ACBDA}" type="presParOf" srcId="{F2462C06-87B1-40E0-945D-298EDB8B6DC4}" destId="{746DBEDD-063C-4677-A411-662DF5A2BF5F}" srcOrd="3" destOrd="0" presId="urn:microsoft.com/office/officeart/2018/2/layout/IconCircleList"/>
    <dgm:cxn modelId="{B77FB10E-5188-45F0-A1C8-5A62FECCDFE8}" type="presParOf" srcId="{F2462C06-87B1-40E0-945D-298EDB8B6DC4}" destId="{BC0B0A5D-B2B4-4015-BB1A-89458C83BFA7}" srcOrd="4" destOrd="0" presId="urn:microsoft.com/office/officeart/2018/2/layout/IconCircleList"/>
    <dgm:cxn modelId="{CA0180CA-EA96-4BE6-88F9-C7642627363F}" type="presParOf" srcId="{BC0B0A5D-B2B4-4015-BB1A-89458C83BFA7}" destId="{5EA57755-CE13-4944-A3FF-5B91DE18A9AB}" srcOrd="0" destOrd="0" presId="urn:microsoft.com/office/officeart/2018/2/layout/IconCircleList"/>
    <dgm:cxn modelId="{85353D85-E14C-4E70-BF2C-E086E097BD80}" type="presParOf" srcId="{BC0B0A5D-B2B4-4015-BB1A-89458C83BFA7}" destId="{DB5E199C-475A-4405-9160-0274DCEFF469}" srcOrd="1" destOrd="0" presId="urn:microsoft.com/office/officeart/2018/2/layout/IconCircleList"/>
    <dgm:cxn modelId="{30E6CD6C-F16C-4B77-B387-84129DCD89AC}" type="presParOf" srcId="{BC0B0A5D-B2B4-4015-BB1A-89458C83BFA7}" destId="{5948F81D-327C-4290-8D32-41E645BE71F9}" srcOrd="2" destOrd="0" presId="urn:microsoft.com/office/officeart/2018/2/layout/IconCircleList"/>
    <dgm:cxn modelId="{F006577F-0697-4056-B95F-3186ADE7F819}" type="presParOf" srcId="{BC0B0A5D-B2B4-4015-BB1A-89458C83BFA7}" destId="{30046AC6-2DF9-4078-B994-DEECBD94381B}" srcOrd="3" destOrd="0" presId="urn:microsoft.com/office/officeart/2018/2/layout/IconCircleList"/>
    <dgm:cxn modelId="{75C394C4-015A-4092-93BC-EC5CE852CA59}" type="presParOf" srcId="{F2462C06-87B1-40E0-945D-298EDB8B6DC4}" destId="{B5D95F32-B1AE-4521-87F9-D699B971B188}" srcOrd="5" destOrd="0" presId="urn:microsoft.com/office/officeart/2018/2/layout/IconCircleList"/>
    <dgm:cxn modelId="{F788AC25-EBB4-46A1-B475-CAC24DEA89EE}" type="presParOf" srcId="{F2462C06-87B1-40E0-945D-298EDB8B6DC4}" destId="{59533DFE-62AA-4BB3-BDD5-3BFED274C0CE}" srcOrd="6" destOrd="0" presId="urn:microsoft.com/office/officeart/2018/2/layout/IconCircleList"/>
    <dgm:cxn modelId="{97B207C1-CE87-497E-8FCF-4183EF0F79B0}" type="presParOf" srcId="{59533DFE-62AA-4BB3-BDD5-3BFED274C0CE}" destId="{3848C8CD-95BD-40DF-97F5-8B34B80CBDA4}" srcOrd="0" destOrd="0" presId="urn:microsoft.com/office/officeart/2018/2/layout/IconCircleList"/>
    <dgm:cxn modelId="{D4E5F20F-C5A0-403A-A844-76B8B22D4262}" type="presParOf" srcId="{59533DFE-62AA-4BB3-BDD5-3BFED274C0CE}" destId="{4FB12E7D-DADF-46AB-8AF5-2BD93C15C683}" srcOrd="1" destOrd="0" presId="urn:microsoft.com/office/officeart/2018/2/layout/IconCircleList"/>
    <dgm:cxn modelId="{7F3CDC47-9B1F-44E3-B301-0DE3A8FA8D3F}" type="presParOf" srcId="{59533DFE-62AA-4BB3-BDD5-3BFED274C0CE}" destId="{3307ADBF-110D-4E9C-B032-A582484D9335}" srcOrd="2" destOrd="0" presId="urn:microsoft.com/office/officeart/2018/2/layout/IconCircleList"/>
    <dgm:cxn modelId="{3AD2AEAE-21EF-445D-8E9E-55C7B49D6EEB}" type="presParOf" srcId="{59533DFE-62AA-4BB3-BDD5-3BFED274C0CE}" destId="{3A4336DF-D1E9-475B-90AA-EBCCD3B2E07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90A06D-8375-415A-8C10-D89E2F37B63E}"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10D7DFDD-498B-479A-B609-CCF47D9AD3CB}">
      <dgm:prSet/>
      <dgm:spPr/>
      <dgm:t>
        <a:bodyPr/>
        <a:lstStyle/>
        <a:p>
          <a:r>
            <a:rPr lang="en-US" b="1"/>
            <a:t>Indexes:</a:t>
          </a:r>
          <a:endParaRPr lang="en-US"/>
        </a:p>
      </dgm:t>
    </dgm:pt>
    <dgm:pt modelId="{D79694EE-4E0E-45C6-BAD4-C8F9D858111E}" type="parTrans" cxnId="{4CB95C7E-042F-4262-B8EC-E05EA1E96F46}">
      <dgm:prSet/>
      <dgm:spPr/>
      <dgm:t>
        <a:bodyPr/>
        <a:lstStyle/>
        <a:p>
          <a:endParaRPr lang="en-US"/>
        </a:p>
      </dgm:t>
    </dgm:pt>
    <dgm:pt modelId="{82D8AD51-4201-49FD-A609-135FA9160414}" type="sibTrans" cxnId="{4CB95C7E-042F-4262-B8EC-E05EA1E96F46}">
      <dgm:prSet/>
      <dgm:spPr/>
      <dgm:t>
        <a:bodyPr/>
        <a:lstStyle/>
        <a:p>
          <a:endParaRPr lang="en-US"/>
        </a:p>
      </dgm:t>
    </dgm:pt>
    <dgm:pt modelId="{B431819C-A21B-43CF-B57D-13A51F657E2C}">
      <dgm:prSet/>
      <dgm:spPr/>
      <dgm:t>
        <a:bodyPr/>
        <a:lstStyle/>
        <a:p>
          <a:r>
            <a:rPr lang="en-US" b="1" dirty="0"/>
            <a:t>Local Secondary Index (LSI): </a:t>
          </a:r>
          <a:endParaRPr lang="en-US" dirty="0"/>
        </a:p>
      </dgm:t>
    </dgm:pt>
    <dgm:pt modelId="{A9AE1DF1-1D3C-480B-908C-3533BF1717E9}" type="parTrans" cxnId="{B4A8B49C-BE78-4850-B918-272EF8340E03}">
      <dgm:prSet/>
      <dgm:spPr/>
      <dgm:t>
        <a:bodyPr/>
        <a:lstStyle/>
        <a:p>
          <a:endParaRPr lang="en-US"/>
        </a:p>
      </dgm:t>
    </dgm:pt>
    <dgm:pt modelId="{9B8E7AA8-F9CA-47B7-A608-9B4C33FF3149}" type="sibTrans" cxnId="{B4A8B49C-BE78-4850-B918-272EF8340E03}">
      <dgm:prSet/>
      <dgm:spPr/>
      <dgm:t>
        <a:bodyPr/>
        <a:lstStyle/>
        <a:p>
          <a:endParaRPr lang="en-US"/>
        </a:p>
      </dgm:t>
    </dgm:pt>
    <dgm:pt modelId="{B13D3096-5B22-4CF4-BF83-8EDA46EB640F}">
      <dgm:prSet/>
      <dgm:spPr/>
      <dgm:t>
        <a:bodyPr/>
        <a:lstStyle/>
        <a:p>
          <a:r>
            <a:rPr lang="en-US" dirty="0"/>
            <a:t>Uses the same partition key as the base table but a different sort key. </a:t>
          </a:r>
        </a:p>
      </dgm:t>
    </dgm:pt>
    <dgm:pt modelId="{D197750F-A139-41C1-BA99-7E4392EEE0BF}" type="parTrans" cxnId="{D99A4B92-8091-4F56-A830-E08EEAABA0F3}">
      <dgm:prSet/>
      <dgm:spPr/>
      <dgm:t>
        <a:bodyPr/>
        <a:lstStyle/>
        <a:p>
          <a:endParaRPr lang="en-US"/>
        </a:p>
      </dgm:t>
    </dgm:pt>
    <dgm:pt modelId="{D3A42552-F74A-46F1-8662-AE2B34D327CF}" type="sibTrans" cxnId="{D99A4B92-8091-4F56-A830-E08EEAABA0F3}">
      <dgm:prSet/>
      <dgm:spPr/>
      <dgm:t>
        <a:bodyPr/>
        <a:lstStyle/>
        <a:p>
          <a:endParaRPr lang="en-US"/>
        </a:p>
      </dgm:t>
    </dgm:pt>
    <dgm:pt modelId="{2A2CB3AF-6BFB-40FC-86B2-569AE3ACC83F}">
      <dgm:prSet/>
      <dgm:spPr/>
      <dgm:t>
        <a:bodyPr/>
        <a:lstStyle/>
        <a:p>
          <a:r>
            <a:rPr lang="en-US" dirty="0"/>
            <a:t>Can only be defined at table creation.</a:t>
          </a:r>
        </a:p>
      </dgm:t>
    </dgm:pt>
    <dgm:pt modelId="{BD08A7AF-C183-47E3-9E3E-AC5C0AB448CC}" type="parTrans" cxnId="{98FC5732-5A02-4787-9D8C-AE6B21BFCED3}">
      <dgm:prSet/>
      <dgm:spPr/>
      <dgm:t>
        <a:bodyPr/>
        <a:lstStyle/>
        <a:p>
          <a:endParaRPr lang="en-US"/>
        </a:p>
      </dgm:t>
    </dgm:pt>
    <dgm:pt modelId="{22FB47F4-60AA-4C54-8587-038A0E009FF6}" type="sibTrans" cxnId="{98FC5732-5A02-4787-9D8C-AE6B21BFCED3}">
      <dgm:prSet/>
      <dgm:spPr/>
      <dgm:t>
        <a:bodyPr/>
        <a:lstStyle/>
        <a:p>
          <a:endParaRPr lang="en-US"/>
        </a:p>
      </dgm:t>
    </dgm:pt>
    <dgm:pt modelId="{E37A86C6-FA51-4A87-AC0A-5089979A9E9B}">
      <dgm:prSet/>
      <dgm:spPr/>
      <dgm:t>
        <a:bodyPr/>
        <a:lstStyle/>
        <a:p>
          <a:r>
            <a:rPr lang="en-US" b="1" dirty="0"/>
            <a:t>Global Secondary Index (GSI):</a:t>
          </a:r>
          <a:endParaRPr lang="en-US" dirty="0"/>
        </a:p>
      </dgm:t>
    </dgm:pt>
    <dgm:pt modelId="{920D120D-9377-4344-B390-9C27C651A630}" type="parTrans" cxnId="{C80FF6E7-FCE0-42EA-820A-5C72A6F371A7}">
      <dgm:prSet/>
      <dgm:spPr/>
      <dgm:t>
        <a:bodyPr/>
        <a:lstStyle/>
        <a:p>
          <a:endParaRPr lang="en-US"/>
        </a:p>
      </dgm:t>
    </dgm:pt>
    <dgm:pt modelId="{495784A7-3659-463A-8B2F-9901067B826F}" type="sibTrans" cxnId="{C80FF6E7-FCE0-42EA-820A-5C72A6F371A7}">
      <dgm:prSet/>
      <dgm:spPr/>
      <dgm:t>
        <a:bodyPr/>
        <a:lstStyle/>
        <a:p>
          <a:endParaRPr lang="en-US"/>
        </a:p>
      </dgm:t>
    </dgm:pt>
    <dgm:pt modelId="{31A5B22E-CD16-43E0-B07A-1E6FDD88181E}">
      <dgm:prSet/>
      <dgm:spPr/>
      <dgm:t>
        <a:bodyPr/>
        <a:lstStyle/>
        <a:p>
          <a:r>
            <a:rPr lang="en-US" dirty="0"/>
            <a:t>Can have different partition and sort keys than the base table.</a:t>
          </a:r>
        </a:p>
      </dgm:t>
    </dgm:pt>
    <dgm:pt modelId="{9F64EC2C-E222-463B-8B9C-7E02E6331AF3}" type="parTrans" cxnId="{06F1A16A-C208-49A4-993E-2BFE9B49F838}">
      <dgm:prSet/>
      <dgm:spPr/>
      <dgm:t>
        <a:bodyPr/>
        <a:lstStyle/>
        <a:p>
          <a:endParaRPr lang="en-US"/>
        </a:p>
      </dgm:t>
    </dgm:pt>
    <dgm:pt modelId="{F7A50E13-E7EE-4246-A1F6-DA82491C8943}" type="sibTrans" cxnId="{06F1A16A-C208-49A4-993E-2BFE9B49F838}">
      <dgm:prSet/>
      <dgm:spPr/>
      <dgm:t>
        <a:bodyPr/>
        <a:lstStyle/>
        <a:p>
          <a:endParaRPr lang="en-US"/>
        </a:p>
      </dgm:t>
    </dgm:pt>
    <dgm:pt modelId="{3FAD2850-21FA-442D-8895-A154501D41DE}">
      <dgm:prSet/>
      <dgm:spPr/>
      <dgm:t>
        <a:bodyPr/>
        <a:lstStyle/>
        <a:p>
          <a:r>
            <a:rPr lang="en-US" dirty="0"/>
            <a:t>Can access any attribute, not just primary key. </a:t>
          </a:r>
        </a:p>
      </dgm:t>
    </dgm:pt>
    <dgm:pt modelId="{E9F44585-EA21-491C-BD68-0882438FF298}" type="parTrans" cxnId="{AE9EB7B4-5103-41C0-BB1F-3E5EAE6764FC}">
      <dgm:prSet/>
      <dgm:spPr/>
      <dgm:t>
        <a:bodyPr/>
        <a:lstStyle/>
        <a:p>
          <a:endParaRPr lang="en-US"/>
        </a:p>
      </dgm:t>
    </dgm:pt>
    <dgm:pt modelId="{5F349122-AB1B-4D4B-9856-3C4FB1CDB3CB}" type="sibTrans" cxnId="{AE9EB7B4-5103-41C0-BB1F-3E5EAE6764FC}">
      <dgm:prSet/>
      <dgm:spPr/>
      <dgm:t>
        <a:bodyPr/>
        <a:lstStyle/>
        <a:p>
          <a:endParaRPr lang="en-US"/>
        </a:p>
      </dgm:t>
    </dgm:pt>
    <dgm:pt modelId="{27DFB625-3811-405D-B4AB-932C41440A35}">
      <dgm:prSet/>
      <dgm:spPr/>
      <dgm:t>
        <a:bodyPr/>
        <a:lstStyle/>
        <a:p>
          <a:r>
            <a:rPr lang="en-US" dirty="0"/>
            <a:t>Can be created any time.</a:t>
          </a:r>
        </a:p>
      </dgm:t>
    </dgm:pt>
    <dgm:pt modelId="{BC315DB8-DC0D-4853-A449-7C132730D769}" type="parTrans" cxnId="{BC117B0E-7A86-4DC0-838B-ACBD94508FAC}">
      <dgm:prSet/>
      <dgm:spPr/>
      <dgm:t>
        <a:bodyPr/>
        <a:lstStyle/>
        <a:p>
          <a:endParaRPr lang="en-US"/>
        </a:p>
      </dgm:t>
    </dgm:pt>
    <dgm:pt modelId="{ED7E6B52-F5BA-49A1-82A8-12FE4C608520}" type="sibTrans" cxnId="{BC117B0E-7A86-4DC0-838B-ACBD94508FAC}">
      <dgm:prSet/>
      <dgm:spPr/>
      <dgm:t>
        <a:bodyPr/>
        <a:lstStyle/>
        <a:p>
          <a:endParaRPr lang="en-US"/>
        </a:p>
      </dgm:t>
    </dgm:pt>
    <dgm:pt modelId="{FA11007F-FF90-487D-B7C5-387390EBC2F7}" type="pres">
      <dgm:prSet presAssocID="{E590A06D-8375-415A-8C10-D89E2F37B63E}" presName="Name0" presStyleCnt="0">
        <dgm:presLayoutVars>
          <dgm:dir/>
          <dgm:animLvl val="lvl"/>
          <dgm:resizeHandles val="exact"/>
        </dgm:presLayoutVars>
      </dgm:prSet>
      <dgm:spPr/>
    </dgm:pt>
    <dgm:pt modelId="{6208431F-B162-4876-9314-375577CF46C4}" type="pres">
      <dgm:prSet presAssocID="{10D7DFDD-498B-479A-B609-CCF47D9AD3CB}" presName="composite" presStyleCnt="0"/>
      <dgm:spPr/>
    </dgm:pt>
    <dgm:pt modelId="{ADDA518A-9DB5-4071-ACD4-3F9DA16B4F75}" type="pres">
      <dgm:prSet presAssocID="{10D7DFDD-498B-479A-B609-CCF47D9AD3CB}" presName="parTx" presStyleLbl="alignNode1" presStyleIdx="0" presStyleCnt="1">
        <dgm:presLayoutVars>
          <dgm:chMax val="0"/>
          <dgm:chPref val="0"/>
          <dgm:bulletEnabled val="1"/>
        </dgm:presLayoutVars>
      </dgm:prSet>
      <dgm:spPr/>
    </dgm:pt>
    <dgm:pt modelId="{BA6E8296-8988-46A9-9604-A5CEF7CA1744}" type="pres">
      <dgm:prSet presAssocID="{10D7DFDD-498B-479A-B609-CCF47D9AD3CB}" presName="desTx" presStyleLbl="alignAccFollowNode1" presStyleIdx="0" presStyleCnt="1">
        <dgm:presLayoutVars>
          <dgm:bulletEnabled val="1"/>
        </dgm:presLayoutVars>
      </dgm:prSet>
      <dgm:spPr/>
    </dgm:pt>
  </dgm:ptLst>
  <dgm:cxnLst>
    <dgm:cxn modelId="{6CF65008-C730-413C-9613-6533B445BB20}" type="presOf" srcId="{2A2CB3AF-6BFB-40FC-86B2-569AE3ACC83F}" destId="{BA6E8296-8988-46A9-9604-A5CEF7CA1744}" srcOrd="0" destOrd="2" presId="urn:microsoft.com/office/officeart/2005/8/layout/hList1"/>
    <dgm:cxn modelId="{BC117B0E-7A86-4DC0-838B-ACBD94508FAC}" srcId="{E37A86C6-FA51-4A87-AC0A-5089979A9E9B}" destId="{27DFB625-3811-405D-B4AB-932C41440A35}" srcOrd="2" destOrd="0" parTransId="{BC315DB8-DC0D-4853-A449-7C132730D769}" sibTransId="{ED7E6B52-F5BA-49A1-82A8-12FE4C608520}"/>
    <dgm:cxn modelId="{931DE116-2B86-4646-B2A4-1AD1FD68372D}" type="presOf" srcId="{10D7DFDD-498B-479A-B609-CCF47D9AD3CB}" destId="{ADDA518A-9DB5-4071-ACD4-3F9DA16B4F75}" srcOrd="0" destOrd="0" presId="urn:microsoft.com/office/officeart/2005/8/layout/hList1"/>
    <dgm:cxn modelId="{275CE82A-7AD5-426A-8243-32CFF7C9ADF3}" type="presOf" srcId="{E590A06D-8375-415A-8C10-D89E2F37B63E}" destId="{FA11007F-FF90-487D-B7C5-387390EBC2F7}" srcOrd="0" destOrd="0" presId="urn:microsoft.com/office/officeart/2005/8/layout/hList1"/>
    <dgm:cxn modelId="{98FC5732-5A02-4787-9D8C-AE6B21BFCED3}" srcId="{B431819C-A21B-43CF-B57D-13A51F657E2C}" destId="{2A2CB3AF-6BFB-40FC-86B2-569AE3ACC83F}" srcOrd="1" destOrd="0" parTransId="{BD08A7AF-C183-47E3-9E3E-AC5C0AB448CC}" sibTransId="{22FB47F4-60AA-4C54-8587-038A0E009FF6}"/>
    <dgm:cxn modelId="{FDFF2F5C-2063-4E4E-A4BF-53996356B8D4}" type="presOf" srcId="{B13D3096-5B22-4CF4-BF83-8EDA46EB640F}" destId="{BA6E8296-8988-46A9-9604-A5CEF7CA1744}" srcOrd="0" destOrd="1" presId="urn:microsoft.com/office/officeart/2005/8/layout/hList1"/>
    <dgm:cxn modelId="{06F1A16A-C208-49A4-993E-2BFE9B49F838}" srcId="{E37A86C6-FA51-4A87-AC0A-5089979A9E9B}" destId="{31A5B22E-CD16-43E0-B07A-1E6FDD88181E}" srcOrd="0" destOrd="0" parTransId="{9F64EC2C-E222-463B-8B9C-7E02E6331AF3}" sibTransId="{F7A50E13-E7EE-4246-A1F6-DA82491C8943}"/>
    <dgm:cxn modelId="{4CB95C7E-042F-4262-B8EC-E05EA1E96F46}" srcId="{E590A06D-8375-415A-8C10-D89E2F37B63E}" destId="{10D7DFDD-498B-479A-B609-CCF47D9AD3CB}" srcOrd="0" destOrd="0" parTransId="{D79694EE-4E0E-45C6-BAD4-C8F9D858111E}" sibTransId="{82D8AD51-4201-49FD-A609-135FA9160414}"/>
    <dgm:cxn modelId="{D99A4B92-8091-4F56-A830-E08EEAABA0F3}" srcId="{B431819C-A21B-43CF-B57D-13A51F657E2C}" destId="{B13D3096-5B22-4CF4-BF83-8EDA46EB640F}" srcOrd="0" destOrd="0" parTransId="{D197750F-A139-41C1-BA99-7E4392EEE0BF}" sibTransId="{D3A42552-F74A-46F1-8662-AE2B34D327CF}"/>
    <dgm:cxn modelId="{B4A8B49C-BE78-4850-B918-272EF8340E03}" srcId="{10D7DFDD-498B-479A-B609-CCF47D9AD3CB}" destId="{B431819C-A21B-43CF-B57D-13A51F657E2C}" srcOrd="0" destOrd="0" parTransId="{A9AE1DF1-1D3C-480B-908C-3533BF1717E9}" sibTransId="{9B8E7AA8-F9CA-47B7-A608-9B4C33FF3149}"/>
    <dgm:cxn modelId="{922411A9-D7D5-433E-92E6-27D955371995}" type="presOf" srcId="{3FAD2850-21FA-442D-8895-A154501D41DE}" destId="{BA6E8296-8988-46A9-9604-A5CEF7CA1744}" srcOrd="0" destOrd="5" presId="urn:microsoft.com/office/officeart/2005/8/layout/hList1"/>
    <dgm:cxn modelId="{D5CDCBAE-87D9-4B87-8AD8-3B5123AA1E3B}" type="presOf" srcId="{27DFB625-3811-405D-B4AB-932C41440A35}" destId="{BA6E8296-8988-46A9-9604-A5CEF7CA1744}" srcOrd="0" destOrd="6" presId="urn:microsoft.com/office/officeart/2005/8/layout/hList1"/>
    <dgm:cxn modelId="{AE9EB7B4-5103-41C0-BB1F-3E5EAE6764FC}" srcId="{E37A86C6-FA51-4A87-AC0A-5089979A9E9B}" destId="{3FAD2850-21FA-442D-8895-A154501D41DE}" srcOrd="1" destOrd="0" parTransId="{E9F44585-EA21-491C-BD68-0882438FF298}" sibTransId="{5F349122-AB1B-4D4B-9856-3C4FB1CDB3CB}"/>
    <dgm:cxn modelId="{99E166BE-FD8B-4BC2-BCA4-97C1D14C77F6}" type="presOf" srcId="{E37A86C6-FA51-4A87-AC0A-5089979A9E9B}" destId="{BA6E8296-8988-46A9-9604-A5CEF7CA1744}" srcOrd="0" destOrd="3" presId="urn:microsoft.com/office/officeart/2005/8/layout/hList1"/>
    <dgm:cxn modelId="{F65CBCD2-8EB6-4135-A928-EDA14F0F5AB6}" type="presOf" srcId="{31A5B22E-CD16-43E0-B07A-1E6FDD88181E}" destId="{BA6E8296-8988-46A9-9604-A5CEF7CA1744}" srcOrd="0" destOrd="4" presId="urn:microsoft.com/office/officeart/2005/8/layout/hList1"/>
    <dgm:cxn modelId="{723441D7-878D-49A3-8F9C-9BAF42E6D630}" type="presOf" srcId="{B431819C-A21B-43CF-B57D-13A51F657E2C}" destId="{BA6E8296-8988-46A9-9604-A5CEF7CA1744}" srcOrd="0" destOrd="0" presId="urn:microsoft.com/office/officeart/2005/8/layout/hList1"/>
    <dgm:cxn modelId="{C80FF6E7-FCE0-42EA-820A-5C72A6F371A7}" srcId="{10D7DFDD-498B-479A-B609-CCF47D9AD3CB}" destId="{E37A86C6-FA51-4A87-AC0A-5089979A9E9B}" srcOrd="1" destOrd="0" parTransId="{920D120D-9377-4344-B390-9C27C651A630}" sibTransId="{495784A7-3659-463A-8B2F-9901067B826F}"/>
    <dgm:cxn modelId="{7718FCED-BFBC-46BD-9BC8-2189C8B4D82C}" type="presParOf" srcId="{FA11007F-FF90-487D-B7C5-387390EBC2F7}" destId="{6208431F-B162-4876-9314-375577CF46C4}" srcOrd="0" destOrd="0" presId="urn:microsoft.com/office/officeart/2005/8/layout/hList1"/>
    <dgm:cxn modelId="{79415E6F-9975-4C15-8A82-D7074D08A692}" type="presParOf" srcId="{6208431F-B162-4876-9314-375577CF46C4}" destId="{ADDA518A-9DB5-4071-ACD4-3F9DA16B4F75}" srcOrd="0" destOrd="0" presId="urn:microsoft.com/office/officeart/2005/8/layout/hList1"/>
    <dgm:cxn modelId="{119CF3FC-0AC9-4901-A0E4-9B0385FAA84E}" type="presParOf" srcId="{6208431F-B162-4876-9314-375577CF46C4}" destId="{BA6E8296-8988-46A9-9604-A5CEF7CA174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9DA70C-25B3-4217-BF47-A8502C8BACD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9E0F1BD-69E6-46B3-9811-BA7A83F6D2E8}">
      <dgm:prSet/>
      <dgm:spPr/>
      <dgm:t>
        <a:bodyPr/>
        <a:lstStyle/>
        <a:p>
          <a:r>
            <a:rPr lang="en-US" dirty="0"/>
            <a:t>DynamoDB offers two capacity modes, </a:t>
          </a:r>
        </a:p>
      </dgm:t>
    </dgm:pt>
    <dgm:pt modelId="{DCAB4895-F65B-4587-A8D2-F0014FEB5F9A}" type="parTrans" cxnId="{4F376D37-F48D-48AD-8FFE-9F3A031DA4F3}">
      <dgm:prSet/>
      <dgm:spPr/>
      <dgm:t>
        <a:bodyPr/>
        <a:lstStyle/>
        <a:p>
          <a:endParaRPr lang="en-US"/>
        </a:p>
      </dgm:t>
    </dgm:pt>
    <dgm:pt modelId="{78D83631-B3C7-4791-9989-E221EA062A8F}" type="sibTrans" cxnId="{4F376D37-F48D-48AD-8FFE-9F3A031DA4F3}">
      <dgm:prSet/>
      <dgm:spPr/>
      <dgm:t>
        <a:bodyPr/>
        <a:lstStyle/>
        <a:p>
          <a:endParaRPr lang="en-US"/>
        </a:p>
      </dgm:t>
    </dgm:pt>
    <dgm:pt modelId="{83A1C0B6-4A6F-42F2-9F6D-D0C25184BB45}">
      <dgm:prSet/>
      <dgm:spPr/>
      <dgm:t>
        <a:bodyPr/>
        <a:lstStyle/>
        <a:p>
          <a:r>
            <a:rPr lang="en-US" b="1"/>
            <a:t>1. Provisioned Capacity: </a:t>
          </a:r>
          <a:endParaRPr lang="en-US"/>
        </a:p>
      </dgm:t>
    </dgm:pt>
    <dgm:pt modelId="{6B987C83-94D0-4432-946B-BCAC77BBB979}" type="parTrans" cxnId="{CF82351A-D13A-4080-8C70-73178297B0F9}">
      <dgm:prSet/>
      <dgm:spPr/>
      <dgm:t>
        <a:bodyPr/>
        <a:lstStyle/>
        <a:p>
          <a:endParaRPr lang="en-US"/>
        </a:p>
      </dgm:t>
    </dgm:pt>
    <dgm:pt modelId="{E4AFBB99-26AB-4C45-8F00-DE376CE37223}" type="sibTrans" cxnId="{CF82351A-D13A-4080-8C70-73178297B0F9}">
      <dgm:prSet/>
      <dgm:spPr/>
      <dgm:t>
        <a:bodyPr/>
        <a:lstStyle/>
        <a:p>
          <a:endParaRPr lang="en-US"/>
        </a:p>
      </dgm:t>
    </dgm:pt>
    <dgm:pt modelId="{B8935900-D39E-41EB-B07E-09FD9F1C19E2}">
      <dgm:prSet/>
      <dgm:spPr/>
      <dgm:t>
        <a:bodyPr/>
        <a:lstStyle/>
        <a:p>
          <a:r>
            <a:rPr lang="en-US"/>
            <a:t>You manually define Read Capacity Units (RCUs) and Write Capacity Units (WCUs). </a:t>
          </a:r>
        </a:p>
      </dgm:t>
    </dgm:pt>
    <dgm:pt modelId="{6AB0653F-188D-471E-AD55-AE657C843D34}" type="parTrans" cxnId="{7EBD123E-E3F2-4C95-840A-E0C9FCA66195}">
      <dgm:prSet/>
      <dgm:spPr/>
      <dgm:t>
        <a:bodyPr/>
        <a:lstStyle/>
        <a:p>
          <a:endParaRPr lang="en-US"/>
        </a:p>
      </dgm:t>
    </dgm:pt>
    <dgm:pt modelId="{0481B295-3A18-40D8-8BBF-0BD39ACA7DC5}" type="sibTrans" cxnId="{7EBD123E-E3F2-4C95-840A-E0C9FCA66195}">
      <dgm:prSet/>
      <dgm:spPr/>
      <dgm:t>
        <a:bodyPr/>
        <a:lstStyle/>
        <a:p>
          <a:endParaRPr lang="en-US"/>
        </a:p>
      </dgm:t>
    </dgm:pt>
    <dgm:pt modelId="{4DACB828-CCD5-4264-9560-D63F22563EB5}">
      <dgm:prSet/>
      <dgm:spPr/>
      <dgm:t>
        <a:bodyPr/>
        <a:lstStyle/>
        <a:p>
          <a:r>
            <a:rPr lang="en-US"/>
            <a:t>Ideal for predictable workloads. </a:t>
          </a:r>
        </a:p>
      </dgm:t>
    </dgm:pt>
    <dgm:pt modelId="{E8F2C4D5-DFB6-4B3D-98DE-5DE8D39BABC6}" type="parTrans" cxnId="{B5DCE56A-819B-4FD6-BE13-30C67B576D1E}">
      <dgm:prSet/>
      <dgm:spPr/>
      <dgm:t>
        <a:bodyPr/>
        <a:lstStyle/>
        <a:p>
          <a:endParaRPr lang="en-US"/>
        </a:p>
      </dgm:t>
    </dgm:pt>
    <dgm:pt modelId="{54A81BAA-8AC3-4457-BE10-8BC3E137C262}" type="sibTrans" cxnId="{B5DCE56A-819B-4FD6-BE13-30C67B576D1E}">
      <dgm:prSet/>
      <dgm:spPr/>
      <dgm:t>
        <a:bodyPr/>
        <a:lstStyle/>
        <a:p>
          <a:endParaRPr lang="en-US"/>
        </a:p>
      </dgm:t>
    </dgm:pt>
    <dgm:pt modelId="{F3C1A679-1E06-45B4-885E-B573B76A1033}">
      <dgm:prSet/>
      <dgm:spPr/>
      <dgm:t>
        <a:bodyPr/>
        <a:lstStyle/>
        <a:p>
          <a:r>
            <a:rPr lang="en-US"/>
            <a:t>Supports Auto Scaling to adjust capacity as needed.</a:t>
          </a:r>
        </a:p>
      </dgm:t>
    </dgm:pt>
    <dgm:pt modelId="{4BF6BDCB-0C69-4714-BD89-0E0E0FDC3B7B}" type="parTrans" cxnId="{70225E56-8416-4D4F-9DB1-4B4BF13BFC0A}">
      <dgm:prSet/>
      <dgm:spPr/>
      <dgm:t>
        <a:bodyPr/>
        <a:lstStyle/>
        <a:p>
          <a:endParaRPr lang="en-US"/>
        </a:p>
      </dgm:t>
    </dgm:pt>
    <dgm:pt modelId="{47DD191B-D3D7-4D1F-ACF9-025529442469}" type="sibTrans" cxnId="{70225E56-8416-4D4F-9DB1-4B4BF13BFC0A}">
      <dgm:prSet/>
      <dgm:spPr/>
      <dgm:t>
        <a:bodyPr/>
        <a:lstStyle/>
        <a:p>
          <a:endParaRPr lang="en-US"/>
        </a:p>
      </dgm:t>
    </dgm:pt>
    <dgm:pt modelId="{506E2E3B-A80F-4294-98FB-744E1CD99F2B}">
      <dgm:prSet/>
      <dgm:spPr/>
      <dgm:t>
        <a:bodyPr/>
        <a:lstStyle/>
        <a:p>
          <a:r>
            <a:rPr lang="en-US" b="1"/>
            <a:t>You pay for:</a:t>
          </a:r>
          <a:endParaRPr lang="en-US"/>
        </a:p>
      </dgm:t>
    </dgm:pt>
    <dgm:pt modelId="{20D6C540-8629-43BB-959B-2D900448B95C}" type="parTrans" cxnId="{58534374-201E-4B9F-BFC4-EB1B638C82AC}">
      <dgm:prSet/>
      <dgm:spPr/>
      <dgm:t>
        <a:bodyPr/>
        <a:lstStyle/>
        <a:p>
          <a:endParaRPr lang="en-US"/>
        </a:p>
      </dgm:t>
    </dgm:pt>
    <dgm:pt modelId="{04008E88-4510-4957-B156-BD020727D3A3}" type="sibTrans" cxnId="{58534374-201E-4B9F-BFC4-EB1B638C82AC}">
      <dgm:prSet/>
      <dgm:spPr/>
      <dgm:t>
        <a:bodyPr/>
        <a:lstStyle/>
        <a:p>
          <a:endParaRPr lang="en-US"/>
        </a:p>
      </dgm:t>
    </dgm:pt>
    <dgm:pt modelId="{10B25CB1-BA00-4D0A-BDF5-135FECAE5917}">
      <dgm:prSet/>
      <dgm:spPr/>
      <dgm:t>
        <a:bodyPr/>
        <a:lstStyle/>
        <a:p>
          <a:r>
            <a:rPr lang="en-US" dirty="0"/>
            <a:t>▪ RCUs: 1 RCU = 1 strongly consistent read/sec for items up to 4KB. </a:t>
          </a:r>
        </a:p>
      </dgm:t>
    </dgm:pt>
    <dgm:pt modelId="{CBE6F93C-F28B-44CC-9593-3E5F7DF1EDB7}" type="parTrans" cxnId="{71DE028D-671D-44F5-89D7-3721C6E6052B}">
      <dgm:prSet/>
      <dgm:spPr/>
      <dgm:t>
        <a:bodyPr/>
        <a:lstStyle/>
        <a:p>
          <a:endParaRPr lang="en-US"/>
        </a:p>
      </dgm:t>
    </dgm:pt>
    <dgm:pt modelId="{46C93D11-ABA2-44FF-8538-80162670E075}" type="sibTrans" cxnId="{71DE028D-671D-44F5-89D7-3721C6E6052B}">
      <dgm:prSet/>
      <dgm:spPr/>
      <dgm:t>
        <a:bodyPr/>
        <a:lstStyle/>
        <a:p>
          <a:endParaRPr lang="en-US"/>
        </a:p>
      </dgm:t>
    </dgm:pt>
    <dgm:pt modelId="{205AAD83-3BDE-4460-BD75-817DD0D52370}">
      <dgm:prSet/>
      <dgm:spPr/>
      <dgm:t>
        <a:bodyPr/>
        <a:lstStyle/>
        <a:p>
          <a:r>
            <a:rPr lang="en-US" dirty="0"/>
            <a:t>▪ WCUs: 1 WCU = 1 write/sec for items up to 1KB.</a:t>
          </a:r>
        </a:p>
      </dgm:t>
    </dgm:pt>
    <dgm:pt modelId="{041F25A6-5BBE-45F6-B5A5-F4011E349B35}" type="parTrans" cxnId="{D8C6BC63-C903-4001-B4DE-E44F1CEFF5A3}">
      <dgm:prSet/>
      <dgm:spPr/>
      <dgm:t>
        <a:bodyPr/>
        <a:lstStyle/>
        <a:p>
          <a:endParaRPr lang="en-US"/>
        </a:p>
      </dgm:t>
    </dgm:pt>
    <dgm:pt modelId="{8BF4A412-2319-4A68-91AF-9836D0B7F6E2}" type="sibTrans" cxnId="{D8C6BC63-C903-4001-B4DE-E44F1CEFF5A3}">
      <dgm:prSet/>
      <dgm:spPr/>
      <dgm:t>
        <a:bodyPr/>
        <a:lstStyle/>
        <a:p>
          <a:endParaRPr lang="en-US"/>
        </a:p>
      </dgm:t>
    </dgm:pt>
    <dgm:pt modelId="{83348FE4-B022-468D-94BD-5A0B4EB6997F}">
      <dgm:prSet/>
      <dgm:spPr/>
      <dgm:t>
        <a:bodyPr/>
        <a:lstStyle/>
        <a:p>
          <a:r>
            <a:rPr lang="en-US" b="1"/>
            <a:t>Example: </a:t>
          </a:r>
          <a:endParaRPr lang="en-US"/>
        </a:p>
      </dgm:t>
    </dgm:pt>
    <dgm:pt modelId="{CB0A450F-57DE-484D-805F-05A7C59ABE73}" type="parTrans" cxnId="{6911FA44-5AF8-4681-BCF0-DB9CE9E9E812}">
      <dgm:prSet/>
      <dgm:spPr/>
      <dgm:t>
        <a:bodyPr/>
        <a:lstStyle/>
        <a:p>
          <a:endParaRPr lang="en-US"/>
        </a:p>
      </dgm:t>
    </dgm:pt>
    <dgm:pt modelId="{5B395818-F517-43B0-9757-677800CF1A0A}" type="sibTrans" cxnId="{6911FA44-5AF8-4681-BCF0-DB9CE9E9E812}">
      <dgm:prSet/>
      <dgm:spPr/>
      <dgm:t>
        <a:bodyPr/>
        <a:lstStyle/>
        <a:p>
          <a:endParaRPr lang="en-US"/>
        </a:p>
      </dgm:t>
    </dgm:pt>
    <dgm:pt modelId="{A4BD18AC-A409-46EF-8958-7FE72470B541}">
      <dgm:prSet/>
      <dgm:spPr/>
      <dgm:t>
        <a:bodyPr/>
        <a:lstStyle/>
        <a:p>
          <a:r>
            <a:rPr lang="en-US"/>
            <a:t>You set 10 RCUs and 5 WCUs: </a:t>
          </a:r>
        </a:p>
      </dgm:t>
    </dgm:pt>
    <dgm:pt modelId="{CBAEEA71-2255-47DE-9E67-654868F6DEAC}" type="parTrans" cxnId="{1E765C21-2671-40AE-8FE5-60F16A539099}">
      <dgm:prSet/>
      <dgm:spPr/>
      <dgm:t>
        <a:bodyPr/>
        <a:lstStyle/>
        <a:p>
          <a:endParaRPr lang="en-US"/>
        </a:p>
      </dgm:t>
    </dgm:pt>
    <dgm:pt modelId="{0E851120-804D-4D96-BA97-F5A798377638}" type="sibTrans" cxnId="{1E765C21-2671-40AE-8FE5-60F16A539099}">
      <dgm:prSet/>
      <dgm:spPr/>
      <dgm:t>
        <a:bodyPr/>
        <a:lstStyle/>
        <a:p>
          <a:endParaRPr lang="en-US"/>
        </a:p>
      </dgm:t>
    </dgm:pt>
    <dgm:pt modelId="{0147FDD0-3E11-431C-98AA-8EF2982AFD2B}">
      <dgm:prSet/>
      <dgm:spPr/>
      <dgm:t>
        <a:bodyPr/>
        <a:lstStyle/>
        <a:p>
          <a:r>
            <a:rPr lang="en-US"/>
            <a:t>You can read 40KB of data/sec (10 RCUs × 4KB). </a:t>
          </a:r>
        </a:p>
      </dgm:t>
    </dgm:pt>
    <dgm:pt modelId="{61C7AD38-F1FF-4975-A5B6-DC795708D696}" type="parTrans" cxnId="{6F1906B0-59B4-4E3F-BA36-D213FE885912}">
      <dgm:prSet/>
      <dgm:spPr/>
      <dgm:t>
        <a:bodyPr/>
        <a:lstStyle/>
        <a:p>
          <a:endParaRPr lang="en-US"/>
        </a:p>
      </dgm:t>
    </dgm:pt>
    <dgm:pt modelId="{1B02C356-66E6-4BF9-B39B-9AABFE47DFC0}" type="sibTrans" cxnId="{6F1906B0-59B4-4E3F-BA36-D213FE885912}">
      <dgm:prSet/>
      <dgm:spPr/>
      <dgm:t>
        <a:bodyPr/>
        <a:lstStyle/>
        <a:p>
          <a:endParaRPr lang="en-US"/>
        </a:p>
      </dgm:t>
    </dgm:pt>
    <dgm:pt modelId="{4F4AFD2D-BE8D-44A3-837B-27A9DD6C0461}">
      <dgm:prSet/>
      <dgm:spPr/>
      <dgm:t>
        <a:bodyPr/>
        <a:lstStyle/>
        <a:p>
          <a:r>
            <a:rPr lang="en-US"/>
            <a:t>You can write 5KB of data/sec (5 WCUs × 1KB).</a:t>
          </a:r>
        </a:p>
      </dgm:t>
    </dgm:pt>
    <dgm:pt modelId="{FB8BE71D-F74F-426E-B393-E2A1112A0069}" type="parTrans" cxnId="{B995EC95-4FE7-420D-952F-2DAF67389F2B}">
      <dgm:prSet/>
      <dgm:spPr/>
      <dgm:t>
        <a:bodyPr/>
        <a:lstStyle/>
        <a:p>
          <a:endParaRPr lang="en-US"/>
        </a:p>
      </dgm:t>
    </dgm:pt>
    <dgm:pt modelId="{C8AC6367-DBB3-4A40-9FAC-6A0BD63E3774}" type="sibTrans" cxnId="{B995EC95-4FE7-420D-952F-2DAF67389F2B}">
      <dgm:prSet/>
      <dgm:spPr/>
      <dgm:t>
        <a:bodyPr/>
        <a:lstStyle/>
        <a:p>
          <a:endParaRPr lang="en-US"/>
        </a:p>
      </dgm:t>
    </dgm:pt>
    <dgm:pt modelId="{80A49C91-D009-463E-A0C3-59A6D9223B14}" type="pres">
      <dgm:prSet presAssocID="{529DA70C-25B3-4217-BF47-A8502C8BACD0}" presName="linear" presStyleCnt="0">
        <dgm:presLayoutVars>
          <dgm:animLvl val="lvl"/>
          <dgm:resizeHandles val="exact"/>
        </dgm:presLayoutVars>
      </dgm:prSet>
      <dgm:spPr/>
    </dgm:pt>
    <dgm:pt modelId="{75284971-73A4-4844-A46B-84DCC80FE58F}" type="pres">
      <dgm:prSet presAssocID="{C9E0F1BD-69E6-46B3-9811-BA7A83F6D2E8}" presName="parentText" presStyleLbl="node1" presStyleIdx="0" presStyleCnt="7">
        <dgm:presLayoutVars>
          <dgm:chMax val="0"/>
          <dgm:bulletEnabled val="1"/>
        </dgm:presLayoutVars>
      </dgm:prSet>
      <dgm:spPr/>
    </dgm:pt>
    <dgm:pt modelId="{7765D09B-7744-4CC1-B9DA-FCB7ACA7D879}" type="pres">
      <dgm:prSet presAssocID="{78D83631-B3C7-4791-9989-E221EA062A8F}" presName="spacer" presStyleCnt="0"/>
      <dgm:spPr/>
    </dgm:pt>
    <dgm:pt modelId="{A2E371D6-C2BD-498D-843F-65B47E4C4C7F}" type="pres">
      <dgm:prSet presAssocID="{83A1C0B6-4A6F-42F2-9F6D-D0C25184BB45}" presName="parentText" presStyleLbl="node1" presStyleIdx="1" presStyleCnt="7">
        <dgm:presLayoutVars>
          <dgm:chMax val="0"/>
          <dgm:bulletEnabled val="1"/>
        </dgm:presLayoutVars>
      </dgm:prSet>
      <dgm:spPr/>
    </dgm:pt>
    <dgm:pt modelId="{C5426DF4-078D-484A-8A27-693C7071DA9B}" type="pres">
      <dgm:prSet presAssocID="{E4AFBB99-26AB-4C45-8F00-DE376CE37223}" presName="spacer" presStyleCnt="0"/>
      <dgm:spPr/>
    </dgm:pt>
    <dgm:pt modelId="{DF999909-FF71-4F01-AE88-A81885C732B4}" type="pres">
      <dgm:prSet presAssocID="{B8935900-D39E-41EB-B07E-09FD9F1C19E2}" presName="parentText" presStyleLbl="node1" presStyleIdx="2" presStyleCnt="7">
        <dgm:presLayoutVars>
          <dgm:chMax val="0"/>
          <dgm:bulletEnabled val="1"/>
        </dgm:presLayoutVars>
      </dgm:prSet>
      <dgm:spPr/>
    </dgm:pt>
    <dgm:pt modelId="{D4A0F534-9E92-4418-A51B-123F6B108E17}" type="pres">
      <dgm:prSet presAssocID="{0481B295-3A18-40D8-8BBF-0BD39ACA7DC5}" presName="spacer" presStyleCnt="0"/>
      <dgm:spPr/>
    </dgm:pt>
    <dgm:pt modelId="{24DB356A-2662-4710-B3EB-78C1805985EA}" type="pres">
      <dgm:prSet presAssocID="{4DACB828-CCD5-4264-9560-D63F22563EB5}" presName="parentText" presStyleLbl="node1" presStyleIdx="3" presStyleCnt="7">
        <dgm:presLayoutVars>
          <dgm:chMax val="0"/>
          <dgm:bulletEnabled val="1"/>
        </dgm:presLayoutVars>
      </dgm:prSet>
      <dgm:spPr/>
    </dgm:pt>
    <dgm:pt modelId="{013958FA-4431-4CD0-B8EB-0DDE85731B95}" type="pres">
      <dgm:prSet presAssocID="{54A81BAA-8AC3-4457-BE10-8BC3E137C262}" presName="spacer" presStyleCnt="0"/>
      <dgm:spPr/>
    </dgm:pt>
    <dgm:pt modelId="{6AECA671-8DDE-4236-AFBE-778C9F64E459}" type="pres">
      <dgm:prSet presAssocID="{F3C1A679-1E06-45B4-885E-B573B76A1033}" presName="parentText" presStyleLbl="node1" presStyleIdx="4" presStyleCnt="7">
        <dgm:presLayoutVars>
          <dgm:chMax val="0"/>
          <dgm:bulletEnabled val="1"/>
        </dgm:presLayoutVars>
      </dgm:prSet>
      <dgm:spPr/>
    </dgm:pt>
    <dgm:pt modelId="{351CE3E7-6AF8-4B43-A503-C9291C1BE862}" type="pres">
      <dgm:prSet presAssocID="{47DD191B-D3D7-4D1F-ACF9-025529442469}" presName="spacer" presStyleCnt="0"/>
      <dgm:spPr/>
    </dgm:pt>
    <dgm:pt modelId="{171CC064-2806-4804-8A9D-BE33DB4065AD}" type="pres">
      <dgm:prSet presAssocID="{506E2E3B-A80F-4294-98FB-744E1CD99F2B}" presName="parentText" presStyleLbl="node1" presStyleIdx="5" presStyleCnt="7">
        <dgm:presLayoutVars>
          <dgm:chMax val="0"/>
          <dgm:bulletEnabled val="1"/>
        </dgm:presLayoutVars>
      </dgm:prSet>
      <dgm:spPr/>
    </dgm:pt>
    <dgm:pt modelId="{FEFD593F-CEA3-49F2-8B61-0C03FD637AD2}" type="pres">
      <dgm:prSet presAssocID="{506E2E3B-A80F-4294-98FB-744E1CD99F2B}" presName="childText" presStyleLbl="revTx" presStyleIdx="0" presStyleCnt="2">
        <dgm:presLayoutVars>
          <dgm:bulletEnabled val="1"/>
        </dgm:presLayoutVars>
      </dgm:prSet>
      <dgm:spPr/>
    </dgm:pt>
    <dgm:pt modelId="{0AA4B93C-1B48-4D32-9AA1-378DBAE63820}" type="pres">
      <dgm:prSet presAssocID="{83348FE4-B022-468D-94BD-5A0B4EB6997F}" presName="parentText" presStyleLbl="node1" presStyleIdx="6" presStyleCnt="7">
        <dgm:presLayoutVars>
          <dgm:chMax val="0"/>
          <dgm:bulletEnabled val="1"/>
        </dgm:presLayoutVars>
      </dgm:prSet>
      <dgm:spPr/>
    </dgm:pt>
    <dgm:pt modelId="{F5C2110A-2AD3-40CE-A6A7-75366CEB2168}" type="pres">
      <dgm:prSet presAssocID="{83348FE4-B022-468D-94BD-5A0B4EB6997F}" presName="childText" presStyleLbl="revTx" presStyleIdx="1" presStyleCnt="2">
        <dgm:presLayoutVars>
          <dgm:bulletEnabled val="1"/>
        </dgm:presLayoutVars>
      </dgm:prSet>
      <dgm:spPr/>
    </dgm:pt>
  </dgm:ptLst>
  <dgm:cxnLst>
    <dgm:cxn modelId="{2FC53005-9B13-401D-8C5C-A3A3DFDC9F02}" type="presOf" srcId="{506E2E3B-A80F-4294-98FB-744E1CD99F2B}" destId="{171CC064-2806-4804-8A9D-BE33DB4065AD}" srcOrd="0" destOrd="0" presId="urn:microsoft.com/office/officeart/2005/8/layout/vList2"/>
    <dgm:cxn modelId="{BAC77412-97DB-44A7-9B85-E7366A379FC8}" type="presOf" srcId="{4DACB828-CCD5-4264-9560-D63F22563EB5}" destId="{24DB356A-2662-4710-B3EB-78C1805985EA}" srcOrd="0" destOrd="0" presId="urn:microsoft.com/office/officeart/2005/8/layout/vList2"/>
    <dgm:cxn modelId="{CF82351A-D13A-4080-8C70-73178297B0F9}" srcId="{529DA70C-25B3-4217-BF47-A8502C8BACD0}" destId="{83A1C0B6-4A6F-42F2-9F6D-D0C25184BB45}" srcOrd="1" destOrd="0" parTransId="{6B987C83-94D0-4432-946B-BCAC77BBB979}" sibTransId="{E4AFBB99-26AB-4C45-8F00-DE376CE37223}"/>
    <dgm:cxn modelId="{1E765C21-2671-40AE-8FE5-60F16A539099}" srcId="{83348FE4-B022-468D-94BD-5A0B4EB6997F}" destId="{A4BD18AC-A409-46EF-8958-7FE72470B541}" srcOrd="0" destOrd="0" parTransId="{CBAEEA71-2255-47DE-9E67-654868F6DEAC}" sibTransId="{0E851120-804D-4D96-BA97-F5A798377638}"/>
    <dgm:cxn modelId="{7FB07223-E6C9-4DCF-B4D9-B8D7F01F8280}" type="presOf" srcId="{10B25CB1-BA00-4D0A-BDF5-135FECAE5917}" destId="{FEFD593F-CEA3-49F2-8B61-0C03FD637AD2}" srcOrd="0" destOrd="0" presId="urn:microsoft.com/office/officeart/2005/8/layout/vList2"/>
    <dgm:cxn modelId="{85C6ED2A-082D-4AC7-980A-87E188A32A41}" type="presOf" srcId="{0147FDD0-3E11-431C-98AA-8EF2982AFD2B}" destId="{F5C2110A-2AD3-40CE-A6A7-75366CEB2168}" srcOrd="0" destOrd="1" presId="urn:microsoft.com/office/officeart/2005/8/layout/vList2"/>
    <dgm:cxn modelId="{4F376D37-F48D-48AD-8FFE-9F3A031DA4F3}" srcId="{529DA70C-25B3-4217-BF47-A8502C8BACD0}" destId="{C9E0F1BD-69E6-46B3-9811-BA7A83F6D2E8}" srcOrd="0" destOrd="0" parTransId="{DCAB4895-F65B-4587-A8D2-F0014FEB5F9A}" sibTransId="{78D83631-B3C7-4791-9989-E221EA062A8F}"/>
    <dgm:cxn modelId="{7EBD123E-E3F2-4C95-840A-E0C9FCA66195}" srcId="{529DA70C-25B3-4217-BF47-A8502C8BACD0}" destId="{B8935900-D39E-41EB-B07E-09FD9F1C19E2}" srcOrd="2" destOrd="0" parTransId="{6AB0653F-188D-471E-AD55-AE657C843D34}" sibTransId="{0481B295-3A18-40D8-8BBF-0BD39ACA7DC5}"/>
    <dgm:cxn modelId="{74DE5C5D-957E-4E1B-BC1F-133AA4958640}" type="presOf" srcId="{C9E0F1BD-69E6-46B3-9811-BA7A83F6D2E8}" destId="{75284971-73A4-4844-A46B-84DCC80FE58F}" srcOrd="0" destOrd="0" presId="urn:microsoft.com/office/officeart/2005/8/layout/vList2"/>
    <dgm:cxn modelId="{D8C6BC63-C903-4001-B4DE-E44F1CEFF5A3}" srcId="{506E2E3B-A80F-4294-98FB-744E1CD99F2B}" destId="{205AAD83-3BDE-4460-BD75-817DD0D52370}" srcOrd="1" destOrd="0" parTransId="{041F25A6-5BBE-45F6-B5A5-F4011E349B35}" sibTransId="{8BF4A412-2319-4A68-91AF-9836D0B7F6E2}"/>
    <dgm:cxn modelId="{6911FA44-5AF8-4681-BCF0-DB9CE9E9E812}" srcId="{529DA70C-25B3-4217-BF47-A8502C8BACD0}" destId="{83348FE4-B022-468D-94BD-5A0B4EB6997F}" srcOrd="6" destOrd="0" parTransId="{CB0A450F-57DE-484D-805F-05A7C59ABE73}" sibTransId="{5B395818-F517-43B0-9757-677800CF1A0A}"/>
    <dgm:cxn modelId="{EA13BF47-D5EE-461D-815A-8CD325A747AD}" type="presOf" srcId="{4F4AFD2D-BE8D-44A3-837B-27A9DD6C0461}" destId="{F5C2110A-2AD3-40CE-A6A7-75366CEB2168}" srcOrd="0" destOrd="2" presId="urn:microsoft.com/office/officeart/2005/8/layout/vList2"/>
    <dgm:cxn modelId="{B5DCE56A-819B-4FD6-BE13-30C67B576D1E}" srcId="{529DA70C-25B3-4217-BF47-A8502C8BACD0}" destId="{4DACB828-CCD5-4264-9560-D63F22563EB5}" srcOrd="3" destOrd="0" parTransId="{E8F2C4D5-DFB6-4B3D-98DE-5DE8D39BABC6}" sibTransId="{54A81BAA-8AC3-4457-BE10-8BC3E137C262}"/>
    <dgm:cxn modelId="{4E182472-B0E5-4D66-9A8E-7E2FF8F6A21E}" type="presOf" srcId="{A4BD18AC-A409-46EF-8958-7FE72470B541}" destId="{F5C2110A-2AD3-40CE-A6A7-75366CEB2168}" srcOrd="0" destOrd="0" presId="urn:microsoft.com/office/officeart/2005/8/layout/vList2"/>
    <dgm:cxn modelId="{4134E873-D775-4876-B428-D1A463C99CE8}" type="presOf" srcId="{83A1C0B6-4A6F-42F2-9F6D-D0C25184BB45}" destId="{A2E371D6-C2BD-498D-843F-65B47E4C4C7F}" srcOrd="0" destOrd="0" presId="urn:microsoft.com/office/officeart/2005/8/layout/vList2"/>
    <dgm:cxn modelId="{58534374-201E-4B9F-BFC4-EB1B638C82AC}" srcId="{529DA70C-25B3-4217-BF47-A8502C8BACD0}" destId="{506E2E3B-A80F-4294-98FB-744E1CD99F2B}" srcOrd="5" destOrd="0" parTransId="{20D6C540-8629-43BB-959B-2D900448B95C}" sibTransId="{04008E88-4510-4957-B156-BD020727D3A3}"/>
    <dgm:cxn modelId="{70225E56-8416-4D4F-9DB1-4B4BF13BFC0A}" srcId="{529DA70C-25B3-4217-BF47-A8502C8BACD0}" destId="{F3C1A679-1E06-45B4-885E-B573B76A1033}" srcOrd="4" destOrd="0" parTransId="{4BF6BDCB-0C69-4714-BD89-0E0E0FDC3B7B}" sibTransId="{47DD191B-D3D7-4D1F-ACF9-025529442469}"/>
    <dgm:cxn modelId="{8C08C77A-FD78-4BDC-AC71-7C430117B896}" type="presOf" srcId="{529DA70C-25B3-4217-BF47-A8502C8BACD0}" destId="{80A49C91-D009-463E-A0C3-59A6D9223B14}" srcOrd="0" destOrd="0" presId="urn:microsoft.com/office/officeart/2005/8/layout/vList2"/>
    <dgm:cxn modelId="{71DE028D-671D-44F5-89D7-3721C6E6052B}" srcId="{506E2E3B-A80F-4294-98FB-744E1CD99F2B}" destId="{10B25CB1-BA00-4D0A-BDF5-135FECAE5917}" srcOrd="0" destOrd="0" parTransId="{CBE6F93C-F28B-44CC-9593-3E5F7DF1EDB7}" sibTransId="{46C93D11-ABA2-44FF-8538-80162670E075}"/>
    <dgm:cxn modelId="{B995EC95-4FE7-420D-952F-2DAF67389F2B}" srcId="{83348FE4-B022-468D-94BD-5A0B4EB6997F}" destId="{4F4AFD2D-BE8D-44A3-837B-27A9DD6C0461}" srcOrd="2" destOrd="0" parTransId="{FB8BE71D-F74F-426E-B393-E2A1112A0069}" sibTransId="{C8AC6367-DBB3-4A40-9FAC-6A0BD63E3774}"/>
    <dgm:cxn modelId="{F921AFAC-4642-4B69-A02E-5F9A394E11C7}" type="presOf" srcId="{83348FE4-B022-468D-94BD-5A0B4EB6997F}" destId="{0AA4B93C-1B48-4D32-9AA1-378DBAE63820}" srcOrd="0" destOrd="0" presId="urn:microsoft.com/office/officeart/2005/8/layout/vList2"/>
    <dgm:cxn modelId="{FCFC88AE-C79E-42D1-9C04-73672FB59BA2}" type="presOf" srcId="{205AAD83-3BDE-4460-BD75-817DD0D52370}" destId="{FEFD593F-CEA3-49F2-8B61-0C03FD637AD2}" srcOrd="0" destOrd="1" presId="urn:microsoft.com/office/officeart/2005/8/layout/vList2"/>
    <dgm:cxn modelId="{6F1906B0-59B4-4E3F-BA36-D213FE885912}" srcId="{83348FE4-B022-468D-94BD-5A0B4EB6997F}" destId="{0147FDD0-3E11-431C-98AA-8EF2982AFD2B}" srcOrd="1" destOrd="0" parTransId="{61C7AD38-F1FF-4975-A5B6-DC795708D696}" sibTransId="{1B02C356-66E6-4BF9-B39B-9AABFE47DFC0}"/>
    <dgm:cxn modelId="{E556FDB6-546B-483D-9B69-E03EEF5832A1}" type="presOf" srcId="{B8935900-D39E-41EB-B07E-09FD9F1C19E2}" destId="{DF999909-FF71-4F01-AE88-A81885C732B4}" srcOrd="0" destOrd="0" presId="urn:microsoft.com/office/officeart/2005/8/layout/vList2"/>
    <dgm:cxn modelId="{DFFA57D0-F2AC-4BB3-932D-D62699D020BA}" type="presOf" srcId="{F3C1A679-1E06-45B4-885E-B573B76A1033}" destId="{6AECA671-8DDE-4236-AFBE-778C9F64E459}" srcOrd="0" destOrd="0" presId="urn:microsoft.com/office/officeart/2005/8/layout/vList2"/>
    <dgm:cxn modelId="{53146FB5-1035-43C3-AAEE-1B00004F179F}" type="presParOf" srcId="{80A49C91-D009-463E-A0C3-59A6D9223B14}" destId="{75284971-73A4-4844-A46B-84DCC80FE58F}" srcOrd="0" destOrd="0" presId="urn:microsoft.com/office/officeart/2005/8/layout/vList2"/>
    <dgm:cxn modelId="{0BD3EEF6-AE30-44A5-9EEB-571E1F01AD46}" type="presParOf" srcId="{80A49C91-D009-463E-A0C3-59A6D9223B14}" destId="{7765D09B-7744-4CC1-B9DA-FCB7ACA7D879}" srcOrd="1" destOrd="0" presId="urn:microsoft.com/office/officeart/2005/8/layout/vList2"/>
    <dgm:cxn modelId="{2018AB22-5B05-4DA4-A2D5-DD5818A71F7B}" type="presParOf" srcId="{80A49C91-D009-463E-A0C3-59A6D9223B14}" destId="{A2E371D6-C2BD-498D-843F-65B47E4C4C7F}" srcOrd="2" destOrd="0" presId="urn:microsoft.com/office/officeart/2005/8/layout/vList2"/>
    <dgm:cxn modelId="{522432A8-5161-4343-8A7A-9861AAACC597}" type="presParOf" srcId="{80A49C91-D009-463E-A0C3-59A6D9223B14}" destId="{C5426DF4-078D-484A-8A27-693C7071DA9B}" srcOrd="3" destOrd="0" presId="urn:microsoft.com/office/officeart/2005/8/layout/vList2"/>
    <dgm:cxn modelId="{F452E229-3C91-4C46-841B-F3560F8AC608}" type="presParOf" srcId="{80A49C91-D009-463E-A0C3-59A6D9223B14}" destId="{DF999909-FF71-4F01-AE88-A81885C732B4}" srcOrd="4" destOrd="0" presId="urn:microsoft.com/office/officeart/2005/8/layout/vList2"/>
    <dgm:cxn modelId="{B16EA7B1-EBBB-4B60-89E6-7B1BF4D0C5F0}" type="presParOf" srcId="{80A49C91-D009-463E-A0C3-59A6D9223B14}" destId="{D4A0F534-9E92-4418-A51B-123F6B108E17}" srcOrd="5" destOrd="0" presId="urn:microsoft.com/office/officeart/2005/8/layout/vList2"/>
    <dgm:cxn modelId="{A4AFFB6F-97FD-4123-95A2-C01C496F2606}" type="presParOf" srcId="{80A49C91-D009-463E-A0C3-59A6D9223B14}" destId="{24DB356A-2662-4710-B3EB-78C1805985EA}" srcOrd="6" destOrd="0" presId="urn:microsoft.com/office/officeart/2005/8/layout/vList2"/>
    <dgm:cxn modelId="{27FBF307-000D-496C-945B-042EDF8E9C0E}" type="presParOf" srcId="{80A49C91-D009-463E-A0C3-59A6D9223B14}" destId="{013958FA-4431-4CD0-B8EB-0DDE85731B95}" srcOrd="7" destOrd="0" presId="urn:microsoft.com/office/officeart/2005/8/layout/vList2"/>
    <dgm:cxn modelId="{65423D40-B603-46C6-B443-F1CE5E18218F}" type="presParOf" srcId="{80A49C91-D009-463E-A0C3-59A6D9223B14}" destId="{6AECA671-8DDE-4236-AFBE-778C9F64E459}" srcOrd="8" destOrd="0" presId="urn:microsoft.com/office/officeart/2005/8/layout/vList2"/>
    <dgm:cxn modelId="{05993CB5-70F4-4156-9248-E0A9D7949CE9}" type="presParOf" srcId="{80A49C91-D009-463E-A0C3-59A6D9223B14}" destId="{351CE3E7-6AF8-4B43-A503-C9291C1BE862}" srcOrd="9" destOrd="0" presId="urn:microsoft.com/office/officeart/2005/8/layout/vList2"/>
    <dgm:cxn modelId="{3CF28585-7D92-4D2E-98AE-6D173F3DA752}" type="presParOf" srcId="{80A49C91-D009-463E-A0C3-59A6D9223B14}" destId="{171CC064-2806-4804-8A9D-BE33DB4065AD}" srcOrd="10" destOrd="0" presId="urn:microsoft.com/office/officeart/2005/8/layout/vList2"/>
    <dgm:cxn modelId="{04C7367A-BE69-4CD0-A150-BBCB7F7E1B3A}" type="presParOf" srcId="{80A49C91-D009-463E-A0C3-59A6D9223B14}" destId="{FEFD593F-CEA3-49F2-8B61-0C03FD637AD2}" srcOrd="11" destOrd="0" presId="urn:microsoft.com/office/officeart/2005/8/layout/vList2"/>
    <dgm:cxn modelId="{A10D8784-C8A3-46F4-B081-9190CDCD7AE6}" type="presParOf" srcId="{80A49C91-D009-463E-A0C3-59A6D9223B14}" destId="{0AA4B93C-1B48-4D32-9AA1-378DBAE63820}" srcOrd="12" destOrd="0" presId="urn:microsoft.com/office/officeart/2005/8/layout/vList2"/>
    <dgm:cxn modelId="{60BB5587-8280-40DC-A1C7-E7730810A4DD}" type="presParOf" srcId="{80A49C91-D009-463E-A0C3-59A6D9223B14}" destId="{F5C2110A-2AD3-40CE-A6A7-75366CEB2168}" srcOrd="1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653AA-6BC7-4DDF-9865-D14E62BFDB20}">
      <dsp:nvSpPr>
        <dsp:cNvPr id="0" name=""/>
        <dsp:cNvSpPr/>
      </dsp:nvSpPr>
      <dsp:spPr>
        <a:xfrm>
          <a:off x="3036" y="279566"/>
          <a:ext cx="2408634" cy="144518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NoSQL means non-relational databases (not like Excel tables). </a:t>
          </a:r>
        </a:p>
      </dsp:txBody>
      <dsp:txXfrm>
        <a:off x="3036" y="279566"/>
        <a:ext cx="2408634" cy="1445180"/>
      </dsp:txXfrm>
    </dsp:sp>
    <dsp:sp modelId="{44F1D484-A4BA-4C3D-B72D-C2424B1913D7}">
      <dsp:nvSpPr>
        <dsp:cNvPr id="0" name=""/>
        <dsp:cNvSpPr/>
      </dsp:nvSpPr>
      <dsp:spPr>
        <a:xfrm>
          <a:off x="2652533" y="279566"/>
          <a:ext cx="2408634" cy="144518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These databases are designed for specific data models and allow flexible structures.</a:t>
          </a:r>
        </a:p>
      </dsp:txBody>
      <dsp:txXfrm>
        <a:off x="2652533" y="279566"/>
        <a:ext cx="2408634" cy="1445180"/>
      </dsp:txXfrm>
    </dsp:sp>
    <dsp:sp modelId="{D4B8B4B9-CDD9-4A3A-B5DF-463AB9280688}">
      <dsp:nvSpPr>
        <dsp:cNvPr id="0" name=""/>
        <dsp:cNvSpPr/>
      </dsp:nvSpPr>
      <dsp:spPr>
        <a:xfrm>
          <a:off x="5302031" y="279566"/>
          <a:ext cx="2408634" cy="14451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Benefits of NoSQL </a:t>
          </a:r>
          <a:endParaRPr lang="en-US" sz="1800" kern="1200"/>
        </a:p>
      </dsp:txBody>
      <dsp:txXfrm>
        <a:off x="5302031" y="279566"/>
        <a:ext cx="2408634" cy="1445180"/>
      </dsp:txXfrm>
    </dsp:sp>
    <dsp:sp modelId="{D5DB81F1-F640-4078-802E-2E47C500D271}">
      <dsp:nvSpPr>
        <dsp:cNvPr id="0" name=""/>
        <dsp:cNvSpPr/>
      </dsp:nvSpPr>
      <dsp:spPr>
        <a:xfrm>
          <a:off x="7951529" y="279566"/>
          <a:ext cx="2408634" cy="144518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Flexibility – Easy to change and update data structure. </a:t>
          </a:r>
        </a:p>
      </dsp:txBody>
      <dsp:txXfrm>
        <a:off x="7951529" y="279566"/>
        <a:ext cx="2408634" cy="1445180"/>
      </dsp:txXfrm>
    </dsp:sp>
    <dsp:sp modelId="{84C00C15-069E-4FA7-829F-C910B470DEBE}">
      <dsp:nvSpPr>
        <dsp:cNvPr id="0" name=""/>
        <dsp:cNvSpPr/>
      </dsp:nvSpPr>
      <dsp:spPr>
        <a:xfrm>
          <a:off x="1327785" y="1965610"/>
          <a:ext cx="2408634" cy="144518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Scalability – Can handle large amounts of data by spreading across multiple servers. </a:t>
          </a:r>
        </a:p>
      </dsp:txBody>
      <dsp:txXfrm>
        <a:off x="1327785" y="1965610"/>
        <a:ext cx="2408634" cy="1445180"/>
      </dsp:txXfrm>
    </dsp:sp>
    <dsp:sp modelId="{3EFF09F4-0A63-4E98-89BD-FEC0CD2E5EA0}">
      <dsp:nvSpPr>
        <dsp:cNvPr id="0" name=""/>
        <dsp:cNvSpPr/>
      </dsp:nvSpPr>
      <dsp:spPr>
        <a:xfrm>
          <a:off x="3977282" y="1965610"/>
          <a:ext cx="2408634" cy="144518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High Performance – Optimized for fast access to specific types of data.</a:t>
          </a:r>
        </a:p>
      </dsp:txBody>
      <dsp:txXfrm>
        <a:off x="3977282" y="1965610"/>
        <a:ext cx="2408634" cy="1445180"/>
      </dsp:txXfrm>
    </dsp:sp>
    <dsp:sp modelId="{F773D8E1-E28B-455D-9EF9-0A31DA61E20E}">
      <dsp:nvSpPr>
        <dsp:cNvPr id="0" name=""/>
        <dsp:cNvSpPr/>
      </dsp:nvSpPr>
      <dsp:spPr>
        <a:xfrm>
          <a:off x="6626780" y="1965610"/>
          <a:ext cx="2408634" cy="144518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Highly Functional – Designed for different use cases. </a:t>
          </a:r>
        </a:p>
      </dsp:txBody>
      <dsp:txXfrm>
        <a:off x="6626780" y="1965610"/>
        <a:ext cx="2408634" cy="14451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3054F2-02E0-4CA7-8E22-1DF20FFAE085}">
      <dsp:nvSpPr>
        <dsp:cNvPr id="0" name=""/>
        <dsp:cNvSpPr/>
      </dsp:nvSpPr>
      <dsp:spPr>
        <a:xfrm>
          <a:off x="275965" y="182873"/>
          <a:ext cx="1368756" cy="136875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CC9621-28B1-43D2-8418-3438BFC9A2DA}">
      <dsp:nvSpPr>
        <dsp:cNvPr id="0" name=""/>
        <dsp:cNvSpPr/>
      </dsp:nvSpPr>
      <dsp:spPr>
        <a:xfrm>
          <a:off x="563404" y="470312"/>
          <a:ext cx="793878" cy="793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FA6AAB-BED4-4B49-B6DD-C20D9485278B}">
      <dsp:nvSpPr>
        <dsp:cNvPr id="0" name=""/>
        <dsp:cNvSpPr/>
      </dsp:nvSpPr>
      <dsp:spPr>
        <a:xfrm>
          <a:off x="1938026" y="182873"/>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1" kern="1200" dirty="0"/>
            <a:t>DynamoDB Streams: </a:t>
          </a:r>
          <a:r>
            <a:rPr lang="en-US" sz="1900" kern="1200" dirty="0"/>
            <a:t>Enables real-time processing of data changes, ideal for event-driven architectures. </a:t>
          </a:r>
        </a:p>
      </dsp:txBody>
      <dsp:txXfrm>
        <a:off x="1938026" y="182873"/>
        <a:ext cx="3226354" cy="1368756"/>
      </dsp:txXfrm>
    </dsp:sp>
    <dsp:sp modelId="{F1E512B9-B238-4740-9D36-3F89BE563C45}">
      <dsp:nvSpPr>
        <dsp:cNvPr id="0" name=""/>
        <dsp:cNvSpPr/>
      </dsp:nvSpPr>
      <dsp:spPr>
        <a:xfrm>
          <a:off x="5726548" y="182873"/>
          <a:ext cx="1368756" cy="136875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591084-BF0B-4B34-80C0-EB942BEA95F1}">
      <dsp:nvSpPr>
        <dsp:cNvPr id="0" name=""/>
        <dsp:cNvSpPr/>
      </dsp:nvSpPr>
      <dsp:spPr>
        <a:xfrm>
          <a:off x="6013987" y="470312"/>
          <a:ext cx="793878" cy="793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355E5C-D1EE-43DF-90E3-1B28BADCBE13}">
      <dsp:nvSpPr>
        <dsp:cNvPr id="0" name=""/>
        <dsp:cNvSpPr/>
      </dsp:nvSpPr>
      <dsp:spPr>
        <a:xfrm>
          <a:off x="7388609" y="182873"/>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1" kern="1200"/>
            <a:t>Global Tables: </a:t>
          </a:r>
          <a:r>
            <a:rPr lang="en-US" sz="1900" kern="1200"/>
            <a:t>Provides multi-region replication, ensuring low-latency access and high availability. </a:t>
          </a:r>
        </a:p>
      </dsp:txBody>
      <dsp:txXfrm>
        <a:off x="7388609" y="182873"/>
        <a:ext cx="3226354" cy="1368756"/>
      </dsp:txXfrm>
    </dsp:sp>
    <dsp:sp modelId="{5EA57755-CE13-4944-A3FF-5B91DE18A9AB}">
      <dsp:nvSpPr>
        <dsp:cNvPr id="0" name=""/>
        <dsp:cNvSpPr/>
      </dsp:nvSpPr>
      <dsp:spPr>
        <a:xfrm>
          <a:off x="275965" y="2187237"/>
          <a:ext cx="1368756" cy="136875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5E199C-475A-4405-9160-0274DCEFF469}">
      <dsp:nvSpPr>
        <dsp:cNvPr id="0" name=""/>
        <dsp:cNvSpPr/>
      </dsp:nvSpPr>
      <dsp:spPr>
        <a:xfrm>
          <a:off x="563404" y="2474676"/>
          <a:ext cx="793878" cy="793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046AC6-2DF9-4078-B994-DEECBD94381B}">
      <dsp:nvSpPr>
        <dsp:cNvPr id="0" name=""/>
        <dsp:cNvSpPr/>
      </dsp:nvSpPr>
      <dsp:spPr>
        <a:xfrm>
          <a:off x="1938026" y="2187237"/>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b="1" kern="1200" dirty="0"/>
            <a:t>Time-to-Live (TTL): </a:t>
          </a:r>
          <a:r>
            <a:rPr lang="en-US" sz="1900" kern="1200" dirty="0"/>
            <a:t>Automatically expires and removes outdated data to save costs. </a:t>
          </a:r>
        </a:p>
      </dsp:txBody>
      <dsp:txXfrm>
        <a:off x="1938026" y="2187237"/>
        <a:ext cx="3226354" cy="1368756"/>
      </dsp:txXfrm>
    </dsp:sp>
    <dsp:sp modelId="{3848C8CD-95BD-40DF-97F5-8B34B80CBDA4}">
      <dsp:nvSpPr>
        <dsp:cNvPr id="0" name=""/>
        <dsp:cNvSpPr/>
      </dsp:nvSpPr>
      <dsp:spPr>
        <a:xfrm>
          <a:off x="5726548" y="2187237"/>
          <a:ext cx="1368756" cy="136875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B12E7D-DADF-46AB-8AF5-2BD93C15C683}">
      <dsp:nvSpPr>
        <dsp:cNvPr id="0" name=""/>
        <dsp:cNvSpPr/>
      </dsp:nvSpPr>
      <dsp:spPr>
        <a:xfrm>
          <a:off x="6013987" y="2474676"/>
          <a:ext cx="793878" cy="793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4336DF-D1E9-475B-90AA-EBCCD3B2E07E}">
      <dsp:nvSpPr>
        <dsp:cNvPr id="0" name=""/>
        <dsp:cNvSpPr/>
      </dsp:nvSpPr>
      <dsp:spPr>
        <a:xfrm>
          <a:off x="7388609" y="2187237"/>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dirty="0"/>
            <a:t>Backup and Restore: Continuous backups with point-in-time recovery ensure data durability</a:t>
          </a:r>
        </a:p>
      </dsp:txBody>
      <dsp:txXfrm>
        <a:off x="7388609" y="2187237"/>
        <a:ext cx="3226354" cy="13687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DA518A-9DB5-4071-ACD4-3F9DA16B4F75}">
      <dsp:nvSpPr>
        <dsp:cNvPr id="0" name=""/>
        <dsp:cNvSpPr/>
      </dsp:nvSpPr>
      <dsp:spPr>
        <a:xfrm>
          <a:off x="0" y="41533"/>
          <a:ext cx="10890929" cy="691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a:t>Indexes:</a:t>
          </a:r>
          <a:endParaRPr lang="en-US" sz="2400" kern="1200"/>
        </a:p>
      </dsp:txBody>
      <dsp:txXfrm>
        <a:off x="0" y="41533"/>
        <a:ext cx="10890929" cy="691200"/>
      </dsp:txXfrm>
    </dsp:sp>
    <dsp:sp modelId="{BA6E8296-8988-46A9-9604-A5CEF7CA1744}">
      <dsp:nvSpPr>
        <dsp:cNvPr id="0" name=""/>
        <dsp:cNvSpPr/>
      </dsp:nvSpPr>
      <dsp:spPr>
        <a:xfrm>
          <a:off x="0" y="732733"/>
          <a:ext cx="10890929" cy="29646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1" kern="1200" dirty="0"/>
            <a:t>Local Secondary Index (LSI): </a:t>
          </a:r>
          <a:endParaRPr lang="en-US" sz="2400" kern="1200" dirty="0"/>
        </a:p>
        <a:p>
          <a:pPr marL="457200" lvl="2" indent="-228600" algn="l" defTabSz="1066800">
            <a:lnSpc>
              <a:spcPct val="90000"/>
            </a:lnSpc>
            <a:spcBef>
              <a:spcPct val="0"/>
            </a:spcBef>
            <a:spcAft>
              <a:spcPct val="15000"/>
            </a:spcAft>
            <a:buChar char="•"/>
          </a:pPr>
          <a:r>
            <a:rPr lang="en-US" sz="2400" kern="1200" dirty="0"/>
            <a:t>Uses the same partition key as the base table but a different sort key. </a:t>
          </a:r>
        </a:p>
        <a:p>
          <a:pPr marL="457200" lvl="2" indent="-228600" algn="l" defTabSz="1066800">
            <a:lnSpc>
              <a:spcPct val="90000"/>
            </a:lnSpc>
            <a:spcBef>
              <a:spcPct val="0"/>
            </a:spcBef>
            <a:spcAft>
              <a:spcPct val="15000"/>
            </a:spcAft>
            <a:buChar char="•"/>
          </a:pPr>
          <a:r>
            <a:rPr lang="en-US" sz="2400" kern="1200" dirty="0"/>
            <a:t>Can only be defined at table creation.</a:t>
          </a:r>
        </a:p>
        <a:p>
          <a:pPr marL="228600" lvl="1" indent="-228600" algn="l" defTabSz="1066800">
            <a:lnSpc>
              <a:spcPct val="90000"/>
            </a:lnSpc>
            <a:spcBef>
              <a:spcPct val="0"/>
            </a:spcBef>
            <a:spcAft>
              <a:spcPct val="15000"/>
            </a:spcAft>
            <a:buChar char="•"/>
          </a:pPr>
          <a:r>
            <a:rPr lang="en-US" sz="2400" b="1" kern="1200" dirty="0"/>
            <a:t>Global Secondary Index (GSI):</a:t>
          </a:r>
          <a:endParaRPr lang="en-US" sz="2400" kern="1200" dirty="0"/>
        </a:p>
        <a:p>
          <a:pPr marL="457200" lvl="2" indent="-228600" algn="l" defTabSz="1066800">
            <a:lnSpc>
              <a:spcPct val="90000"/>
            </a:lnSpc>
            <a:spcBef>
              <a:spcPct val="0"/>
            </a:spcBef>
            <a:spcAft>
              <a:spcPct val="15000"/>
            </a:spcAft>
            <a:buChar char="•"/>
          </a:pPr>
          <a:r>
            <a:rPr lang="en-US" sz="2400" kern="1200" dirty="0"/>
            <a:t>Can have different partition and sort keys than the base table.</a:t>
          </a:r>
        </a:p>
        <a:p>
          <a:pPr marL="457200" lvl="2" indent="-228600" algn="l" defTabSz="1066800">
            <a:lnSpc>
              <a:spcPct val="90000"/>
            </a:lnSpc>
            <a:spcBef>
              <a:spcPct val="0"/>
            </a:spcBef>
            <a:spcAft>
              <a:spcPct val="15000"/>
            </a:spcAft>
            <a:buChar char="•"/>
          </a:pPr>
          <a:r>
            <a:rPr lang="en-US" sz="2400" kern="1200" dirty="0"/>
            <a:t>Can access any attribute, not just primary key. </a:t>
          </a:r>
        </a:p>
        <a:p>
          <a:pPr marL="457200" lvl="2" indent="-228600" algn="l" defTabSz="1066800">
            <a:lnSpc>
              <a:spcPct val="90000"/>
            </a:lnSpc>
            <a:spcBef>
              <a:spcPct val="0"/>
            </a:spcBef>
            <a:spcAft>
              <a:spcPct val="15000"/>
            </a:spcAft>
            <a:buChar char="•"/>
          </a:pPr>
          <a:r>
            <a:rPr lang="en-US" sz="2400" kern="1200" dirty="0"/>
            <a:t>Can be created any time.</a:t>
          </a:r>
        </a:p>
      </dsp:txBody>
      <dsp:txXfrm>
        <a:off x="0" y="732733"/>
        <a:ext cx="10890929" cy="2964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284971-73A4-4844-A46B-84DCC80FE58F}">
      <dsp:nvSpPr>
        <dsp:cNvPr id="0" name=""/>
        <dsp:cNvSpPr/>
      </dsp:nvSpPr>
      <dsp:spPr>
        <a:xfrm>
          <a:off x="0" y="679973"/>
          <a:ext cx="7216416"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DynamoDB offers two capacity modes, </a:t>
          </a:r>
        </a:p>
      </dsp:txBody>
      <dsp:txXfrm>
        <a:off x="17563" y="697536"/>
        <a:ext cx="7181290" cy="324648"/>
      </dsp:txXfrm>
    </dsp:sp>
    <dsp:sp modelId="{A2E371D6-C2BD-498D-843F-65B47E4C4C7F}">
      <dsp:nvSpPr>
        <dsp:cNvPr id="0" name=""/>
        <dsp:cNvSpPr/>
      </dsp:nvSpPr>
      <dsp:spPr>
        <a:xfrm>
          <a:off x="0" y="1082948"/>
          <a:ext cx="7216416" cy="359774"/>
        </a:xfrm>
        <a:prstGeom prst="roundRect">
          <a:avLst/>
        </a:prstGeom>
        <a:solidFill>
          <a:schemeClr val="accent2">
            <a:hueOff val="1178683"/>
            <a:satOff val="-4440"/>
            <a:lumOff val="3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1. Provisioned Capacity: </a:t>
          </a:r>
          <a:endParaRPr lang="en-US" sz="1500" kern="1200"/>
        </a:p>
      </dsp:txBody>
      <dsp:txXfrm>
        <a:off x="17563" y="1100511"/>
        <a:ext cx="7181290" cy="324648"/>
      </dsp:txXfrm>
    </dsp:sp>
    <dsp:sp modelId="{DF999909-FF71-4F01-AE88-A81885C732B4}">
      <dsp:nvSpPr>
        <dsp:cNvPr id="0" name=""/>
        <dsp:cNvSpPr/>
      </dsp:nvSpPr>
      <dsp:spPr>
        <a:xfrm>
          <a:off x="0" y="1485923"/>
          <a:ext cx="7216416" cy="359774"/>
        </a:xfrm>
        <a:prstGeom prst="roundRect">
          <a:avLst/>
        </a:prstGeom>
        <a:solidFill>
          <a:schemeClr val="accent2">
            <a:hueOff val="2357366"/>
            <a:satOff val="-8879"/>
            <a:lumOff val="7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You manually define Read Capacity Units (RCUs) and Write Capacity Units (WCUs). </a:t>
          </a:r>
        </a:p>
      </dsp:txBody>
      <dsp:txXfrm>
        <a:off x="17563" y="1503486"/>
        <a:ext cx="7181290" cy="324648"/>
      </dsp:txXfrm>
    </dsp:sp>
    <dsp:sp modelId="{24DB356A-2662-4710-B3EB-78C1805985EA}">
      <dsp:nvSpPr>
        <dsp:cNvPr id="0" name=""/>
        <dsp:cNvSpPr/>
      </dsp:nvSpPr>
      <dsp:spPr>
        <a:xfrm>
          <a:off x="0" y="1888898"/>
          <a:ext cx="7216416" cy="359774"/>
        </a:xfrm>
        <a:prstGeom prst="roundRect">
          <a:avLst/>
        </a:prstGeom>
        <a:solidFill>
          <a:schemeClr val="accent2">
            <a:hueOff val="3536049"/>
            <a:satOff val="-13319"/>
            <a:lumOff val="1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Ideal for predictable workloads. </a:t>
          </a:r>
        </a:p>
      </dsp:txBody>
      <dsp:txXfrm>
        <a:off x="17563" y="1906461"/>
        <a:ext cx="7181290" cy="324648"/>
      </dsp:txXfrm>
    </dsp:sp>
    <dsp:sp modelId="{6AECA671-8DDE-4236-AFBE-778C9F64E459}">
      <dsp:nvSpPr>
        <dsp:cNvPr id="0" name=""/>
        <dsp:cNvSpPr/>
      </dsp:nvSpPr>
      <dsp:spPr>
        <a:xfrm>
          <a:off x="0" y="2291873"/>
          <a:ext cx="7216416" cy="359774"/>
        </a:xfrm>
        <a:prstGeom prst="roundRect">
          <a:avLst/>
        </a:prstGeom>
        <a:solidFill>
          <a:schemeClr val="accent2">
            <a:hueOff val="4714731"/>
            <a:satOff val="-17759"/>
            <a:lumOff val="1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Supports Auto Scaling to adjust capacity as needed.</a:t>
          </a:r>
        </a:p>
      </dsp:txBody>
      <dsp:txXfrm>
        <a:off x="17563" y="2309436"/>
        <a:ext cx="7181290" cy="324648"/>
      </dsp:txXfrm>
    </dsp:sp>
    <dsp:sp modelId="{171CC064-2806-4804-8A9D-BE33DB4065AD}">
      <dsp:nvSpPr>
        <dsp:cNvPr id="0" name=""/>
        <dsp:cNvSpPr/>
      </dsp:nvSpPr>
      <dsp:spPr>
        <a:xfrm>
          <a:off x="0" y="2694848"/>
          <a:ext cx="7216416" cy="359774"/>
        </a:xfrm>
        <a:prstGeom prst="roundRect">
          <a:avLst/>
        </a:prstGeom>
        <a:solidFill>
          <a:schemeClr val="accent2">
            <a:hueOff val="5893414"/>
            <a:satOff val="-22198"/>
            <a:lumOff val="186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You pay for:</a:t>
          </a:r>
          <a:endParaRPr lang="en-US" sz="1500" kern="1200"/>
        </a:p>
      </dsp:txBody>
      <dsp:txXfrm>
        <a:off x="17563" y="2712411"/>
        <a:ext cx="7181290" cy="324648"/>
      </dsp:txXfrm>
    </dsp:sp>
    <dsp:sp modelId="{FEFD593F-CEA3-49F2-8B61-0C03FD637AD2}">
      <dsp:nvSpPr>
        <dsp:cNvPr id="0" name=""/>
        <dsp:cNvSpPr/>
      </dsp:nvSpPr>
      <dsp:spPr>
        <a:xfrm>
          <a:off x="0" y="3054623"/>
          <a:ext cx="7216416" cy="41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 RCUs: 1 RCU = 1 strongly consistent read/sec for items up to 4KB. </a:t>
          </a:r>
        </a:p>
        <a:p>
          <a:pPr marL="114300" lvl="1" indent="-114300" algn="l" defTabSz="533400">
            <a:lnSpc>
              <a:spcPct val="90000"/>
            </a:lnSpc>
            <a:spcBef>
              <a:spcPct val="0"/>
            </a:spcBef>
            <a:spcAft>
              <a:spcPct val="20000"/>
            </a:spcAft>
            <a:buChar char="•"/>
          </a:pPr>
          <a:r>
            <a:rPr lang="en-US" sz="1200" kern="1200" dirty="0"/>
            <a:t>▪ WCUs: 1 WCU = 1 write/sec for items up to 1KB.</a:t>
          </a:r>
        </a:p>
      </dsp:txBody>
      <dsp:txXfrm>
        <a:off x="0" y="3054623"/>
        <a:ext cx="7216416" cy="411412"/>
      </dsp:txXfrm>
    </dsp:sp>
    <dsp:sp modelId="{0AA4B93C-1B48-4D32-9AA1-378DBAE63820}">
      <dsp:nvSpPr>
        <dsp:cNvPr id="0" name=""/>
        <dsp:cNvSpPr/>
      </dsp:nvSpPr>
      <dsp:spPr>
        <a:xfrm>
          <a:off x="0" y="3466036"/>
          <a:ext cx="7216416" cy="359774"/>
        </a:xfrm>
        <a:prstGeom prst="round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Example: </a:t>
          </a:r>
          <a:endParaRPr lang="en-US" sz="1500" kern="1200"/>
        </a:p>
      </dsp:txBody>
      <dsp:txXfrm>
        <a:off x="17563" y="3483599"/>
        <a:ext cx="7181290" cy="324648"/>
      </dsp:txXfrm>
    </dsp:sp>
    <dsp:sp modelId="{F5C2110A-2AD3-40CE-A6A7-75366CEB2168}">
      <dsp:nvSpPr>
        <dsp:cNvPr id="0" name=""/>
        <dsp:cNvSpPr/>
      </dsp:nvSpPr>
      <dsp:spPr>
        <a:xfrm>
          <a:off x="0" y="3825811"/>
          <a:ext cx="7216416" cy="605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You set 10 RCUs and 5 WCUs: </a:t>
          </a:r>
        </a:p>
        <a:p>
          <a:pPr marL="114300" lvl="1" indent="-114300" algn="l" defTabSz="533400">
            <a:lnSpc>
              <a:spcPct val="90000"/>
            </a:lnSpc>
            <a:spcBef>
              <a:spcPct val="0"/>
            </a:spcBef>
            <a:spcAft>
              <a:spcPct val="20000"/>
            </a:spcAft>
            <a:buChar char="•"/>
          </a:pPr>
          <a:r>
            <a:rPr lang="en-US" sz="1200" kern="1200"/>
            <a:t>You can read 40KB of data/sec (10 RCUs × 4KB). </a:t>
          </a:r>
        </a:p>
        <a:p>
          <a:pPr marL="114300" lvl="1" indent="-114300" algn="l" defTabSz="533400">
            <a:lnSpc>
              <a:spcPct val="90000"/>
            </a:lnSpc>
            <a:spcBef>
              <a:spcPct val="0"/>
            </a:spcBef>
            <a:spcAft>
              <a:spcPct val="20000"/>
            </a:spcAft>
            <a:buChar char="•"/>
          </a:pPr>
          <a:r>
            <a:rPr lang="en-US" sz="1200" kern="1200"/>
            <a:t>You can write 5KB of data/sec (5 WCUs × 1KB).</a:t>
          </a:r>
        </a:p>
      </dsp:txBody>
      <dsp:txXfrm>
        <a:off x="0" y="3825811"/>
        <a:ext cx="7216416" cy="6054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0AE02F-6C93-490E-AC98-66FA588A071A}"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A8C1C-015B-4EBB-A3DC-92E094187D43}" type="slidenum">
              <a:rPr lang="en-US" smtClean="0"/>
              <a:t>‹#›</a:t>
            </a:fld>
            <a:endParaRPr lang="en-US"/>
          </a:p>
        </p:txBody>
      </p:sp>
    </p:spTree>
    <p:extLst>
      <p:ext uri="{BB962C8B-B14F-4D97-AF65-F5344CB8AC3E}">
        <p14:creationId xmlns:p14="http://schemas.microsoft.com/office/powerpoint/2010/main" val="4269531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7</a:t>
            </a:fld>
            <a:endParaRPr lang="en-US"/>
          </a:p>
        </p:txBody>
      </p:sp>
    </p:spTree>
    <p:extLst>
      <p:ext uri="{BB962C8B-B14F-4D97-AF65-F5344CB8AC3E}">
        <p14:creationId xmlns:p14="http://schemas.microsoft.com/office/powerpoint/2010/main" val="1558867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11</a:t>
            </a:fld>
            <a:endParaRPr lang="en-US"/>
          </a:p>
        </p:txBody>
      </p:sp>
    </p:spTree>
    <p:extLst>
      <p:ext uri="{BB962C8B-B14F-4D97-AF65-F5344CB8AC3E}">
        <p14:creationId xmlns:p14="http://schemas.microsoft.com/office/powerpoint/2010/main" val="2730610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13</a:t>
            </a:fld>
            <a:endParaRPr lang="en-US"/>
          </a:p>
        </p:txBody>
      </p:sp>
    </p:spTree>
    <p:extLst>
      <p:ext uri="{BB962C8B-B14F-4D97-AF65-F5344CB8AC3E}">
        <p14:creationId xmlns:p14="http://schemas.microsoft.com/office/powerpoint/2010/main" val="475694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15</a:t>
            </a:fld>
            <a:endParaRPr lang="en-US"/>
          </a:p>
        </p:txBody>
      </p:sp>
    </p:spTree>
    <p:extLst>
      <p:ext uri="{BB962C8B-B14F-4D97-AF65-F5344CB8AC3E}">
        <p14:creationId xmlns:p14="http://schemas.microsoft.com/office/powerpoint/2010/main" val="3915518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16</a:t>
            </a:fld>
            <a:endParaRPr lang="en-US"/>
          </a:p>
        </p:txBody>
      </p:sp>
    </p:spTree>
    <p:extLst>
      <p:ext uri="{BB962C8B-B14F-4D97-AF65-F5344CB8AC3E}">
        <p14:creationId xmlns:p14="http://schemas.microsoft.com/office/powerpoint/2010/main" val="3437652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17</a:t>
            </a:fld>
            <a:endParaRPr lang="en-US"/>
          </a:p>
        </p:txBody>
      </p:sp>
    </p:spTree>
    <p:extLst>
      <p:ext uri="{BB962C8B-B14F-4D97-AF65-F5344CB8AC3E}">
        <p14:creationId xmlns:p14="http://schemas.microsoft.com/office/powerpoint/2010/main" val="399840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A8C1C-015B-4EBB-A3DC-92E094187D43}" type="slidenum">
              <a:rPr lang="en-US" smtClean="0"/>
              <a:t>18</a:t>
            </a:fld>
            <a:endParaRPr lang="en-US"/>
          </a:p>
        </p:txBody>
      </p:sp>
    </p:spTree>
    <p:extLst>
      <p:ext uri="{BB962C8B-B14F-4D97-AF65-F5344CB8AC3E}">
        <p14:creationId xmlns:p14="http://schemas.microsoft.com/office/powerpoint/2010/main" val="1723186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11/12/2025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22621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11/12/2025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744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11/12/2025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713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11/12/2025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41387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11/12/2025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4316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11/12/2025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2950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11/12/2025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52553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11/12/2025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104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11/12/2025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99119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11/12/2025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62109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11/12/2025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334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11/12/2025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716939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Afaq@example.com"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5AC712F-CA6C-C88A-807B-5D3406CD66EF}"/>
              </a:ext>
            </a:extLst>
          </p:cNvPr>
          <p:cNvPicPr>
            <a:picLocks noChangeAspect="1"/>
          </p:cNvPicPr>
          <p:nvPr/>
        </p:nvPicPr>
        <p:blipFill>
          <a:blip r:embed="rId2">
            <a:alphaModFix amt="40000"/>
          </a:blip>
          <a:srcRect t="31436" r="9091" b="16118"/>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1600B87D-308C-2402-9717-F52630360F4F}"/>
              </a:ext>
            </a:extLst>
          </p:cNvPr>
          <p:cNvSpPr>
            <a:spLocks noGrp="1"/>
          </p:cNvSpPr>
          <p:nvPr>
            <p:ph type="ctrTitle"/>
          </p:nvPr>
        </p:nvSpPr>
        <p:spPr>
          <a:xfrm>
            <a:off x="640080" y="985233"/>
            <a:ext cx="5758628" cy="3355853"/>
          </a:xfrm>
        </p:spPr>
        <p:txBody>
          <a:bodyPr anchor="t">
            <a:normAutofit/>
          </a:bodyPr>
          <a:lstStyle/>
          <a:p>
            <a:r>
              <a:rPr lang="en-US" sz="6000">
                <a:solidFill>
                  <a:srgbClr val="FFFFFF"/>
                </a:solidFill>
              </a:rPr>
              <a:t>NoSQL Databases</a:t>
            </a:r>
          </a:p>
        </p:txBody>
      </p:sp>
      <p:cxnSp>
        <p:nvCxnSpPr>
          <p:cNvPr id="21" name="Straight Connector 20">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3889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BCB430-EDF3-2C60-7A2B-F5E156A8B47B}"/>
              </a:ext>
            </a:extLst>
          </p:cNvPr>
          <p:cNvSpPr>
            <a:spLocks noGrp="1"/>
          </p:cNvSpPr>
          <p:nvPr>
            <p:ph type="title"/>
          </p:nvPr>
        </p:nvSpPr>
        <p:spPr>
          <a:xfrm>
            <a:off x="914400" y="1371600"/>
            <a:ext cx="10360152" cy="1139911"/>
          </a:xfrm>
        </p:spPr>
        <p:txBody>
          <a:bodyPr>
            <a:normAutofit/>
          </a:bodyPr>
          <a:lstStyle/>
          <a:p>
            <a:r>
              <a:rPr lang="en-US"/>
              <a:t>Non-relational Database</a:t>
            </a:r>
            <a:endParaRPr lang="en-US" dirty="0"/>
          </a:p>
        </p:txBody>
      </p:sp>
      <p:cxnSp>
        <p:nvCxnSpPr>
          <p:cNvPr id="20" name="Straight Connector 19">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62CC44EB-7659-E364-A6BE-7ED8B1CDE1D4}"/>
              </a:ext>
            </a:extLst>
          </p:cNvPr>
          <p:cNvGraphicFramePr>
            <a:graphicFrameLocks noGrp="1"/>
          </p:cNvGraphicFramePr>
          <p:nvPr>
            <p:ph idx="1"/>
            <p:extLst>
              <p:ext uri="{D42A27DB-BD31-4B8C-83A1-F6EECF244321}">
                <p14:modId xmlns:p14="http://schemas.microsoft.com/office/powerpoint/2010/main" val="1229914339"/>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330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A644F1-F115-A944-55B9-8063C73C123E}"/>
              </a:ext>
            </a:extLst>
          </p:cNvPr>
          <p:cNvSpPr>
            <a:spLocks noGrp="1"/>
          </p:cNvSpPr>
          <p:nvPr>
            <p:ph type="title"/>
          </p:nvPr>
        </p:nvSpPr>
        <p:spPr>
          <a:xfrm>
            <a:off x="640080" y="914399"/>
            <a:ext cx="10847494" cy="1171069"/>
          </a:xfrm>
        </p:spPr>
        <p:txBody>
          <a:bodyPr anchor="t">
            <a:normAutofit/>
          </a:bodyPr>
          <a:lstStyle/>
          <a:p>
            <a:r>
              <a:rPr lang="en-US"/>
              <a:t>Types of NoSQL Databases</a:t>
            </a:r>
            <a:endParaRPr lang="en-US" dirty="0"/>
          </a:p>
        </p:txBody>
      </p:sp>
      <p:sp>
        <p:nvSpPr>
          <p:cNvPr id="3" name="Content Placeholder 2">
            <a:extLst>
              <a:ext uri="{FF2B5EF4-FFF2-40B4-BE49-F238E27FC236}">
                <a16:creationId xmlns:a16="http://schemas.microsoft.com/office/drawing/2014/main" id="{DBAE37C7-405B-09E8-71EC-975083578D55}"/>
              </a:ext>
            </a:extLst>
          </p:cNvPr>
          <p:cNvSpPr>
            <a:spLocks noGrp="1"/>
          </p:cNvSpPr>
          <p:nvPr>
            <p:ph idx="1"/>
          </p:nvPr>
        </p:nvSpPr>
        <p:spPr>
          <a:xfrm>
            <a:off x="6915150" y="2256287"/>
            <a:ext cx="4563618" cy="3760459"/>
          </a:xfrm>
        </p:spPr>
        <p:txBody>
          <a:bodyPr anchor="t">
            <a:normAutofit/>
          </a:bodyPr>
          <a:lstStyle/>
          <a:p>
            <a:r>
              <a:rPr lang="en-US" dirty="0"/>
              <a:t>Key-Value (like a dictionary)</a:t>
            </a:r>
          </a:p>
          <a:p>
            <a:r>
              <a:rPr lang="en-US" dirty="0"/>
              <a:t> Document (stores JSON-like data) </a:t>
            </a:r>
          </a:p>
          <a:p>
            <a:r>
              <a:rPr lang="en-US" dirty="0"/>
              <a:t>Graph (best for connected data like social networks) </a:t>
            </a:r>
          </a:p>
          <a:p>
            <a:r>
              <a:rPr lang="en-US" dirty="0"/>
              <a:t>In-Memory (super fast, stores data in RAM) </a:t>
            </a:r>
          </a:p>
          <a:p>
            <a:r>
              <a:rPr lang="en-US" dirty="0"/>
              <a:t>Search (great for full-text searches)</a:t>
            </a:r>
          </a:p>
        </p:txBody>
      </p:sp>
      <p:cxnSp>
        <p:nvCxnSpPr>
          <p:cNvPr id="21" name="Straight Connector 2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A9A5F134-C76C-2D38-8FFC-830AB0803F8E}"/>
              </a:ext>
            </a:extLst>
          </p:cNvPr>
          <p:cNvGraphicFramePr>
            <a:graphicFrameLocks noGrp="1"/>
          </p:cNvGraphicFramePr>
          <p:nvPr>
            <p:extLst>
              <p:ext uri="{D42A27DB-BD31-4B8C-83A1-F6EECF244321}">
                <p14:modId xmlns:p14="http://schemas.microsoft.com/office/powerpoint/2010/main" val="2893828536"/>
              </p:ext>
            </p:extLst>
          </p:nvPr>
        </p:nvGraphicFramePr>
        <p:xfrm>
          <a:off x="713232" y="2342983"/>
          <a:ext cx="5648195" cy="3587069"/>
        </p:xfrm>
        <a:graphic>
          <a:graphicData uri="http://schemas.openxmlformats.org/drawingml/2006/table">
            <a:tbl>
              <a:tblPr>
                <a:solidFill>
                  <a:schemeClr val="tx1">
                    <a:lumMod val="65000"/>
                    <a:lumOff val="35000"/>
                  </a:schemeClr>
                </a:solidFill>
              </a:tblPr>
              <a:tblGrid>
                <a:gridCol w="1277383">
                  <a:extLst>
                    <a:ext uri="{9D8B030D-6E8A-4147-A177-3AD203B41FA5}">
                      <a16:colId xmlns:a16="http://schemas.microsoft.com/office/drawing/2014/main" val="3838562848"/>
                    </a:ext>
                  </a:extLst>
                </a:gridCol>
                <a:gridCol w="1360729">
                  <a:extLst>
                    <a:ext uri="{9D8B030D-6E8A-4147-A177-3AD203B41FA5}">
                      <a16:colId xmlns:a16="http://schemas.microsoft.com/office/drawing/2014/main" val="4100928916"/>
                    </a:ext>
                  </a:extLst>
                </a:gridCol>
                <a:gridCol w="1450249">
                  <a:extLst>
                    <a:ext uri="{9D8B030D-6E8A-4147-A177-3AD203B41FA5}">
                      <a16:colId xmlns:a16="http://schemas.microsoft.com/office/drawing/2014/main" val="952891762"/>
                    </a:ext>
                  </a:extLst>
                </a:gridCol>
                <a:gridCol w="1559834">
                  <a:extLst>
                    <a:ext uri="{9D8B030D-6E8A-4147-A177-3AD203B41FA5}">
                      <a16:colId xmlns:a16="http://schemas.microsoft.com/office/drawing/2014/main" val="667865430"/>
                    </a:ext>
                  </a:extLst>
                </a:gridCol>
              </a:tblGrid>
              <a:tr h="400284">
                <a:tc>
                  <a:txBody>
                    <a:bodyPr/>
                    <a:lstStyle/>
                    <a:p>
                      <a:pPr algn="l" fontAlgn="ctr">
                        <a:buNone/>
                      </a:pPr>
                      <a:r>
                        <a:rPr lang="en-US" sz="1600" b="0" i="0" u="none" strike="noStrike" cap="none" spc="0">
                          <a:solidFill>
                            <a:schemeClr val="bg1"/>
                          </a:solidFill>
                          <a:effectLst/>
                          <a:latin typeface="Arial" panose="020B0604020202020204" pitchFamily="34" charset="0"/>
                        </a:rPr>
                        <a:t>Type</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Format</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Example</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Use Case</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905264373"/>
                  </a:ext>
                </a:extLst>
              </a:tr>
              <a:tr h="637357">
                <a:tc>
                  <a:txBody>
                    <a:bodyPr/>
                    <a:lstStyle/>
                    <a:p>
                      <a:pPr algn="l" fontAlgn="ctr">
                        <a:buNone/>
                      </a:pPr>
                      <a:r>
                        <a:rPr lang="en-US" sz="1600" b="1" i="0" u="none" strike="noStrike" cap="none" spc="0">
                          <a:solidFill>
                            <a:schemeClr val="bg1"/>
                          </a:solidFill>
                          <a:effectLst/>
                          <a:latin typeface="Arial" panose="020B0604020202020204" pitchFamily="34" charset="0"/>
                        </a:rPr>
                        <a:t>Key-Value</a:t>
                      </a:r>
                      <a:endParaRPr lang="en-US" sz="1600" b="0" i="0" u="none" strike="noStrike" cap="none" spc="0">
                        <a:solidFill>
                          <a:schemeClr val="bg1"/>
                        </a:solidFill>
                        <a:effectLst/>
                        <a:latin typeface="Arial" panose="020B0604020202020204" pitchFamily="34" charset="0"/>
                      </a:endParaRP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Key + Value</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DynamoDB, Redis</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Session store, cache</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711650403"/>
                  </a:ext>
                </a:extLst>
              </a:tr>
              <a:tr h="637357">
                <a:tc>
                  <a:txBody>
                    <a:bodyPr/>
                    <a:lstStyle/>
                    <a:p>
                      <a:pPr algn="l" fontAlgn="ctr">
                        <a:buNone/>
                      </a:pPr>
                      <a:r>
                        <a:rPr lang="en-US" sz="1600" b="1" i="0" u="none" strike="noStrike" cap="none" spc="0">
                          <a:solidFill>
                            <a:schemeClr val="bg1"/>
                          </a:solidFill>
                          <a:effectLst/>
                          <a:latin typeface="Arial" panose="020B0604020202020204" pitchFamily="34" charset="0"/>
                        </a:rPr>
                        <a:t>Document</a:t>
                      </a:r>
                      <a:endParaRPr lang="en-US" sz="1600" b="0" i="0" u="none" strike="noStrike" cap="none" spc="0">
                        <a:solidFill>
                          <a:schemeClr val="bg1"/>
                        </a:solidFill>
                        <a:effectLst/>
                        <a:latin typeface="Arial" panose="020B0604020202020204" pitchFamily="34" charset="0"/>
                      </a:endParaRP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JSON</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MongoDB</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Web apps, CMS</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114008718"/>
                  </a:ext>
                </a:extLst>
              </a:tr>
              <a:tr h="637357">
                <a:tc>
                  <a:txBody>
                    <a:bodyPr/>
                    <a:lstStyle/>
                    <a:p>
                      <a:pPr algn="l" fontAlgn="ctr">
                        <a:buNone/>
                      </a:pPr>
                      <a:r>
                        <a:rPr lang="en-US" sz="1600" b="1" i="0" u="none" strike="noStrike" cap="none" spc="0">
                          <a:solidFill>
                            <a:schemeClr val="bg1"/>
                          </a:solidFill>
                          <a:effectLst/>
                          <a:latin typeface="Arial" panose="020B0604020202020204" pitchFamily="34" charset="0"/>
                        </a:rPr>
                        <a:t>Graph</a:t>
                      </a:r>
                      <a:endParaRPr lang="en-US" sz="1600" b="0" i="0" u="none" strike="noStrike" cap="none" spc="0">
                        <a:solidFill>
                          <a:schemeClr val="bg1"/>
                        </a:solidFill>
                        <a:effectLst/>
                        <a:latin typeface="Arial" panose="020B0604020202020204" pitchFamily="34" charset="0"/>
                      </a:endParaRP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Node + Relationship</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Neo4j</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Social network</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672380477"/>
                  </a:ext>
                </a:extLst>
              </a:tr>
              <a:tr h="637357">
                <a:tc>
                  <a:txBody>
                    <a:bodyPr/>
                    <a:lstStyle/>
                    <a:p>
                      <a:pPr algn="l" fontAlgn="ctr">
                        <a:buNone/>
                      </a:pPr>
                      <a:r>
                        <a:rPr lang="en-US" sz="1600" b="1" i="0" u="none" strike="noStrike" cap="none" spc="0">
                          <a:solidFill>
                            <a:schemeClr val="bg1"/>
                          </a:solidFill>
                          <a:effectLst/>
                          <a:latin typeface="Arial" panose="020B0604020202020204" pitchFamily="34" charset="0"/>
                        </a:rPr>
                        <a:t>In-Memory</a:t>
                      </a:r>
                      <a:endParaRPr lang="en-US" sz="1600" b="0" i="0" u="none" strike="noStrike" cap="none" spc="0">
                        <a:solidFill>
                          <a:schemeClr val="bg1"/>
                        </a:solidFill>
                        <a:effectLst/>
                        <a:latin typeface="Arial" panose="020B0604020202020204" pitchFamily="34" charset="0"/>
                      </a:endParaRP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RAM-based</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Redis</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Real-time analytics</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1044626888"/>
                  </a:ext>
                </a:extLst>
              </a:tr>
              <a:tr h="637357">
                <a:tc>
                  <a:txBody>
                    <a:bodyPr/>
                    <a:lstStyle/>
                    <a:p>
                      <a:pPr algn="l" fontAlgn="ctr">
                        <a:buNone/>
                      </a:pPr>
                      <a:r>
                        <a:rPr lang="en-US" sz="1600" b="1" i="0" u="none" strike="noStrike" cap="none" spc="0">
                          <a:solidFill>
                            <a:schemeClr val="bg1"/>
                          </a:solidFill>
                          <a:effectLst/>
                          <a:latin typeface="Arial" panose="020B0604020202020204" pitchFamily="34" charset="0"/>
                        </a:rPr>
                        <a:t>Search</a:t>
                      </a:r>
                      <a:endParaRPr lang="en-US" sz="1600" b="0" i="0" u="none" strike="noStrike" cap="none" spc="0">
                        <a:solidFill>
                          <a:schemeClr val="bg1"/>
                        </a:solidFill>
                        <a:effectLst/>
                        <a:latin typeface="Arial" panose="020B0604020202020204" pitchFamily="34" charset="0"/>
                      </a:endParaRP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Indexed text</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Elasticsearch</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l" fontAlgn="ctr">
                        <a:buNone/>
                      </a:pPr>
                      <a:r>
                        <a:rPr lang="en-US" sz="1600" b="0" i="0" u="none" strike="noStrike" cap="none" spc="0">
                          <a:solidFill>
                            <a:schemeClr val="bg1"/>
                          </a:solidFill>
                          <a:effectLst/>
                          <a:latin typeface="Arial" panose="020B0604020202020204" pitchFamily="34" charset="0"/>
                        </a:rPr>
                        <a:t>Log / text search</a:t>
                      </a:r>
                    </a:p>
                  </a:txBody>
                  <a:tcPr marL="77496" marR="77496" marT="38748" marB="88902"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221860359"/>
                  </a:ext>
                </a:extLst>
              </a:tr>
            </a:tbl>
          </a:graphicData>
        </a:graphic>
      </p:graphicFrame>
    </p:spTree>
    <p:extLst>
      <p:ext uri="{BB962C8B-B14F-4D97-AF65-F5344CB8AC3E}">
        <p14:creationId xmlns:p14="http://schemas.microsoft.com/office/powerpoint/2010/main" val="2237171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FAF3F6-CADF-A36E-D357-534C5DB7101B}"/>
              </a:ext>
            </a:extLst>
          </p:cNvPr>
          <p:cNvSpPr>
            <a:spLocks noGrp="1"/>
          </p:cNvSpPr>
          <p:nvPr>
            <p:ph type="title"/>
          </p:nvPr>
        </p:nvSpPr>
        <p:spPr>
          <a:xfrm>
            <a:off x="5496821" y="1371600"/>
            <a:ext cx="6034187" cy="1097280"/>
          </a:xfrm>
        </p:spPr>
        <p:txBody>
          <a:bodyPr>
            <a:normAutofit/>
          </a:bodyPr>
          <a:lstStyle/>
          <a:p>
            <a:r>
              <a:rPr lang="en-US"/>
              <a:t>What is DynamoDB?</a:t>
            </a:r>
            <a:endParaRPr lang="en-US" dirty="0"/>
          </a:p>
        </p:txBody>
      </p:sp>
      <p:pic>
        <p:nvPicPr>
          <p:cNvPr id="14" name="Picture 13" descr="Neon Colored Gadgets">
            <a:extLst>
              <a:ext uri="{FF2B5EF4-FFF2-40B4-BE49-F238E27FC236}">
                <a16:creationId xmlns:a16="http://schemas.microsoft.com/office/drawing/2014/main" id="{BADB5330-7FAA-6890-9B03-C3EC8CD315A6}"/>
              </a:ext>
            </a:extLst>
          </p:cNvPr>
          <p:cNvPicPr>
            <a:picLocks noChangeAspect="1"/>
          </p:cNvPicPr>
          <p:nvPr/>
        </p:nvPicPr>
        <p:blipFill>
          <a:blip r:embed="rId2"/>
          <a:srcRect l="10781" r="38927" b="1"/>
          <a:stretch>
            <a:fillRect/>
          </a:stretch>
        </p:blipFill>
        <p:spPr>
          <a:xfrm>
            <a:off x="20" y="10"/>
            <a:ext cx="4857871" cy="6857990"/>
          </a:xfrm>
          <a:prstGeom prst="rect">
            <a:avLst/>
          </a:prstGeom>
        </p:spPr>
      </p:pic>
      <p:cxnSp>
        <p:nvCxnSpPr>
          <p:cNvPr id="15" name="Straight Connector 14">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9A18E871-0135-4D03-3B05-42EF571BC5DC}"/>
              </a:ext>
            </a:extLst>
          </p:cNvPr>
          <p:cNvSpPr>
            <a:spLocks noGrp="1"/>
          </p:cNvSpPr>
          <p:nvPr>
            <p:ph idx="1"/>
          </p:nvPr>
        </p:nvSpPr>
        <p:spPr>
          <a:xfrm>
            <a:off x="5496821" y="2633236"/>
            <a:ext cx="6034187" cy="3664687"/>
          </a:xfrm>
        </p:spPr>
        <p:txBody>
          <a:bodyPr>
            <a:normAutofit/>
          </a:bodyPr>
          <a:lstStyle/>
          <a:p>
            <a:pPr>
              <a:lnSpc>
                <a:spcPct val="110000"/>
              </a:lnSpc>
            </a:pPr>
            <a:r>
              <a:rPr lang="en-US" sz="1700"/>
              <a:t>DynamoDB is a fully managed NoSQL database provided by AWS. </a:t>
            </a:r>
          </a:p>
          <a:p>
            <a:pPr>
              <a:lnSpc>
                <a:spcPct val="110000"/>
              </a:lnSpc>
            </a:pPr>
            <a:r>
              <a:rPr lang="en-US" sz="1700"/>
              <a:t>It is not a relational database like MySQL or PostgreSQL, but a NoSQL database designed for high-performance and massive scalability.</a:t>
            </a:r>
          </a:p>
          <a:p>
            <a:pPr>
              <a:lnSpc>
                <a:spcPct val="110000"/>
              </a:lnSpc>
            </a:pPr>
            <a:r>
              <a:rPr lang="en-US" sz="1700"/>
              <a:t>DynamoDB is widely used for applications such as real-time analytics, gaming, IoT, mobile backends, and serverless applications.</a:t>
            </a:r>
          </a:p>
          <a:p>
            <a:pPr>
              <a:lnSpc>
                <a:spcPct val="110000"/>
              </a:lnSpc>
            </a:pPr>
            <a:r>
              <a:rPr lang="en-US" sz="1700"/>
              <a:t> Its serverless nature makes it highly appealing for developers aiming for minimal infrastructure management.</a:t>
            </a:r>
          </a:p>
        </p:txBody>
      </p:sp>
    </p:spTree>
    <p:extLst>
      <p:ext uri="{BB962C8B-B14F-4D97-AF65-F5344CB8AC3E}">
        <p14:creationId xmlns:p14="http://schemas.microsoft.com/office/powerpoint/2010/main" val="3354218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841007B-E0E8-6128-D381-77415FA81FEB}"/>
              </a:ext>
            </a:extLst>
          </p:cNvPr>
          <p:cNvPicPr>
            <a:picLocks noGrp="1" noChangeAspect="1"/>
          </p:cNvPicPr>
          <p:nvPr>
            <p:ph idx="1"/>
          </p:nvPr>
        </p:nvPicPr>
        <p:blipFill>
          <a:blip r:embed="rId2"/>
          <a:srcRect b="1747"/>
          <a:stretch>
            <a:fillRect/>
          </a:stretch>
        </p:blipFill>
        <p:spPr>
          <a:xfrm>
            <a:off x="10906" y="10"/>
            <a:ext cx="12191979" cy="6857989"/>
          </a:xfrm>
          <a:prstGeom prst="rect">
            <a:avLst/>
          </a:prstGeom>
        </p:spPr>
      </p:pic>
      <p:sp>
        <p:nvSpPr>
          <p:cNvPr id="23" name="Rectangle 22">
            <a:extLst>
              <a:ext uri="{FF2B5EF4-FFF2-40B4-BE49-F238E27FC236}">
                <a16:creationId xmlns:a16="http://schemas.microsoft.com/office/drawing/2014/main" id="{9E9D00D9-C4F5-471E-BE2C-126CB112A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20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12160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A54545-6E36-F119-54CC-033A62FDF6CC}"/>
              </a:ext>
            </a:extLst>
          </p:cNvPr>
          <p:cNvSpPr>
            <a:spLocks noGrp="1"/>
          </p:cNvSpPr>
          <p:nvPr>
            <p:ph type="title"/>
          </p:nvPr>
        </p:nvSpPr>
        <p:spPr>
          <a:xfrm>
            <a:off x="5496821" y="1371600"/>
            <a:ext cx="6034187" cy="1097280"/>
          </a:xfrm>
        </p:spPr>
        <p:txBody>
          <a:bodyPr>
            <a:normAutofit/>
          </a:bodyPr>
          <a:lstStyle/>
          <a:p>
            <a:r>
              <a:rPr lang="en-US" dirty="0"/>
              <a:t>Why Choose DynamoDB?</a:t>
            </a:r>
          </a:p>
        </p:txBody>
      </p:sp>
      <p:pic>
        <p:nvPicPr>
          <p:cNvPr id="5" name="Picture 4" descr="Magnifying glass showing decling performance">
            <a:extLst>
              <a:ext uri="{FF2B5EF4-FFF2-40B4-BE49-F238E27FC236}">
                <a16:creationId xmlns:a16="http://schemas.microsoft.com/office/drawing/2014/main" id="{46D3A305-7EC9-D65E-B559-78DE74CFA7E6}"/>
              </a:ext>
            </a:extLst>
          </p:cNvPr>
          <p:cNvPicPr>
            <a:picLocks noChangeAspect="1"/>
          </p:cNvPicPr>
          <p:nvPr/>
        </p:nvPicPr>
        <p:blipFill>
          <a:blip r:embed="rId2"/>
          <a:srcRect l="11077" r="41640"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A3DFBD-0FA2-F4B1-9B26-36A635C0D3E7}"/>
              </a:ext>
            </a:extLst>
          </p:cNvPr>
          <p:cNvSpPr>
            <a:spLocks noGrp="1"/>
          </p:cNvSpPr>
          <p:nvPr>
            <p:ph idx="1"/>
          </p:nvPr>
        </p:nvSpPr>
        <p:spPr>
          <a:xfrm>
            <a:off x="5496821" y="2633236"/>
            <a:ext cx="6034187" cy="3664687"/>
          </a:xfrm>
        </p:spPr>
        <p:txBody>
          <a:bodyPr>
            <a:normAutofit/>
          </a:bodyPr>
          <a:lstStyle/>
          <a:p>
            <a:pPr>
              <a:lnSpc>
                <a:spcPct val="110000"/>
              </a:lnSpc>
            </a:pPr>
            <a:r>
              <a:rPr lang="en-US" sz="1600" b="1" dirty="0"/>
              <a:t>1. Performance at Scale: </a:t>
            </a:r>
            <a:r>
              <a:rPr lang="en-US" sz="1600" dirty="0"/>
              <a:t>DynamoDB can handle millions of requests per second with consistent low latency. </a:t>
            </a:r>
          </a:p>
          <a:p>
            <a:pPr>
              <a:lnSpc>
                <a:spcPct val="110000"/>
              </a:lnSpc>
            </a:pPr>
            <a:r>
              <a:rPr lang="en-US" sz="1600" b="1" dirty="0"/>
              <a:t>2. Highly Scalable: </a:t>
            </a:r>
            <a:r>
              <a:rPr lang="en-US" sz="1600" dirty="0"/>
              <a:t>Automatic scaling adjusts read and write capacity based on traffic patterns, ensuring cost-efficiency.</a:t>
            </a:r>
          </a:p>
          <a:p>
            <a:pPr>
              <a:lnSpc>
                <a:spcPct val="110000"/>
              </a:lnSpc>
            </a:pPr>
            <a:r>
              <a:rPr lang="en-US" sz="1600" b="1" dirty="0"/>
              <a:t> 3. Flexible Data Model: </a:t>
            </a:r>
            <a:r>
              <a:rPr lang="en-US" sz="1600" dirty="0"/>
              <a:t>Supports both key-value pairs and JSON documents. </a:t>
            </a:r>
          </a:p>
          <a:p>
            <a:pPr>
              <a:lnSpc>
                <a:spcPct val="110000"/>
              </a:lnSpc>
            </a:pPr>
            <a:r>
              <a:rPr lang="en-US" sz="1600" b="1" dirty="0"/>
              <a:t>4. Global Accessibility: </a:t>
            </a:r>
            <a:r>
              <a:rPr lang="en-US" sz="1600" dirty="0"/>
              <a:t>multi-region replication ensures data availability and fault tolerance globally. </a:t>
            </a:r>
          </a:p>
          <a:p>
            <a:pPr>
              <a:lnSpc>
                <a:spcPct val="110000"/>
              </a:lnSpc>
            </a:pPr>
            <a:r>
              <a:rPr lang="en-US" sz="1600" b="1" dirty="0"/>
              <a:t>5. Integration with AWS Ecosystem: </a:t>
            </a:r>
            <a:r>
              <a:rPr lang="en-US" sz="1600" dirty="0"/>
              <a:t>Works seamlessly with AWS Lambda, API Gateway, and other AWS services. </a:t>
            </a:r>
          </a:p>
        </p:txBody>
      </p:sp>
    </p:spTree>
    <p:extLst>
      <p:ext uri="{BB962C8B-B14F-4D97-AF65-F5344CB8AC3E}">
        <p14:creationId xmlns:p14="http://schemas.microsoft.com/office/powerpoint/2010/main" val="1864975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C4BEB-740E-B325-4B4A-348E81E5147F}"/>
              </a:ext>
            </a:extLst>
          </p:cNvPr>
          <p:cNvSpPr>
            <a:spLocks noGrp="1"/>
          </p:cNvSpPr>
          <p:nvPr>
            <p:ph type="title"/>
          </p:nvPr>
        </p:nvSpPr>
        <p:spPr>
          <a:xfrm>
            <a:off x="640080" y="1371600"/>
            <a:ext cx="5737859" cy="1097280"/>
          </a:xfrm>
        </p:spPr>
        <p:txBody>
          <a:bodyPr>
            <a:normAutofit/>
          </a:bodyPr>
          <a:lstStyle/>
          <a:p>
            <a:pPr>
              <a:lnSpc>
                <a:spcPct val="90000"/>
              </a:lnSpc>
            </a:pPr>
            <a:r>
              <a:rPr lang="en-US" sz="3400"/>
              <a:t>Key Features of DynamoDB:</a:t>
            </a:r>
          </a:p>
        </p:txBody>
      </p:sp>
      <p:cxnSp>
        <p:nvCxnSpPr>
          <p:cNvPr id="33" name="Straight Connector 3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0" name="Content Placeholder 2">
            <a:extLst>
              <a:ext uri="{FF2B5EF4-FFF2-40B4-BE49-F238E27FC236}">
                <a16:creationId xmlns:a16="http://schemas.microsoft.com/office/drawing/2014/main" id="{89EE0307-FCF5-5AD5-B8EB-D4125BA79883}"/>
              </a:ext>
            </a:extLst>
          </p:cNvPr>
          <p:cNvSpPr>
            <a:spLocks noGrp="1"/>
          </p:cNvSpPr>
          <p:nvPr>
            <p:ph idx="1"/>
          </p:nvPr>
        </p:nvSpPr>
        <p:spPr>
          <a:xfrm>
            <a:off x="640080" y="2633236"/>
            <a:ext cx="5737860" cy="3666980"/>
          </a:xfrm>
        </p:spPr>
        <p:txBody>
          <a:bodyPr>
            <a:normAutofit/>
          </a:bodyPr>
          <a:lstStyle/>
          <a:p>
            <a:pPr>
              <a:lnSpc>
                <a:spcPct val="110000"/>
              </a:lnSpc>
              <a:spcBef>
                <a:spcPts val="0"/>
              </a:spcBef>
            </a:pPr>
            <a:r>
              <a:rPr lang="en-US" sz="1400" b="1"/>
              <a:t>Fully Managed : </a:t>
            </a:r>
            <a:r>
              <a:rPr lang="en-US" sz="1400"/>
              <a:t>You don’t need to manage infrastructure (no servers, no updates, no patching). • AWS handles provisioning, patching, replication, fault tolerance, backups, etc.</a:t>
            </a:r>
          </a:p>
          <a:p>
            <a:pPr>
              <a:lnSpc>
                <a:spcPct val="110000"/>
              </a:lnSpc>
              <a:spcBef>
                <a:spcPts val="0"/>
              </a:spcBef>
            </a:pPr>
            <a:r>
              <a:rPr lang="en-US" sz="1400" b="1"/>
              <a:t>Fast Performance : </a:t>
            </a:r>
            <a:r>
              <a:rPr lang="en-US" sz="1400"/>
              <a:t>Single-digit millisecond latency, which means it can respond to requests almost instantly, making it super fast for real-time applications. Consistent performance whether your table has 10 items or 10 million.</a:t>
            </a:r>
          </a:p>
          <a:p>
            <a:pPr>
              <a:lnSpc>
                <a:spcPct val="110000"/>
              </a:lnSpc>
              <a:spcBef>
                <a:spcPts val="0"/>
              </a:spcBef>
            </a:pPr>
            <a:r>
              <a:rPr lang="en-US" sz="1400" b="1"/>
              <a:t>Highly Available : </a:t>
            </a:r>
            <a:r>
              <a:rPr lang="en-US" sz="1400"/>
              <a:t>DynamoDB automatically replicates your data across 3 Availability Zones (AZs) to ensure it is always available, even if one AZ goes down.</a:t>
            </a:r>
          </a:p>
          <a:p>
            <a:pPr>
              <a:lnSpc>
                <a:spcPct val="110000"/>
              </a:lnSpc>
              <a:spcBef>
                <a:spcPts val="0"/>
              </a:spcBef>
            </a:pPr>
            <a:r>
              <a:rPr lang="en-US" sz="1400" b="1"/>
              <a:t>On-Demand and Provisioned Capacity Modes: </a:t>
            </a:r>
          </a:p>
          <a:p>
            <a:pPr>
              <a:lnSpc>
                <a:spcPct val="110000"/>
              </a:lnSpc>
              <a:spcBef>
                <a:spcPts val="0"/>
              </a:spcBef>
            </a:pPr>
            <a:r>
              <a:rPr lang="en-US" sz="1400" b="1"/>
              <a:t> On-Demand: </a:t>
            </a:r>
            <a:r>
              <a:rPr lang="en-US" sz="1400"/>
              <a:t>Automatically scales based on traffic, suitable for unpredictable workloads. </a:t>
            </a:r>
          </a:p>
          <a:p>
            <a:pPr>
              <a:lnSpc>
                <a:spcPct val="110000"/>
              </a:lnSpc>
              <a:spcBef>
                <a:spcPts val="0"/>
              </a:spcBef>
            </a:pPr>
            <a:r>
              <a:rPr lang="en-US" sz="1400"/>
              <a:t> </a:t>
            </a:r>
            <a:r>
              <a:rPr lang="en-US" sz="1400" b="1"/>
              <a:t>Provisioned: </a:t>
            </a:r>
            <a:r>
              <a:rPr lang="en-US" sz="1400"/>
              <a:t>Pre-configured read/write capacity, suitable for predictable workloads.</a:t>
            </a:r>
          </a:p>
          <a:p>
            <a:pPr>
              <a:lnSpc>
                <a:spcPct val="110000"/>
              </a:lnSpc>
            </a:pPr>
            <a:endParaRPr lang="en-US" sz="1400"/>
          </a:p>
        </p:txBody>
      </p:sp>
      <p:pic>
        <p:nvPicPr>
          <p:cNvPr id="5" name="Picture 4" descr="A room with many rows of servers&#10;&#10;AI-generated content may be incorrect.">
            <a:extLst>
              <a:ext uri="{FF2B5EF4-FFF2-40B4-BE49-F238E27FC236}">
                <a16:creationId xmlns:a16="http://schemas.microsoft.com/office/drawing/2014/main" id="{8942024A-85A8-9370-17F2-AE7E808C56A4}"/>
              </a:ext>
            </a:extLst>
          </p:cNvPr>
          <p:cNvPicPr>
            <a:picLocks noChangeAspect="1"/>
          </p:cNvPicPr>
          <p:nvPr/>
        </p:nvPicPr>
        <p:blipFill>
          <a:blip r:embed="rId3"/>
          <a:srcRect l="4498" r="55657"/>
          <a:stretch>
            <a:fillRect/>
          </a:stretch>
        </p:blipFill>
        <p:spPr>
          <a:xfrm>
            <a:off x="7435557" y="914400"/>
            <a:ext cx="3815073" cy="5385816"/>
          </a:xfrm>
          <a:prstGeom prst="rect">
            <a:avLst/>
          </a:prstGeom>
        </p:spPr>
      </p:pic>
    </p:spTree>
    <p:extLst>
      <p:ext uri="{BB962C8B-B14F-4D97-AF65-F5344CB8AC3E}">
        <p14:creationId xmlns:p14="http://schemas.microsoft.com/office/powerpoint/2010/main" val="341437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FDC356-1867-CE0C-1713-4204B12D0566}"/>
              </a:ext>
            </a:extLst>
          </p:cNvPr>
          <p:cNvSpPr>
            <a:spLocks noGrp="1"/>
          </p:cNvSpPr>
          <p:nvPr>
            <p:ph idx="1"/>
          </p:nvPr>
        </p:nvSpPr>
        <p:spPr>
          <a:xfrm>
            <a:off x="640080" y="2761673"/>
            <a:ext cx="10890929" cy="3536241"/>
          </a:xfrm>
        </p:spPr>
        <p:txBody>
          <a:bodyPr>
            <a:normAutofit/>
          </a:bodyPr>
          <a:lstStyle/>
          <a:p>
            <a:pPr>
              <a:lnSpc>
                <a:spcPct val="110000"/>
              </a:lnSpc>
            </a:pPr>
            <a:r>
              <a:rPr lang="en-US" sz="1700" b="1" dirty="0"/>
              <a:t>Scalable and Serverless : </a:t>
            </a:r>
            <a:r>
              <a:rPr lang="en-US" sz="1700" dirty="0"/>
              <a:t>It can handle huge workloads—millions of requests per second, trillions of rows, and hundreds of terabytes (TB) of storage, DynamoDB is serverless, meaning you don’t need to manage servers. It automatically scales to meet your needs.</a:t>
            </a:r>
          </a:p>
          <a:p>
            <a:pPr>
              <a:lnSpc>
                <a:spcPct val="110000"/>
              </a:lnSpc>
            </a:pPr>
            <a:r>
              <a:rPr lang="en-US" sz="1700" b="1" dirty="0"/>
              <a:t>Integrated Security :</a:t>
            </a:r>
            <a:r>
              <a:rPr lang="en-US" sz="1700" dirty="0"/>
              <a:t>Integrated with IAM (Identity and Access Management) for controlling access and security of your data </a:t>
            </a:r>
          </a:p>
          <a:p>
            <a:pPr>
              <a:lnSpc>
                <a:spcPct val="110000"/>
              </a:lnSpc>
            </a:pPr>
            <a:r>
              <a:rPr lang="en-US" sz="1700" b="1" dirty="0"/>
              <a:t>Low Cost and Auto Scaling : </a:t>
            </a:r>
            <a:r>
              <a:rPr lang="en-US" sz="1700" dirty="0"/>
              <a:t>DynamoDB offers low-cost options, and it automatically scales up or down based on the demand, so you only pay for what you use. </a:t>
            </a:r>
          </a:p>
          <a:p>
            <a:pPr>
              <a:lnSpc>
                <a:spcPct val="110000"/>
              </a:lnSpc>
            </a:pPr>
            <a:r>
              <a:rPr lang="en-US" sz="1700" b="1" dirty="0"/>
              <a:t>Storage Options : </a:t>
            </a:r>
            <a:r>
              <a:rPr lang="en-US" sz="1700" dirty="0"/>
              <a:t>Supports Standard and Infrequent Access (IA) table classes. </a:t>
            </a:r>
          </a:p>
          <a:p>
            <a:pPr>
              <a:lnSpc>
                <a:spcPct val="110000"/>
              </a:lnSpc>
            </a:pPr>
            <a:r>
              <a:rPr lang="en-US" sz="1700" dirty="0"/>
              <a:t>Use Standard for frequently accessed data and IA for data that is accessed less often, helping save costs.</a:t>
            </a:r>
          </a:p>
        </p:txBody>
      </p:sp>
      <p:cxnSp>
        <p:nvCxnSpPr>
          <p:cNvPr id="21" name="Straight Connector 2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973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01DB2A3-EFB5-14D9-A2F4-7B0EA9E8D661}"/>
              </a:ext>
            </a:extLst>
          </p:cNvPr>
          <p:cNvGraphicFramePr>
            <a:graphicFrameLocks noGrp="1"/>
          </p:cNvGraphicFramePr>
          <p:nvPr>
            <p:ph idx="1"/>
            <p:extLst>
              <p:ext uri="{D42A27DB-BD31-4B8C-83A1-F6EECF244321}">
                <p14:modId xmlns:p14="http://schemas.microsoft.com/office/powerpoint/2010/main" val="1544082525"/>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5673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CA6590-668E-C22D-83F3-0A16B53FB3C8}"/>
              </a:ext>
            </a:extLst>
          </p:cNvPr>
          <p:cNvSpPr>
            <a:spLocks noGrp="1"/>
          </p:cNvSpPr>
          <p:nvPr>
            <p:ph type="title"/>
          </p:nvPr>
        </p:nvSpPr>
        <p:spPr>
          <a:xfrm>
            <a:off x="640080" y="1371600"/>
            <a:ext cx="5737859" cy="1097280"/>
          </a:xfrm>
        </p:spPr>
        <p:txBody>
          <a:bodyPr>
            <a:normAutofit/>
          </a:bodyPr>
          <a:lstStyle/>
          <a:p>
            <a:r>
              <a:rPr lang="en-US" dirty="0"/>
              <a:t>Example:</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F831E1B0-2E08-8233-ADE5-D049AC423B8B}"/>
              </a:ext>
            </a:extLst>
          </p:cNvPr>
          <p:cNvSpPr>
            <a:spLocks noGrp="1"/>
          </p:cNvSpPr>
          <p:nvPr>
            <p:ph idx="1"/>
          </p:nvPr>
        </p:nvSpPr>
        <p:spPr>
          <a:xfrm>
            <a:off x="640080" y="2633236"/>
            <a:ext cx="5737860" cy="3666980"/>
          </a:xfrm>
        </p:spPr>
        <p:txBody>
          <a:bodyPr>
            <a:normAutofit/>
          </a:bodyPr>
          <a:lstStyle/>
          <a:p>
            <a:pPr>
              <a:lnSpc>
                <a:spcPct val="110000"/>
              </a:lnSpc>
              <a:spcBef>
                <a:spcPts val="0"/>
              </a:spcBef>
              <a:spcAft>
                <a:spcPts val="600"/>
              </a:spcAft>
            </a:pPr>
            <a:r>
              <a:rPr lang="en-US" sz="1400"/>
              <a:t>Let’s say you run an online store that needs to store millions of products and user reviews. Each time a customer views a product, the database needs to fetch the product details and reviews instantly. </a:t>
            </a:r>
          </a:p>
          <a:p>
            <a:pPr>
              <a:lnSpc>
                <a:spcPct val="110000"/>
              </a:lnSpc>
              <a:spcBef>
                <a:spcPts val="0"/>
              </a:spcBef>
              <a:spcAft>
                <a:spcPts val="600"/>
              </a:spcAft>
            </a:pPr>
            <a:r>
              <a:rPr lang="en-US" sz="1400"/>
              <a:t>DynamoDB can handle this because it can scale up when traffic spikes (e.g., during a sale) and provide fast access to product details in milliseconds. </a:t>
            </a:r>
          </a:p>
          <a:p>
            <a:pPr>
              <a:lnSpc>
                <a:spcPct val="110000"/>
              </a:lnSpc>
              <a:spcBef>
                <a:spcPts val="0"/>
              </a:spcBef>
              <a:spcAft>
                <a:spcPts val="600"/>
              </a:spcAft>
            </a:pPr>
            <a:r>
              <a:rPr lang="en-US" sz="1400"/>
              <a:t>It automatically replicates the data across different zones, ensuring that even if one server goes down, your data remains available. </a:t>
            </a:r>
          </a:p>
          <a:p>
            <a:pPr>
              <a:lnSpc>
                <a:spcPct val="110000"/>
              </a:lnSpc>
              <a:spcBef>
                <a:spcPts val="0"/>
              </a:spcBef>
              <a:spcAft>
                <a:spcPts val="600"/>
              </a:spcAft>
            </a:pPr>
            <a:r>
              <a:rPr lang="en-US" sz="1400" b="1"/>
              <a:t>Summary : </a:t>
            </a:r>
            <a:r>
              <a:rPr lang="en-US" sz="1400"/>
              <a:t>DynamoDB is perfect for applications that need to handle massive data and high traffic. </a:t>
            </a:r>
          </a:p>
          <a:p>
            <a:pPr>
              <a:lnSpc>
                <a:spcPct val="110000"/>
              </a:lnSpc>
              <a:spcBef>
                <a:spcPts val="0"/>
              </a:spcBef>
              <a:spcAft>
                <a:spcPts val="600"/>
              </a:spcAft>
            </a:pPr>
            <a:r>
              <a:rPr lang="en-US" sz="1400"/>
              <a:t>It’s fast, highly available, and scales automatically with low costs. </a:t>
            </a:r>
          </a:p>
          <a:p>
            <a:pPr>
              <a:lnSpc>
                <a:spcPct val="110000"/>
              </a:lnSpc>
              <a:spcBef>
                <a:spcPts val="0"/>
              </a:spcBef>
              <a:spcAft>
                <a:spcPts val="600"/>
              </a:spcAft>
            </a:pPr>
            <a:r>
              <a:rPr lang="en-US" sz="1400"/>
              <a:t>Ideal for real-time apps with large amounts of data, like gaming apps, online stores, or social media platforms.</a:t>
            </a:r>
          </a:p>
        </p:txBody>
      </p:sp>
      <p:pic>
        <p:nvPicPr>
          <p:cNvPr id="7" name="Graphic 6" descr="Kiosk">
            <a:extLst>
              <a:ext uri="{FF2B5EF4-FFF2-40B4-BE49-F238E27FC236}">
                <a16:creationId xmlns:a16="http://schemas.microsoft.com/office/drawing/2014/main" id="{C68E9866-7F00-8055-64A0-7BCB766987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276656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5D470E8-72C9-4268-D80E-47EFBB7C53F7}"/>
              </a:ext>
            </a:extLst>
          </p:cNvPr>
          <p:cNvSpPr>
            <a:spLocks noGrp="1"/>
          </p:cNvSpPr>
          <p:nvPr>
            <p:ph type="title"/>
          </p:nvPr>
        </p:nvSpPr>
        <p:spPr>
          <a:xfrm>
            <a:off x="640080" y="4169924"/>
            <a:ext cx="4306824" cy="1984094"/>
          </a:xfrm>
        </p:spPr>
        <p:txBody>
          <a:bodyPr anchor="b">
            <a:normAutofit/>
          </a:bodyPr>
          <a:lstStyle/>
          <a:p>
            <a:r>
              <a:rPr lang="en-US"/>
              <a:t>Components of DynamoDB:</a:t>
            </a:r>
            <a:endParaRPr lang="en-US" dirty="0"/>
          </a:p>
        </p:txBody>
      </p:sp>
      <p:cxnSp>
        <p:nvCxnSpPr>
          <p:cNvPr id="11" name="Straight Connector 10">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67512"/>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descr="Wooden block pieces">
            <a:extLst>
              <a:ext uri="{FF2B5EF4-FFF2-40B4-BE49-F238E27FC236}">
                <a16:creationId xmlns:a16="http://schemas.microsoft.com/office/drawing/2014/main" id="{E009F85D-E119-2FE2-92A2-240CC4B0EFA5}"/>
              </a:ext>
            </a:extLst>
          </p:cNvPr>
          <p:cNvPicPr>
            <a:picLocks noChangeAspect="1"/>
          </p:cNvPicPr>
          <p:nvPr/>
        </p:nvPicPr>
        <p:blipFill>
          <a:blip r:embed="rId3"/>
          <a:srcRect r="11187" b="-2"/>
          <a:stretch>
            <a:fillRect/>
          </a:stretch>
        </p:blipFill>
        <p:spPr>
          <a:xfrm>
            <a:off x="20" y="703983"/>
            <a:ext cx="4946886" cy="3133200"/>
          </a:xfrm>
          <a:prstGeom prst="rect">
            <a:avLst/>
          </a:prstGeom>
        </p:spPr>
      </p:pic>
      <p:sp>
        <p:nvSpPr>
          <p:cNvPr id="8" name="Content Placeholder 2">
            <a:extLst>
              <a:ext uri="{FF2B5EF4-FFF2-40B4-BE49-F238E27FC236}">
                <a16:creationId xmlns:a16="http://schemas.microsoft.com/office/drawing/2014/main" id="{12117DF3-7EEB-D871-46E4-34730CF3EBBD}"/>
              </a:ext>
            </a:extLst>
          </p:cNvPr>
          <p:cNvSpPr>
            <a:spLocks noGrp="1"/>
          </p:cNvSpPr>
          <p:nvPr>
            <p:ph idx="1"/>
          </p:nvPr>
        </p:nvSpPr>
        <p:spPr>
          <a:xfrm>
            <a:off x="5641848" y="665018"/>
            <a:ext cx="5889161" cy="5632906"/>
          </a:xfrm>
        </p:spPr>
        <p:txBody>
          <a:bodyPr>
            <a:normAutofit/>
          </a:bodyPr>
          <a:lstStyle/>
          <a:p>
            <a:pPr>
              <a:lnSpc>
                <a:spcPct val="110000"/>
              </a:lnSpc>
              <a:spcBef>
                <a:spcPts val="0"/>
              </a:spcBef>
              <a:spcAft>
                <a:spcPts val="600"/>
              </a:spcAft>
            </a:pPr>
            <a:r>
              <a:rPr lang="en-US" sz="1700" b="1" dirty="0"/>
              <a:t>Tables :</a:t>
            </a:r>
            <a:r>
              <a:rPr lang="en-US" sz="1700" dirty="0"/>
              <a:t> </a:t>
            </a:r>
          </a:p>
          <a:p>
            <a:pPr lvl="1">
              <a:lnSpc>
                <a:spcPct val="110000"/>
              </a:lnSpc>
              <a:spcBef>
                <a:spcPts val="0"/>
              </a:spcBef>
              <a:spcAft>
                <a:spcPts val="600"/>
              </a:spcAft>
            </a:pPr>
            <a:r>
              <a:rPr lang="en-US" sz="1700" dirty="0"/>
              <a:t>A container for your data. </a:t>
            </a:r>
          </a:p>
          <a:p>
            <a:pPr lvl="1">
              <a:lnSpc>
                <a:spcPct val="110000"/>
              </a:lnSpc>
              <a:spcBef>
                <a:spcPts val="0"/>
              </a:spcBef>
              <a:spcAft>
                <a:spcPts val="600"/>
              </a:spcAft>
            </a:pPr>
            <a:r>
              <a:rPr lang="en-US" sz="1700" dirty="0"/>
              <a:t>You define a primary key (partition key or composite key) when creating a table. </a:t>
            </a:r>
          </a:p>
          <a:p>
            <a:pPr>
              <a:lnSpc>
                <a:spcPct val="110000"/>
              </a:lnSpc>
              <a:spcBef>
                <a:spcPts val="0"/>
              </a:spcBef>
              <a:spcAft>
                <a:spcPts val="600"/>
              </a:spcAft>
            </a:pPr>
            <a:r>
              <a:rPr lang="en-US" sz="1700" b="1" dirty="0"/>
              <a:t>Items :</a:t>
            </a:r>
          </a:p>
          <a:p>
            <a:pPr lvl="1">
              <a:lnSpc>
                <a:spcPct val="110000"/>
              </a:lnSpc>
              <a:spcBef>
                <a:spcPts val="0"/>
              </a:spcBef>
              <a:spcAft>
                <a:spcPts val="600"/>
              </a:spcAft>
            </a:pPr>
            <a:r>
              <a:rPr lang="en-US" sz="1700" b="1" dirty="0"/>
              <a:t> </a:t>
            </a:r>
            <a:r>
              <a:rPr lang="en-US" sz="1700" dirty="0"/>
              <a:t>Equivalent to a row in a relational database.</a:t>
            </a:r>
          </a:p>
          <a:p>
            <a:pPr lvl="1">
              <a:lnSpc>
                <a:spcPct val="110000"/>
              </a:lnSpc>
              <a:spcBef>
                <a:spcPts val="0"/>
              </a:spcBef>
              <a:spcAft>
                <a:spcPts val="600"/>
              </a:spcAft>
            </a:pPr>
            <a:r>
              <a:rPr lang="en-US" sz="1700" dirty="0"/>
              <a:t> Each item is a collection of attributes.</a:t>
            </a:r>
          </a:p>
          <a:p>
            <a:pPr lvl="1">
              <a:lnSpc>
                <a:spcPct val="110000"/>
              </a:lnSpc>
              <a:spcBef>
                <a:spcPts val="0"/>
              </a:spcBef>
              <a:spcAft>
                <a:spcPts val="600"/>
              </a:spcAft>
            </a:pPr>
            <a:r>
              <a:rPr lang="en-US" sz="1700" dirty="0"/>
              <a:t>Each item must have a primary key, but the rest of the attributes can vary from item to item (schema-less).</a:t>
            </a:r>
          </a:p>
          <a:p>
            <a:pPr>
              <a:lnSpc>
                <a:spcPct val="110000"/>
              </a:lnSpc>
              <a:spcBef>
                <a:spcPts val="0"/>
              </a:spcBef>
              <a:spcAft>
                <a:spcPts val="600"/>
              </a:spcAft>
            </a:pPr>
            <a:r>
              <a:rPr lang="en-US" sz="1700" b="1" dirty="0"/>
              <a:t>3. Attributes : </a:t>
            </a:r>
          </a:p>
          <a:p>
            <a:pPr lvl="1">
              <a:lnSpc>
                <a:spcPct val="110000"/>
              </a:lnSpc>
              <a:spcBef>
                <a:spcPts val="0"/>
              </a:spcBef>
              <a:spcAft>
                <a:spcPts val="600"/>
              </a:spcAft>
            </a:pPr>
            <a:r>
              <a:rPr lang="en-US" sz="1700" dirty="0"/>
              <a:t>Equivalent to columns. </a:t>
            </a:r>
          </a:p>
          <a:p>
            <a:pPr lvl="1">
              <a:lnSpc>
                <a:spcPct val="110000"/>
              </a:lnSpc>
              <a:spcBef>
                <a:spcPts val="0"/>
              </a:spcBef>
              <a:spcAft>
                <a:spcPts val="600"/>
              </a:spcAft>
            </a:pPr>
            <a:r>
              <a:rPr lang="en-US" sz="1700" dirty="0"/>
              <a:t>Each attribute is a name–value pair. </a:t>
            </a:r>
          </a:p>
          <a:p>
            <a:pPr lvl="1">
              <a:lnSpc>
                <a:spcPct val="110000"/>
              </a:lnSpc>
              <a:spcBef>
                <a:spcPts val="0"/>
              </a:spcBef>
              <a:spcAft>
                <a:spcPts val="600"/>
              </a:spcAft>
            </a:pPr>
            <a:r>
              <a:rPr lang="en-US" sz="1700" dirty="0"/>
              <a:t>DynamoDB supports several data types: </a:t>
            </a:r>
          </a:p>
          <a:p>
            <a:pPr marL="502920" lvl="2" indent="0">
              <a:lnSpc>
                <a:spcPct val="110000"/>
              </a:lnSpc>
              <a:spcBef>
                <a:spcPts val="0"/>
              </a:spcBef>
              <a:spcAft>
                <a:spcPts val="600"/>
              </a:spcAft>
              <a:buNone/>
            </a:pPr>
            <a:r>
              <a:rPr lang="en-US" sz="1700" dirty="0"/>
              <a:t>▪ Scalar types: String, Number, Boolean, Binary </a:t>
            </a:r>
          </a:p>
          <a:p>
            <a:pPr marL="502920" lvl="2" indent="0">
              <a:lnSpc>
                <a:spcPct val="110000"/>
              </a:lnSpc>
              <a:spcBef>
                <a:spcPts val="0"/>
              </a:spcBef>
              <a:spcAft>
                <a:spcPts val="600"/>
              </a:spcAft>
              <a:buNone/>
            </a:pPr>
            <a:r>
              <a:rPr lang="en-US" sz="1700" dirty="0"/>
              <a:t>▪ Document types: List, Map </a:t>
            </a:r>
          </a:p>
          <a:p>
            <a:pPr marL="502920" lvl="2" indent="0">
              <a:lnSpc>
                <a:spcPct val="110000"/>
              </a:lnSpc>
              <a:spcBef>
                <a:spcPts val="0"/>
              </a:spcBef>
              <a:spcAft>
                <a:spcPts val="600"/>
              </a:spcAft>
              <a:buNone/>
            </a:pPr>
            <a:r>
              <a:rPr lang="en-US" sz="1700" dirty="0"/>
              <a:t>▪ Set types: String Set, Number Set, Binary Set</a:t>
            </a:r>
          </a:p>
        </p:txBody>
      </p:sp>
    </p:spTree>
    <p:extLst>
      <p:ext uri="{BB962C8B-B14F-4D97-AF65-F5344CB8AC3E}">
        <p14:creationId xmlns:p14="http://schemas.microsoft.com/office/powerpoint/2010/main" val="304007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6" name="Rectangle 35">
            <a:extLst>
              <a:ext uri="{FF2B5EF4-FFF2-40B4-BE49-F238E27FC236}">
                <a16:creationId xmlns:a16="http://schemas.microsoft.com/office/drawing/2014/main" id="{18EE42F0-2470-417A-8666-6E3266FE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9671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Key on a blueprint for a house">
            <a:extLst>
              <a:ext uri="{FF2B5EF4-FFF2-40B4-BE49-F238E27FC236}">
                <a16:creationId xmlns:a16="http://schemas.microsoft.com/office/drawing/2014/main" id="{4098F699-8B4E-BF7B-63EE-3ACC786F3CD3}"/>
              </a:ext>
            </a:extLst>
          </p:cNvPr>
          <p:cNvPicPr>
            <a:picLocks noChangeAspect="1"/>
          </p:cNvPicPr>
          <p:nvPr/>
        </p:nvPicPr>
        <p:blipFill>
          <a:blip r:embed="rId2">
            <a:alphaModFix amt="40000"/>
          </a:blip>
          <a:srcRect l="30630" r="7098"/>
          <a:stretch>
            <a:fillRect/>
          </a:stretch>
        </p:blipFill>
        <p:spPr>
          <a:xfrm>
            <a:off x="2553" y="10"/>
            <a:ext cx="5694160" cy="6857990"/>
          </a:xfrm>
          <a:prstGeom prst="rect">
            <a:avLst/>
          </a:prstGeom>
        </p:spPr>
      </p:pic>
      <p:cxnSp>
        <p:nvCxnSpPr>
          <p:cNvPr id="38" name="Straight Connector 37">
            <a:extLst>
              <a:ext uri="{FF2B5EF4-FFF2-40B4-BE49-F238E27FC236}">
                <a16:creationId xmlns:a16="http://schemas.microsoft.com/office/drawing/2014/main" id="{B90DD1AA-9FC9-0AF2-B563-CA13C179F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20" y="604092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8" name="Content Placeholder 2">
            <a:extLst>
              <a:ext uri="{FF2B5EF4-FFF2-40B4-BE49-F238E27FC236}">
                <a16:creationId xmlns:a16="http://schemas.microsoft.com/office/drawing/2014/main" id="{32294977-88D7-1BD5-A2D0-16D087A8AFA4}"/>
              </a:ext>
            </a:extLst>
          </p:cNvPr>
          <p:cNvSpPr>
            <a:spLocks noGrp="1"/>
          </p:cNvSpPr>
          <p:nvPr>
            <p:ph idx="1"/>
          </p:nvPr>
        </p:nvSpPr>
        <p:spPr>
          <a:xfrm>
            <a:off x="6245353" y="667512"/>
            <a:ext cx="5285656" cy="5630412"/>
          </a:xfrm>
        </p:spPr>
        <p:txBody>
          <a:bodyPr>
            <a:normAutofit/>
          </a:bodyPr>
          <a:lstStyle/>
          <a:p>
            <a:pPr>
              <a:lnSpc>
                <a:spcPct val="110000"/>
              </a:lnSpc>
            </a:pPr>
            <a:r>
              <a:rPr lang="en-US" sz="1500" b="1" dirty="0"/>
              <a:t>Primary Key :</a:t>
            </a:r>
          </a:p>
          <a:p>
            <a:pPr lvl="1">
              <a:lnSpc>
                <a:spcPct val="110000"/>
              </a:lnSpc>
            </a:pPr>
            <a:r>
              <a:rPr lang="en-US" sz="1500" dirty="0"/>
              <a:t>Uniquely identifies each item in the table. </a:t>
            </a:r>
          </a:p>
          <a:p>
            <a:pPr lvl="1">
              <a:lnSpc>
                <a:spcPct val="110000"/>
              </a:lnSpc>
            </a:pPr>
            <a:r>
              <a:rPr lang="en-US" sz="1500" b="1" dirty="0"/>
              <a:t>Two types: </a:t>
            </a:r>
          </a:p>
          <a:p>
            <a:pPr marL="502920" lvl="2" indent="0">
              <a:lnSpc>
                <a:spcPct val="110000"/>
              </a:lnSpc>
              <a:buNone/>
            </a:pPr>
            <a:r>
              <a:rPr lang="en-US" sz="1500" dirty="0"/>
              <a:t>▪ Partition Key </a:t>
            </a:r>
          </a:p>
          <a:p>
            <a:pPr marL="502920" lvl="2" indent="0">
              <a:lnSpc>
                <a:spcPct val="110000"/>
              </a:lnSpc>
              <a:buNone/>
            </a:pPr>
            <a:r>
              <a:rPr lang="en-US" sz="1500" dirty="0"/>
              <a:t>▪ Composite Key                               </a:t>
            </a:r>
          </a:p>
          <a:p>
            <a:pPr>
              <a:lnSpc>
                <a:spcPct val="110000"/>
              </a:lnSpc>
            </a:pPr>
            <a:r>
              <a:rPr lang="en-US" sz="1500" b="1" dirty="0"/>
              <a:t>1. Partition Key (Simple Primary Key):</a:t>
            </a:r>
          </a:p>
          <a:p>
            <a:pPr lvl="1">
              <a:lnSpc>
                <a:spcPct val="110000"/>
              </a:lnSpc>
            </a:pPr>
            <a:r>
              <a:rPr lang="en-US" sz="1500" b="1" dirty="0"/>
              <a:t>Structure: </a:t>
            </a:r>
            <a:r>
              <a:rPr lang="en-US" sz="1500" dirty="0"/>
              <a:t>Just one attribute (e.g., UserId, Email, etc.) </a:t>
            </a:r>
          </a:p>
          <a:p>
            <a:pPr lvl="1">
              <a:lnSpc>
                <a:spcPct val="110000"/>
              </a:lnSpc>
            </a:pPr>
            <a:r>
              <a:rPr lang="en-US" sz="1500" b="1" dirty="0"/>
              <a:t>Behavior: </a:t>
            </a:r>
            <a:r>
              <a:rPr lang="en-US" sz="1500" dirty="0"/>
              <a:t>DynamoDB uses the Partition Key’s value to compute a hash, which determines which partition (physical storage node) your item goes to.</a:t>
            </a:r>
          </a:p>
          <a:p>
            <a:pPr lvl="1">
              <a:lnSpc>
                <a:spcPct val="110000"/>
              </a:lnSpc>
            </a:pPr>
            <a:r>
              <a:rPr lang="en-US" sz="1500" dirty="0"/>
              <a:t> Each value of the partition key must be unique in the table.</a:t>
            </a:r>
          </a:p>
          <a:p>
            <a:pPr lvl="1">
              <a:lnSpc>
                <a:spcPct val="110000"/>
              </a:lnSpc>
            </a:pPr>
            <a:r>
              <a:rPr lang="en-US" sz="1500" dirty="0"/>
              <a:t>Example: Suppose you're storing users: </a:t>
            </a:r>
          </a:p>
          <a:p>
            <a:pPr lvl="1">
              <a:lnSpc>
                <a:spcPct val="110000"/>
              </a:lnSpc>
            </a:pPr>
            <a:r>
              <a:rPr lang="en-US" sz="1500" dirty="0"/>
              <a:t>Partition Key (UserId)    Name      Email            </a:t>
            </a:r>
          </a:p>
          <a:p>
            <a:pPr marL="265176" lvl="1" indent="0">
              <a:lnSpc>
                <a:spcPct val="110000"/>
              </a:lnSpc>
              <a:buNone/>
            </a:pPr>
            <a:r>
              <a:rPr lang="en-US" sz="1500" dirty="0"/>
              <a:t>       101                                   Ali       Ali@example.com </a:t>
            </a:r>
          </a:p>
          <a:p>
            <a:pPr marL="265176" lvl="1" indent="0">
              <a:lnSpc>
                <a:spcPct val="110000"/>
              </a:lnSpc>
              <a:buNone/>
            </a:pPr>
            <a:r>
              <a:rPr lang="en-US" sz="1500" dirty="0"/>
              <a:t>       102                                   Afaq    </a:t>
            </a:r>
            <a:r>
              <a:rPr lang="en-US" sz="1500" dirty="0">
                <a:hlinkClick r:id="rId3"/>
              </a:rPr>
              <a:t>Afaq@example.com</a:t>
            </a:r>
            <a:endParaRPr lang="en-US" sz="1500" dirty="0"/>
          </a:p>
          <a:p>
            <a:pPr marL="265176" lvl="1" indent="0">
              <a:lnSpc>
                <a:spcPct val="110000"/>
              </a:lnSpc>
              <a:buNone/>
            </a:pPr>
            <a:r>
              <a:rPr lang="en-US" sz="1500" dirty="0"/>
              <a:t>Here, UserId is the Partition Key, and every user has a unique value.</a:t>
            </a:r>
          </a:p>
          <a:p>
            <a:pPr marL="265176" lvl="1" indent="0">
              <a:lnSpc>
                <a:spcPct val="110000"/>
              </a:lnSpc>
              <a:buNone/>
            </a:pPr>
            <a:endParaRPr lang="en-US" sz="1500" dirty="0"/>
          </a:p>
          <a:p>
            <a:pPr marL="265176" lvl="1" indent="0">
              <a:lnSpc>
                <a:spcPct val="110000"/>
              </a:lnSpc>
              <a:buNone/>
            </a:pPr>
            <a:endParaRPr lang="en-US" sz="1500" dirty="0"/>
          </a:p>
          <a:p>
            <a:pPr marL="265176" lvl="1" indent="0">
              <a:lnSpc>
                <a:spcPct val="110000"/>
              </a:lnSpc>
              <a:buNone/>
            </a:pPr>
            <a:endParaRPr lang="en-US" sz="1500" dirty="0"/>
          </a:p>
          <a:p>
            <a:pPr lvl="1">
              <a:lnSpc>
                <a:spcPct val="110000"/>
              </a:lnSpc>
            </a:pPr>
            <a:endParaRPr lang="en-US" sz="1500" dirty="0"/>
          </a:p>
          <a:p>
            <a:pPr lvl="1">
              <a:lnSpc>
                <a:spcPct val="110000"/>
              </a:lnSpc>
            </a:pPr>
            <a:endParaRPr lang="en-US" sz="1500" dirty="0"/>
          </a:p>
        </p:txBody>
      </p:sp>
    </p:spTree>
    <p:extLst>
      <p:ext uri="{BB962C8B-B14F-4D97-AF65-F5344CB8AC3E}">
        <p14:creationId xmlns:p14="http://schemas.microsoft.com/office/powerpoint/2010/main" val="2566915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B700E-F13C-F18A-6BCD-35D02A0B3A29}"/>
              </a:ext>
            </a:extLst>
          </p:cNvPr>
          <p:cNvSpPr>
            <a:spLocks noGrp="1"/>
          </p:cNvSpPr>
          <p:nvPr>
            <p:ph idx="1"/>
          </p:nvPr>
        </p:nvSpPr>
        <p:spPr>
          <a:xfrm>
            <a:off x="640080" y="1268361"/>
            <a:ext cx="10890928" cy="4931271"/>
          </a:xfrm>
        </p:spPr>
        <p:txBody>
          <a:bodyPr>
            <a:normAutofit fontScale="92500" lnSpcReduction="10000"/>
          </a:bodyPr>
          <a:lstStyle/>
          <a:p>
            <a:pPr marL="285750" lvl="1" indent="-285750">
              <a:lnSpc>
                <a:spcPct val="110000"/>
              </a:lnSpc>
              <a:spcBef>
                <a:spcPts val="1000"/>
              </a:spcBef>
            </a:pPr>
            <a:r>
              <a:rPr lang="en-US" sz="1600" b="1" dirty="0"/>
              <a:t>2. Partition Key + Sort Key (Composite Primary Key): </a:t>
            </a:r>
          </a:p>
          <a:p>
            <a:pPr marL="285750" lvl="1" indent="-285750">
              <a:lnSpc>
                <a:spcPct val="110000"/>
              </a:lnSpc>
              <a:spcBef>
                <a:spcPts val="1000"/>
              </a:spcBef>
            </a:pPr>
            <a:r>
              <a:rPr lang="en-US" sz="1600" b="1" dirty="0"/>
              <a:t>Structure:  </a:t>
            </a:r>
            <a:r>
              <a:rPr lang="en-US" sz="1600" dirty="0"/>
              <a:t>A Partition Key + a Sort Key. </a:t>
            </a:r>
          </a:p>
          <a:p>
            <a:pPr marL="285750" lvl="1" indent="-285750">
              <a:lnSpc>
                <a:spcPct val="110000"/>
              </a:lnSpc>
              <a:spcBef>
                <a:spcPts val="1000"/>
              </a:spcBef>
            </a:pPr>
            <a:r>
              <a:rPr lang="en-US" sz="1600" b="1" dirty="0" err="1"/>
              <a:t>Behaviour</a:t>
            </a:r>
            <a:r>
              <a:rPr lang="en-US" sz="1600" b="1" dirty="0"/>
              <a:t>: </a:t>
            </a:r>
            <a:r>
              <a:rPr lang="en-US" sz="1600" dirty="0"/>
              <a:t> All items with the same Partition Key are stored together in one partition.</a:t>
            </a:r>
          </a:p>
          <a:p>
            <a:pPr marL="285750" lvl="1" indent="-285750">
              <a:lnSpc>
                <a:spcPct val="110000"/>
              </a:lnSpc>
              <a:spcBef>
                <a:spcPts val="1000"/>
              </a:spcBef>
            </a:pPr>
            <a:r>
              <a:rPr lang="en-US" sz="1600" dirty="0"/>
              <a:t> Items are sorted by the Sort Key within that partition. </a:t>
            </a:r>
          </a:p>
          <a:p>
            <a:pPr marL="285750" lvl="1" indent="-285750">
              <a:lnSpc>
                <a:spcPct val="110000"/>
              </a:lnSpc>
              <a:spcBef>
                <a:spcPts val="1000"/>
              </a:spcBef>
            </a:pPr>
            <a:r>
              <a:rPr lang="en-US" sz="1600" dirty="0"/>
              <a:t> You can store multiple items with the same Partition Key as long as the Sort Key is different.</a:t>
            </a:r>
          </a:p>
          <a:p>
            <a:pPr marL="285750" lvl="1" indent="-285750">
              <a:lnSpc>
                <a:spcPct val="110000"/>
              </a:lnSpc>
              <a:spcBef>
                <a:spcPts val="1000"/>
              </a:spcBef>
            </a:pPr>
            <a:r>
              <a:rPr lang="en-US" sz="1600" dirty="0"/>
              <a:t>Example: Suppose you're storing all tasks by users.</a:t>
            </a:r>
          </a:p>
          <a:p>
            <a:pPr marL="285750" lvl="1" indent="-285750">
              <a:lnSpc>
                <a:spcPct val="110000"/>
              </a:lnSpc>
              <a:spcBef>
                <a:spcPts val="1000"/>
              </a:spcBef>
            </a:pPr>
            <a:endParaRPr lang="en-US" sz="1500" b="1" dirty="0"/>
          </a:p>
          <a:p>
            <a:pPr marL="285750" lvl="1" indent="-285750">
              <a:lnSpc>
                <a:spcPct val="110000"/>
              </a:lnSpc>
              <a:spcBef>
                <a:spcPts val="1000"/>
              </a:spcBef>
            </a:pPr>
            <a:endParaRPr lang="en-US" sz="1500" b="1" dirty="0"/>
          </a:p>
          <a:p>
            <a:pPr marL="285750" lvl="1" indent="-285750">
              <a:lnSpc>
                <a:spcPct val="110000"/>
              </a:lnSpc>
              <a:spcBef>
                <a:spcPts val="1000"/>
              </a:spcBef>
            </a:pPr>
            <a:endParaRPr lang="en-US" sz="1500" b="1" dirty="0"/>
          </a:p>
          <a:p>
            <a:pPr marL="285750" lvl="1" indent="-285750">
              <a:lnSpc>
                <a:spcPct val="110000"/>
              </a:lnSpc>
              <a:spcBef>
                <a:spcPts val="1000"/>
              </a:spcBef>
            </a:pPr>
            <a:endParaRPr lang="en-US" sz="1500" b="1" dirty="0"/>
          </a:p>
          <a:p>
            <a:pPr marL="285750" lvl="1" indent="-285750">
              <a:lnSpc>
                <a:spcPct val="110000"/>
              </a:lnSpc>
              <a:spcBef>
                <a:spcPts val="1000"/>
              </a:spcBef>
            </a:pPr>
            <a:endParaRPr lang="en-US" sz="1500" b="1" dirty="0"/>
          </a:p>
          <a:p>
            <a:pPr marL="285750" lvl="1" indent="-285750">
              <a:lnSpc>
                <a:spcPct val="110000"/>
              </a:lnSpc>
              <a:spcBef>
                <a:spcPts val="1000"/>
              </a:spcBef>
            </a:pPr>
            <a:endParaRPr lang="en-US" sz="1500" b="1" dirty="0"/>
          </a:p>
          <a:p>
            <a:pPr marL="285750" lvl="1" indent="-285750">
              <a:lnSpc>
                <a:spcPct val="110000"/>
              </a:lnSpc>
              <a:spcBef>
                <a:spcPts val="1000"/>
              </a:spcBef>
            </a:pPr>
            <a:r>
              <a:rPr lang="en-US" sz="1600" dirty="0"/>
              <a:t>Here, the primary key is a combination of UserId (Partition Key) and </a:t>
            </a:r>
            <a:r>
              <a:rPr lang="en-US" sz="1600" dirty="0" err="1"/>
              <a:t>TaskId</a:t>
            </a:r>
            <a:r>
              <a:rPr lang="en-US" sz="1600" dirty="0"/>
              <a:t> (Sort Key). </a:t>
            </a:r>
          </a:p>
          <a:p>
            <a:pPr marL="285750" lvl="1" indent="-285750">
              <a:lnSpc>
                <a:spcPct val="110000"/>
              </a:lnSpc>
              <a:spcBef>
                <a:spcPts val="1000"/>
              </a:spcBef>
            </a:pPr>
            <a:r>
              <a:rPr lang="en-US" sz="1600" dirty="0"/>
              <a:t>This allows multiple tasks for the same user, uniquely identified by the combination of both.</a:t>
            </a:r>
            <a:endParaRPr lang="en-US" sz="1500" b="1" dirty="0"/>
          </a:p>
          <a:p>
            <a:endParaRPr lang="en-US" dirty="0"/>
          </a:p>
        </p:txBody>
      </p:sp>
      <p:pic>
        <p:nvPicPr>
          <p:cNvPr id="5" name="Picture 4">
            <a:extLst>
              <a:ext uri="{FF2B5EF4-FFF2-40B4-BE49-F238E27FC236}">
                <a16:creationId xmlns:a16="http://schemas.microsoft.com/office/drawing/2014/main" id="{619DD9E6-B8B9-7EDE-4FEB-134AC30F0A29}"/>
              </a:ext>
            </a:extLst>
          </p:cNvPr>
          <p:cNvPicPr>
            <a:picLocks noChangeAspect="1"/>
          </p:cNvPicPr>
          <p:nvPr/>
        </p:nvPicPr>
        <p:blipFill>
          <a:blip r:embed="rId3"/>
          <a:stretch>
            <a:fillRect/>
          </a:stretch>
        </p:blipFill>
        <p:spPr>
          <a:xfrm>
            <a:off x="926463" y="3528207"/>
            <a:ext cx="8650156" cy="1820541"/>
          </a:xfrm>
          <a:prstGeom prst="rect">
            <a:avLst/>
          </a:prstGeom>
        </p:spPr>
      </p:pic>
    </p:spTree>
    <p:extLst>
      <p:ext uri="{BB962C8B-B14F-4D97-AF65-F5344CB8AC3E}">
        <p14:creationId xmlns:p14="http://schemas.microsoft.com/office/powerpoint/2010/main" val="2231924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F6598B8-41AD-A0CC-9EC3-4BB1AA6127B7}"/>
              </a:ext>
            </a:extLst>
          </p:cNvPr>
          <p:cNvGraphicFramePr>
            <a:graphicFrameLocks noGrp="1"/>
          </p:cNvGraphicFramePr>
          <p:nvPr>
            <p:ph idx="1"/>
            <p:extLst>
              <p:ext uri="{D42A27DB-BD31-4B8C-83A1-F6EECF244321}">
                <p14:modId xmlns:p14="http://schemas.microsoft.com/office/powerpoint/2010/main" val="1159492147"/>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6603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3789F9-9D73-5A48-D8E2-27FB0D33402E}"/>
              </a:ext>
            </a:extLst>
          </p:cNvPr>
          <p:cNvSpPr>
            <a:spLocks noGrp="1"/>
          </p:cNvSpPr>
          <p:nvPr>
            <p:ph type="title"/>
          </p:nvPr>
        </p:nvSpPr>
        <p:spPr>
          <a:xfrm>
            <a:off x="640080" y="914399"/>
            <a:ext cx="3000587" cy="4160520"/>
          </a:xfrm>
        </p:spPr>
        <p:txBody>
          <a:bodyPr anchor="t">
            <a:normAutofit/>
          </a:bodyPr>
          <a:lstStyle/>
          <a:p>
            <a:r>
              <a:rPr lang="en-US" sz="2800" dirty="0"/>
              <a:t>Read and Write Capacity Modes:</a:t>
            </a:r>
          </a:p>
        </p:txBody>
      </p:sp>
      <p:cxnSp>
        <p:nvCxnSpPr>
          <p:cNvPr id="21" name="Straight Connector 2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C7412D17-FC7F-502C-9841-B6BC1CEE65F2}"/>
              </a:ext>
            </a:extLst>
          </p:cNvPr>
          <p:cNvGraphicFramePr>
            <a:graphicFrameLocks noGrp="1"/>
          </p:cNvGraphicFramePr>
          <p:nvPr>
            <p:ph idx="1"/>
            <p:extLst>
              <p:ext uri="{D42A27DB-BD31-4B8C-83A1-F6EECF244321}">
                <p14:modId xmlns:p14="http://schemas.microsoft.com/office/powerpoint/2010/main" val="3605935395"/>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2849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C88D5FF7-160C-1574-0AD7-6EE87C34C908}"/>
              </a:ext>
            </a:extLst>
          </p:cNvPr>
          <p:cNvSpPr txBox="1"/>
          <p:nvPr/>
        </p:nvSpPr>
        <p:spPr>
          <a:xfrm>
            <a:off x="640080" y="1371600"/>
            <a:ext cx="10890928" cy="971550"/>
          </a:xfrm>
          <a:prstGeom prst="rect">
            <a:avLst/>
          </a:prstGeom>
        </p:spPr>
        <p:txBody>
          <a:bodyPr vert="horz" lIns="91440" tIns="45720" rIns="91440" bIns="45720" rtlCol="0" anchor="t">
            <a:normAutofit/>
          </a:bodyPr>
          <a:lstStyle/>
          <a:p>
            <a:pPr>
              <a:spcBef>
                <a:spcPct val="0"/>
              </a:spcBef>
              <a:spcAft>
                <a:spcPts val="600"/>
              </a:spcAft>
            </a:pPr>
            <a:r>
              <a:rPr lang="en-US" sz="4000" b="1">
                <a:latin typeface="+mj-lt"/>
                <a:ea typeface="+mj-ea"/>
                <a:cs typeface="+mj-cs"/>
              </a:rPr>
              <a:t>When to Use What?</a:t>
            </a:r>
          </a:p>
        </p:txBody>
      </p:sp>
      <p:cxnSp>
        <p:nvCxnSpPr>
          <p:cNvPr id="46" name="Straight Connector 45">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A white background with black text&#10;&#10;AI-generated content may be incorrect.">
            <a:extLst>
              <a:ext uri="{FF2B5EF4-FFF2-40B4-BE49-F238E27FC236}">
                <a16:creationId xmlns:a16="http://schemas.microsoft.com/office/drawing/2014/main" id="{F35B98B1-54B4-B04F-D44B-9DDEC39FB749}"/>
              </a:ext>
            </a:extLst>
          </p:cNvPr>
          <p:cNvPicPr>
            <a:picLocks noChangeAspect="1"/>
          </p:cNvPicPr>
          <p:nvPr/>
        </p:nvPicPr>
        <p:blipFill>
          <a:blip r:embed="rId3"/>
          <a:stretch>
            <a:fillRect/>
          </a:stretch>
        </p:blipFill>
        <p:spPr>
          <a:xfrm>
            <a:off x="713232" y="2744412"/>
            <a:ext cx="5648193" cy="3346555"/>
          </a:xfrm>
          <a:prstGeom prst="rect">
            <a:avLst/>
          </a:prstGeom>
        </p:spPr>
      </p:pic>
      <p:sp>
        <p:nvSpPr>
          <p:cNvPr id="3" name="Content Placeholder 2">
            <a:extLst>
              <a:ext uri="{FF2B5EF4-FFF2-40B4-BE49-F238E27FC236}">
                <a16:creationId xmlns:a16="http://schemas.microsoft.com/office/drawing/2014/main" id="{63EB5237-C71E-AAAE-4A62-CC7C6D8A25B9}"/>
              </a:ext>
            </a:extLst>
          </p:cNvPr>
          <p:cNvSpPr>
            <a:spLocks noGrp="1"/>
          </p:cNvSpPr>
          <p:nvPr>
            <p:ph idx="1"/>
          </p:nvPr>
        </p:nvSpPr>
        <p:spPr>
          <a:xfrm>
            <a:off x="6871063" y="2537460"/>
            <a:ext cx="4659945" cy="3760459"/>
          </a:xfrm>
        </p:spPr>
        <p:txBody>
          <a:bodyPr vert="horz" lIns="91440" tIns="45720" rIns="91440" bIns="45720" rtlCol="0" anchor="t">
            <a:normAutofit/>
          </a:bodyPr>
          <a:lstStyle/>
          <a:p>
            <a:pPr>
              <a:spcBef>
                <a:spcPts val="0"/>
              </a:spcBef>
            </a:pPr>
            <a:r>
              <a:rPr lang="en-US" b="1" dirty="0"/>
              <a:t>2. On-Demand Capacity: </a:t>
            </a:r>
          </a:p>
          <a:p>
            <a:pPr lvl="1">
              <a:spcBef>
                <a:spcPts val="0"/>
              </a:spcBef>
            </a:pPr>
            <a:r>
              <a:rPr lang="en-US"/>
              <a:t>No need to provision capacity. </a:t>
            </a:r>
          </a:p>
          <a:p>
            <a:pPr lvl="1">
              <a:spcBef>
                <a:spcPts val="0"/>
              </a:spcBef>
            </a:pPr>
            <a:r>
              <a:rPr lang="en-US"/>
              <a:t>DynamoDB auto-scales based on traffic. </a:t>
            </a:r>
          </a:p>
          <a:p>
            <a:pPr lvl="1">
              <a:spcBef>
                <a:spcPts val="0"/>
              </a:spcBef>
            </a:pPr>
            <a:r>
              <a:rPr lang="en-US"/>
              <a:t>Ideal for unpredictable or spiky workloads. </a:t>
            </a:r>
          </a:p>
          <a:p>
            <a:pPr lvl="1">
              <a:spcBef>
                <a:spcPts val="0"/>
              </a:spcBef>
            </a:pPr>
            <a:r>
              <a:rPr lang="en-US"/>
              <a:t>You only pay per read/write request.</a:t>
            </a:r>
          </a:p>
          <a:p>
            <a:endParaRPr lang="en-US" dirty="0"/>
          </a:p>
        </p:txBody>
      </p:sp>
    </p:spTree>
    <p:extLst>
      <p:ext uri="{BB962C8B-B14F-4D97-AF65-F5344CB8AC3E}">
        <p14:creationId xmlns:p14="http://schemas.microsoft.com/office/powerpoint/2010/main" val="3740701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42E9F-28B7-4885-86E7-87BAE1665E48}"/>
              </a:ext>
            </a:extLst>
          </p:cNvPr>
          <p:cNvSpPr>
            <a:spLocks noGrp="1"/>
          </p:cNvSpPr>
          <p:nvPr>
            <p:ph type="title"/>
          </p:nvPr>
        </p:nvSpPr>
        <p:spPr/>
        <p:txBody>
          <a:bodyPr/>
          <a:lstStyle/>
          <a:p>
            <a:r>
              <a:rPr lang="en-US"/>
              <a:t>DynamoDB Accelerator - DAX</a:t>
            </a:r>
            <a:endParaRPr lang="en-US" dirty="0"/>
          </a:p>
        </p:txBody>
      </p:sp>
      <p:sp>
        <p:nvSpPr>
          <p:cNvPr id="3" name="Content Placeholder 2">
            <a:extLst>
              <a:ext uri="{FF2B5EF4-FFF2-40B4-BE49-F238E27FC236}">
                <a16:creationId xmlns:a16="http://schemas.microsoft.com/office/drawing/2014/main" id="{8781E287-6702-2521-1BAE-80923BB7EBA4}"/>
              </a:ext>
            </a:extLst>
          </p:cNvPr>
          <p:cNvSpPr>
            <a:spLocks noGrp="1"/>
          </p:cNvSpPr>
          <p:nvPr>
            <p:ph idx="1"/>
          </p:nvPr>
        </p:nvSpPr>
        <p:spPr>
          <a:xfrm>
            <a:off x="640080" y="2188029"/>
            <a:ext cx="10890928" cy="4550228"/>
          </a:xfrm>
        </p:spPr>
        <p:txBody>
          <a:bodyPr>
            <a:normAutofit fontScale="85000" lnSpcReduction="10000"/>
          </a:bodyPr>
          <a:lstStyle/>
          <a:p>
            <a:r>
              <a:rPr lang="en-US" dirty="0"/>
              <a:t>DynamoDB Accelerator (DAX) is an in-memory cache for DynamoDB that helps to make your database even faster.</a:t>
            </a:r>
          </a:p>
          <a:p>
            <a:r>
              <a:rPr lang="en-US" b="1" dirty="0"/>
              <a:t>Key Features of DynamoDB</a:t>
            </a:r>
          </a:p>
          <a:p>
            <a:pPr lvl="1"/>
            <a:r>
              <a:rPr lang="en-US" b="1" dirty="0"/>
              <a:t> In-Memory Caching : </a:t>
            </a:r>
            <a:r>
              <a:rPr lang="en-US" dirty="0"/>
              <a:t>DAX stores frequently accessed data in memory, so that when your application needs the data again, it can retrieve it much faster than querying DynamoDB directly</a:t>
            </a:r>
          </a:p>
          <a:p>
            <a:pPr lvl="1"/>
            <a:r>
              <a:rPr lang="en-US" dirty="0"/>
              <a:t> </a:t>
            </a:r>
            <a:r>
              <a:rPr lang="en-US" b="1" dirty="0"/>
              <a:t>Extremely Fast: </a:t>
            </a:r>
            <a:r>
              <a:rPr lang="en-US" dirty="0"/>
              <a:t>It can provide microsecond latency (faster than DynamoDB’s usual millisecond response times), making your application super responsive. </a:t>
            </a:r>
          </a:p>
          <a:p>
            <a:pPr lvl="1"/>
            <a:r>
              <a:rPr lang="en-US" b="1" dirty="0"/>
              <a:t>Fully Managed: </a:t>
            </a:r>
            <a:r>
              <a:rPr lang="en-US" dirty="0"/>
              <a:t>just like DynamoDB, DAX is also fully managed by AWS, so you don’t have to worry about setting up, maintaining, or scaling the cache yourself. </a:t>
            </a:r>
          </a:p>
          <a:p>
            <a:pPr lvl="1"/>
            <a:r>
              <a:rPr lang="en-US" b="1" dirty="0"/>
              <a:t>Improves Performance for Read-Heavy Workloads : </a:t>
            </a:r>
            <a:r>
              <a:rPr lang="en-US" dirty="0"/>
              <a:t>DAX is especially helpful if your application needs to read the same data repeatedly. It can reduce read latency and offload read requests from DynamoDB. </a:t>
            </a:r>
          </a:p>
          <a:p>
            <a:pPr lvl="1"/>
            <a:r>
              <a:rPr lang="en-US" b="1" dirty="0"/>
              <a:t>Automatic Scaling : </a:t>
            </a:r>
            <a:r>
              <a:rPr lang="en-US" dirty="0"/>
              <a:t>DAX scales automatically to meet your workload demands, ensuring that your cache grows as needed to handle more traffic</a:t>
            </a:r>
          </a:p>
          <a:p>
            <a:pPr lvl="1"/>
            <a:r>
              <a:rPr lang="en-US" b="1" dirty="0"/>
              <a:t>Seamless Integration with DynamoDB : </a:t>
            </a:r>
            <a:r>
              <a:rPr lang="en-US" dirty="0"/>
              <a:t>DAX is easy to use with DynamoDB, and applications can access it through the same API as DynamoDB, meaning you don’t have to change how you interact with your data </a:t>
            </a:r>
          </a:p>
        </p:txBody>
      </p:sp>
    </p:spTree>
    <p:extLst>
      <p:ext uri="{BB962C8B-B14F-4D97-AF65-F5344CB8AC3E}">
        <p14:creationId xmlns:p14="http://schemas.microsoft.com/office/powerpoint/2010/main" val="4179869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FD25E-ADD8-328C-4239-DADE5D78BF97}"/>
              </a:ext>
            </a:extLst>
          </p:cNvPr>
          <p:cNvSpPr>
            <a:spLocks noGrp="1"/>
          </p:cNvSpPr>
          <p:nvPr>
            <p:ph type="title"/>
          </p:nvPr>
        </p:nvSpPr>
        <p:spPr>
          <a:xfrm>
            <a:off x="640080" y="914401"/>
            <a:ext cx="4876801" cy="1569516"/>
          </a:xfrm>
        </p:spPr>
        <p:txBody>
          <a:bodyPr anchor="t">
            <a:normAutofit/>
          </a:bodyPr>
          <a:lstStyle/>
          <a:p>
            <a:r>
              <a:rPr lang="en-US" dirty="0"/>
              <a:t>Example</a:t>
            </a:r>
          </a:p>
        </p:txBody>
      </p:sp>
      <p:pic>
        <p:nvPicPr>
          <p:cNvPr id="14" name="Picture 13" descr="Computer script on a screen">
            <a:extLst>
              <a:ext uri="{FF2B5EF4-FFF2-40B4-BE49-F238E27FC236}">
                <a16:creationId xmlns:a16="http://schemas.microsoft.com/office/drawing/2014/main" id="{800C5425-7E81-3540-45A8-CE5E36969A28}"/>
              </a:ext>
            </a:extLst>
          </p:cNvPr>
          <p:cNvPicPr>
            <a:picLocks noChangeAspect="1"/>
          </p:cNvPicPr>
          <p:nvPr/>
        </p:nvPicPr>
        <p:blipFill>
          <a:blip r:embed="rId3"/>
          <a:srcRect r="10499" b="1"/>
          <a:stretch>
            <a:fillRect/>
          </a:stretch>
        </p:blipFill>
        <p:spPr>
          <a:xfrm>
            <a:off x="713232" y="2857499"/>
            <a:ext cx="4190525" cy="3125269"/>
          </a:xfrm>
          <a:prstGeom prst="rect">
            <a:avLst/>
          </a:prstGeom>
        </p:spPr>
      </p:pic>
      <p:sp>
        <p:nvSpPr>
          <p:cNvPr id="3" name="Content Placeholder 2">
            <a:extLst>
              <a:ext uri="{FF2B5EF4-FFF2-40B4-BE49-F238E27FC236}">
                <a16:creationId xmlns:a16="http://schemas.microsoft.com/office/drawing/2014/main" id="{22030C8D-BA3D-BFBD-74CA-87E6244EF376}"/>
              </a:ext>
            </a:extLst>
          </p:cNvPr>
          <p:cNvSpPr>
            <a:spLocks noGrp="1"/>
          </p:cNvSpPr>
          <p:nvPr>
            <p:ph idx="1"/>
          </p:nvPr>
        </p:nvSpPr>
        <p:spPr>
          <a:xfrm>
            <a:off x="6400799" y="960119"/>
            <a:ext cx="5130210" cy="5022661"/>
          </a:xfrm>
        </p:spPr>
        <p:txBody>
          <a:bodyPr>
            <a:normAutofit/>
          </a:bodyPr>
          <a:lstStyle/>
          <a:p>
            <a:pPr>
              <a:lnSpc>
                <a:spcPct val="110000"/>
              </a:lnSpc>
              <a:spcBef>
                <a:spcPts val="0"/>
              </a:spcBef>
              <a:spcAft>
                <a:spcPts val="600"/>
              </a:spcAft>
            </a:pPr>
            <a:r>
              <a:rPr lang="en-US" sz="1600" dirty="0"/>
              <a:t>Imagine you run a social media platform. </a:t>
            </a:r>
          </a:p>
          <a:p>
            <a:pPr>
              <a:lnSpc>
                <a:spcPct val="110000"/>
              </a:lnSpc>
              <a:spcBef>
                <a:spcPts val="0"/>
              </a:spcBef>
              <a:spcAft>
                <a:spcPts val="600"/>
              </a:spcAft>
            </a:pPr>
            <a:r>
              <a:rPr lang="en-US" sz="1600" dirty="0"/>
              <a:t>Users frequently check each other's profiles, which means the profile data is requested a lot. Without DAX, every time someone views a profile, DynamoDB has to retrieve the information from disk, which can take a little time. </a:t>
            </a:r>
          </a:p>
          <a:p>
            <a:pPr>
              <a:lnSpc>
                <a:spcPct val="110000"/>
              </a:lnSpc>
              <a:spcBef>
                <a:spcPts val="0"/>
              </a:spcBef>
              <a:spcAft>
                <a:spcPts val="600"/>
              </a:spcAft>
            </a:pPr>
            <a:r>
              <a:rPr lang="en-US" sz="1600" dirty="0"/>
              <a:t>With DAX, the profile data is stored in memory, so when another user views the same profile, DAX serves it instantly from memory, speeding up the response time dramatically. </a:t>
            </a:r>
          </a:p>
          <a:p>
            <a:pPr>
              <a:lnSpc>
                <a:spcPct val="110000"/>
              </a:lnSpc>
              <a:spcBef>
                <a:spcPts val="0"/>
              </a:spcBef>
              <a:spcAft>
                <a:spcPts val="600"/>
              </a:spcAft>
            </a:pPr>
            <a:r>
              <a:rPr lang="en-US" sz="1600" b="1" dirty="0"/>
              <a:t>Summary: </a:t>
            </a:r>
          </a:p>
          <a:p>
            <a:pPr>
              <a:lnSpc>
                <a:spcPct val="110000"/>
              </a:lnSpc>
              <a:spcBef>
                <a:spcPts val="0"/>
              </a:spcBef>
              <a:spcAft>
                <a:spcPts val="600"/>
              </a:spcAft>
            </a:pPr>
            <a:r>
              <a:rPr lang="en-US" sz="1600" dirty="0"/>
              <a:t>DAX is like a boost for DynamoDB, making read-heavy apps even faster by caching data in memory. It’s fully managed and automatically scales, so you don’t have to worry about setup or maintenance. Ideal for applications that need lightning-fast access to frequently requested data.</a:t>
            </a:r>
          </a:p>
        </p:txBody>
      </p:sp>
      <p:cxnSp>
        <p:nvCxnSpPr>
          <p:cNvPr id="39" name="Straight Connector 38">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921091"/>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TotalTime>
  <Words>1764</Words>
  <Application>Microsoft Office PowerPoint</Application>
  <PresentationFormat>Widescreen</PresentationFormat>
  <Paragraphs>168</Paragraphs>
  <Slides>18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Grandview Display</vt:lpstr>
      <vt:lpstr>DashVTI</vt:lpstr>
      <vt:lpstr>NoSQL Databases</vt:lpstr>
      <vt:lpstr>Non-relational Database</vt:lpstr>
      <vt:lpstr>Types of NoSQL Databases</vt:lpstr>
      <vt:lpstr>What is DynamoDB?</vt:lpstr>
      <vt:lpstr>PowerPoint Presentation</vt:lpstr>
      <vt:lpstr>Why Choose DynamoDB?</vt:lpstr>
      <vt:lpstr>Key Features of DynamoDB:</vt:lpstr>
      <vt:lpstr>PowerPoint Presentation</vt:lpstr>
      <vt:lpstr>PowerPoint Presentation</vt:lpstr>
      <vt:lpstr>Example:</vt:lpstr>
      <vt:lpstr>Components of DynamoDB:</vt:lpstr>
      <vt:lpstr>PowerPoint Presentation</vt:lpstr>
      <vt:lpstr>PowerPoint Presentation</vt:lpstr>
      <vt:lpstr>PowerPoint Presentation</vt:lpstr>
      <vt:lpstr>Read and Write Capacity Modes:</vt:lpstr>
      <vt:lpstr>PowerPoint Presentation</vt:lpstr>
      <vt:lpstr>DynamoDB Accelerator - DAX</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Corvit Peshawar</dc:creator>
  <cp:lastModifiedBy>Corvit Peshawar</cp:lastModifiedBy>
  <cp:revision>2</cp:revision>
  <dcterms:created xsi:type="dcterms:W3CDTF">2025-11-12T07:07:16Z</dcterms:created>
  <dcterms:modified xsi:type="dcterms:W3CDTF">2025-11-12T12:15:46Z</dcterms:modified>
</cp:coreProperties>
</file>