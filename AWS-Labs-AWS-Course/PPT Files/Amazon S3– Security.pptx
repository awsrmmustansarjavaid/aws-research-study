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386502-2D99-4984-B82A-D6FA471D1541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C1D5FBF-C869-41E8-8B5B-FC26D5D4340B}">
      <dgm:prSet/>
      <dgm:spPr/>
      <dgm:t>
        <a:bodyPr/>
        <a:lstStyle/>
        <a:p>
          <a:r>
            <a:rPr lang="en-US"/>
            <a:t>S3 automatically encrypts each object at rest using AES-256 encryption.</a:t>
          </a:r>
        </a:p>
      </dgm:t>
    </dgm:pt>
    <dgm:pt modelId="{65561EA3-9166-4211-979A-86B56D264700}" type="parTrans" cxnId="{B6F3BDE7-E376-49D9-8C66-4646190F3928}">
      <dgm:prSet/>
      <dgm:spPr/>
      <dgm:t>
        <a:bodyPr/>
        <a:lstStyle/>
        <a:p>
          <a:endParaRPr lang="en-US"/>
        </a:p>
      </dgm:t>
    </dgm:pt>
    <dgm:pt modelId="{18762923-D690-459B-B750-F33285DD17DC}" type="sibTrans" cxnId="{B6F3BDE7-E376-49D9-8C66-4646190F3928}">
      <dgm:prSet/>
      <dgm:spPr/>
      <dgm:t>
        <a:bodyPr/>
        <a:lstStyle/>
        <a:p>
          <a:endParaRPr lang="en-US"/>
        </a:p>
      </dgm:t>
    </dgm:pt>
    <dgm:pt modelId="{0103F5F6-B4F5-4111-AAC5-CDA15B584D69}">
      <dgm:prSet/>
      <dgm:spPr/>
      <dgm:t>
        <a:bodyPr/>
        <a:lstStyle/>
        <a:p>
          <a:r>
            <a:rPr lang="en-US" dirty="0"/>
            <a:t>The encryption keys are fully managed by Amazon S3 — users don’t create, view, or manage them.</a:t>
          </a:r>
        </a:p>
      </dgm:t>
    </dgm:pt>
    <dgm:pt modelId="{6340323F-A25E-4001-8692-98A723541228}" type="parTrans" cxnId="{C110D42E-3D58-4A99-80DD-CE8C189C96F4}">
      <dgm:prSet/>
      <dgm:spPr/>
      <dgm:t>
        <a:bodyPr/>
        <a:lstStyle/>
        <a:p>
          <a:endParaRPr lang="en-US"/>
        </a:p>
      </dgm:t>
    </dgm:pt>
    <dgm:pt modelId="{44EEE9DE-BF72-41C8-A383-D0885A8F18F4}" type="sibTrans" cxnId="{C110D42E-3D58-4A99-80DD-CE8C189C96F4}">
      <dgm:prSet/>
      <dgm:spPr/>
      <dgm:t>
        <a:bodyPr/>
        <a:lstStyle/>
        <a:p>
          <a:endParaRPr lang="en-US"/>
        </a:p>
      </dgm:t>
    </dgm:pt>
    <dgm:pt modelId="{0842E162-AC8C-4707-881F-7C3BA7DFAFBA}">
      <dgm:prSet/>
      <dgm:spPr/>
      <dgm:t>
        <a:bodyPr/>
        <a:lstStyle/>
        <a:p>
          <a:r>
            <a:rPr lang="en-US"/>
            <a:t>S3 handles both encryption (when data is uploaded) and decryption (when data is downloaded) transparently.</a:t>
          </a:r>
        </a:p>
      </dgm:t>
    </dgm:pt>
    <dgm:pt modelId="{9E409B6F-3F57-4CCE-AC25-DDD9FA7E870F}" type="parTrans" cxnId="{682356EE-3722-47E3-90F9-AA65A5CE76E3}">
      <dgm:prSet/>
      <dgm:spPr/>
      <dgm:t>
        <a:bodyPr/>
        <a:lstStyle/>
        <a:p>
          <a:endParaRPr lang="en-US"/>
        </a:p>
      </dgm:t>
    </dgm:pt>
    <dgm:pt modelId="{E3F5F51E-474D-4C48-A083-9A0074F92F37}" type="sibTrans" cxnId="{682356EE-3722-47E3-90F9-AA65A5CE76E3}">
      <dgm:prSet/>
      <dgm:spPr/>
      <dgm:t>
        <a:bodyPr/>
        <a:lstStyle/>
        <a:p>
          <a:endParaRPr lang="en-US"/>
        </a:p>
      </dgm:t>
    </dgm:pt>
    <dgm:pt modelId="{791F9D9C-C25B-4E49-9DC4-C1618F5A715E}" type="pres">
      <dgm:prSet presAssocID="{04386502-2D99-4984-B82A-D6FA471D154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D0B0E1C-1FDE-4000-9812-A6739AC8580E}" type="pres">
      <dgm:prSet presAssocID="{9C1D5FBF-C869-41E8-8B5B-FC26D5D4340B}" presName="hierRoot1" presStyleCnt="0"/>
      <dgm:spPr/>
    </dgm:pt>
    <dgm:pt modelId="{47E661B2-0BBF-410D-891B-3CAA0D647D53}" type="pres">
      <dgm:prSet presAssocID="{9C1D5FBF-C869-41E8-8B5B-FC26D5D4340B}" presName="composite" presStyleCnt="0"/>
      <dgm:spPr/>
    </dgm:pt>
    <dgm:pt modelId="{9515C5E2-DE17-4433-8DD9-6D49A05852C0}" type="pres">
      <dgm:prSet presAssocID="{9C1D5FBF-C869-41E8-8B5B-FC26D5D4340B}" presName="background" presStyleLbl="node0" presStyleIdx="0" presStyleCnt="3"/>
      <dgm:spPr/>
    </dgm:pt>
    <dgm:pt modelId="{8A07F44B-B823-4BC1-8932-28A2E5F4F9CC}" type="pres">
      <dgm:prSet presAssocID="{9C1D5FBF-C869-41E8-8B5B-FC26D5D4340B}" presName="text" presStyleLbl="fgAcc0" presStyleIdx="0" presStyleCnt="3">
        <dgm:presLayoutVars>
          <dgm:chPref val="3"/>
        </dgm:presLayoutVars>
      </dgm:prSet>
      <dgm:spPr/>
    </dgm:pt>
    <dgm:pt modelId="{559B6271-5569-4E1F-B90A-899DE0F30D33}" type="pres">
      <dgm:prSet presAssocID="{9C1D5FBF-C869-41E8-8B5B-FC26D5D4340B}" presName="hierChild2" presStyleCnt="0"/>
      <dgm:spPr/>
    </dgm:pt>
    <dgm:pt modelId="{2175ED22-972C-463B-9898-C3059A006F7D}" type="pres">
      <dgm:prSet presAssocID="{0103F5F6-B4F5-4111-AAC5-CDA15B584D69}" presName="hierRoot1" presStyleCnt="0"/>
      <dgm:spPr/>
    </dgm:pt>
    <dgm:pt modelId="{30A368F4-68D9-4358-A7FD-2E9E4485EF23}" type="pres">
      <dgm:prSet presAssocID="{0103F5F6-B4F5-4111-AAC5-CDA15B584D69}" presName="composite" presStyleCnt="0"/>
      <dgm:spPr/>
    </dgm:pt>
    <dgm:pt modelId="{5B25AAF1-ACD7-412D-A5D0-4F21E449C9E2}" type="pres">
      <dgm:prSet presAssocID="{0103F5F6-B4F5-4111-AAC5-CDA15B584D69}" presName="background" presStyleLbl="node0" presStyleIdx="1" presStyleCnt="3"/>
      <dgm:spPr/>
    </dgm:pt>
    <dgm:pt modelId="{585B717C-6317-4946-8289-BD6937E2EE76}" type="pres">
      <dgm:prSet presAssocID="{0103F5F6-B4F5-4111-AAC5-CDA15B584D69}" presName="text" presStyleLbl="fgAcc0" presStyleIdx="1" presStyleCnt="3">
        <dgm:presLayoutVars>
          <dgm:chPref val="3"/>
        </dgm:presLayoutVars>
      </dgm:prSet>
      <dgm:spPr/>
    </dgm:pt>
    <dgm:pt modelId="{366C6C59-B907-4F88-BE09-7F39F29FE8C5}" type="pres">
      <dgm:prSet presAssocID="{0103F5F6-B4F5-4111-AAC5-CDA15B584D69}" presName="hierChild2" presStyleCnt="0"/>
      <dgm:spPr/>
    </dgm:pt>
    <dgm:pt modelId="{3B919967-920E-4A2D-A8B6-A011792E9B25}" type="pres">
      <dgm:prSet presAssocID="{0842E162-AC8C-4707-881F-7C3BA7DFAFBA}" presName="hierRoot1" presStyleCnt="0"/>
      <dgm:spPr/>
    </dgm:pt>
    <dgm:pt modelId="{1ED85CD4-CB49-4866-B1D3-E3775ABF8527}" type="pres">
      <dgm:prSet presAssocID="{0842E162-AC8C-4707-881F-7C3BA7DFAFBA}" presName="composite" presStyleCnt="0"/>
      <dgm:spPr/>
    </dgm:pt>
    <dgm:pt modelId="{4DB844CA-24AA-4659-8597-A3D56724556A}" type="pres">
      <dgm:prSet presAssocID="{0842E162-AC8C-4707-881F-7C3BA7DFAFBA}" presName="background" presStyleLbl="node0" presStyleIdx="2" presStyleCnt="3"/>
      <dgm:spPr/>
    </dgm:pt>
    <dgm:pt modelId="{ABA1CC15-1B43-4E39-B3AA-756A3C9872DA}" type="pres">
      <dgm:prSet presAssocID="{0842E162-AC8C-4707-881F-7C3BA7DFAFBA}" presName="text" presStyleLbl="fgAcc0" presStyleIdx="2" presStyleCnt="3">
        <dgm:presLayoutVars>
          <dgm:chPref val="3"/>
        </dgm:presLayoutVars>
      </dgm:prSet>
      <dgm:spPr/>
    </dgm:pt>
    <dgm:pt modelId="{EA9553B6-CBDF-45D8-8438-E89B6036D8D6}" type="pres">
      <dgm:prSet presAssocID="{0842E162-AC8C-4707-881F-7C3BA7DFAFBA}" presName="hierChild2" presStyleCnt="0"/>
      <dgm:spPr/>
    </dgm:pt>
  </dgm:ptLst>
  <dgm:cxnLst>
    <dgm:cxn modelId="{C110D42E-3D58-4A99-80DD-CE8C189C96F4}" srcId="{04386502-2D99-4984-B82A-D6FA471D1541}" destId="{0103F5F6-B4F5-4111-AAC5-CDA15B584D69}" srcOrd="1" destOrd="0" parTransId="{6340323F-A25E-4001-8692-98A723541228}" sibTransId="{44EEE9DE-BF72-41C8-A383-D0885A8F18F4}"/>
    <dgm:cxn modelId="{99B25F40-1FA0-49F7-A2C3-89A558CA312C}" type="presOf" srcId="{0842E162-AC8C-4707-881F-7C3BA7DFAFBA}" destId="{ABA1CC15-1B43-4E39-B3AA-756A3C9872DA}" srcOrd="0" destOrd="0" presId="urn:microsoft.com/office/officeart/2005/8/layout/hierarchy1"/>
    <dgm:cxn modelId="{9D4EA970-AE91-4325-B67C-1F3D8ECD824C}" type="presOf" srcId="{0103F5F6-B4F5-4111-AAC5-CDA15B584D69}" destId="{585B717C-6317-4946-8289-BD6937E2EE76}" srcOrd="0" destOrd="0" presId="urn:microsoft.com/office/officeart/2005/8/layout/hierarchy1"/>
    <dgm:cxn modelId="{DAAC949A-4D87-4932-A0D1-379D8988C436}" type="presOf" srcId="{9C1D5FBF-C869-41E8-8B5B-FC26D5D4340B}" destId="{8A07F44B-B823-4BC1-8932-28A2E5F4F9CC}" srcOrd="0" destOrd="0" presId="urn:microsoft.com/office/officeart/2005/8/layout/hierarchy1"/>
    <dgm:cxn modelId="{F17B32BD-D54E-4D43-B9A0-8AB184139D60}" type="presOf" srcId="{04386502-2D99-4984-B82A-D6FA471D1541}" destId="{791F9D9C-C25B-4E49-9DC4-C1618F5A715E}" srcOrd="0" destOrd="0" presId="urn:microsoft.com/office/officeart/2005/8/layout/hierarchy1"/>
    <dgm:cxn modelId="{B6F3BDE7-E376-49D9-8C66-4646190F3928}" srcId="{04386502-2D99-4984-B82A-D6FA471D1541}" destId="{9C1D5FBF-C869-41E8-8B5B-FC26D5D4340B}" srcOrd="0" destOrd="0" parTransId="{65561EA3-9166-4211-979A-86B56D264700}" sibTransId="{18762923-D690-459B-B750-F33285DD17DC}"/>
    <dgm:cxn modelId="{682356EE-3722-47E3-90F9-AA65A5CE76E3}" srcId="{04386502-2D99-4984-B82A-D6FA471D1541}" destId="{0842E162-AC8C-4707-881F-7C3BA7DFAFBA}" srcOrd="2" destOrd="0" parTransId="{9E409B6F-3F57-4CCE-AC25-DDD9FA7E870F}" sibTransId="{E3F5F51E-474D-4C48-A083-9A0074F92F37}"/>
    <dgm:cxn modelId="{665D2967-C271-4A5E-9B8D-C829A191E4A1}" type="presParOf" srcId="{791F9D9C-C25B-4E49-9DC4-C1618F5A715E}" destId="{4D0B0E1C-1FDE-4000-9812-A6739AC8580E}" srcOrd="0" destOrd="0" presId="urn:microsoft.com/office/officeart/2005/8/layout/hierarchy1"/>
    <dgm:cxn modelId="{A0B8B314-42FC-4F58-991E-F2C951BADD5C}" type="presParOf" srcId="{4D0B0E1C-1FDE-4000-9812-A6739AC8580E}" destId="{47E661B2-0BBF-410D-891B-3CAA0D647D53}" srcOrd="0" destOrd="0" presId="urn:microsoft.com/office/officeart/2005/8/layout/hierarchy1"/>
    <dgm:cxn modelId="{E180DA53-09C9-44A7-B791-A2DA0B5D981C}" type="presParOf" srcId="{47E661B2-0BBF-410D-891B-3CAA0D647D53}" destId="{9515C5E2-DE17-4433-8DD9-6D49A05852C0}" srcOrd="0" destOrd="0" presId="urn:microsoft.com/office/officeart/2005/8/layout/hierarchy1"/>
    <dgm:cxn modelId="{AB2D400F-9D40-4295-9776-1A9E9124DC9A}" type="presParOf" srcId="{47E661B2-0BBF-410D-891B-3CAA0D647D53}" destId="{8A07F44B-B823-4BC1-8932-28A2E5F4F9CC}" srcOrd="1" destOrd="0" presId="urn:microsoft.com/office/officeart/2005/8/layout/hierarchy1"/>
    <dgm:cxn modelId="{D658BB43-4F03-4A5B-90E1-4F6D54BCB877}" type="presParOf" srcId="{4D0B0E1C-1FDE-4000-9812-A6739AC8580E}" destId="{559B6271-5569-4E1F-B90A-899DE0F30D33}" srcOrd="1" destOrd="0" presId="urn:microsoft.com/office/officeart/2005/8/layout/hierarchy1"/>
    <dgm:cxn modelId="{8F9E1501-C3F8-44C0-A184-C70762070D94}" type="presParOf" srcId="{791F9D9C-C25B-4E49-9DC4-C1618F5A715E}" destId="{2175ED22-972C-463B-9898-C3059A006F7D}" srcOrd="1" destOrd="0" presId="urn:microsoft.com/office/officeart/2005/8/layout/hierarchy1"/>
    <dgm:cxn modelId="{6CC9739C-00EC-4126-89CD-D7308AAD9EF3}" type="presParOf" srcId="{2175ED22-972C-463B-9898-C3059A006F7D}" destId="{30A368F4-68D9-4358-A7FD-2E9E4485EF23}" srcOrd="0" destOrd="0" presId="urn:microsoft.com/office/officeart/2005/8/layout/hierarchy1"/>
    <dgm:cxn modelId="{F5A7A848-89DE-47E7-8277-BCDD67FB48A7}" type="presParOf" srcId="{30A368F4-68D9-4358-A7FD-2E9E4485EF23}" destId="{5B25AAF1-ACD7-412D-A5D0-4F21E449C9E2}" srcOrd="0" destOrd="0" presId="urn:microsoft.com/office/officeart/2005/8/layout/hierarchy1"/>
    <dgm:cxn modelId="{86530209-2934-4474-9728-BAC750E376D2}" type="presParOf" srcId="{30A368F4-68D9-4358-A7FD-2E9E4485EF23}" destId="{585B717C-6317-4946-8289-BD6937E2EE76}" srcOrd="1" destOrd="0" presId="urn:microsoft.com/office/officeart/2005/8/layout/hierarchy1"/>
    <dgm:cxn modelId="{46376303-F974-4BC8-82CB-EAD908D7FB97}" type="presParOf" srcId="{2175ED22-972C-463B-9898-C3059A006F7D}" destId="{366C6C59-B907-4F88-BE09-7F39F29FE8C5}" srcOrd="1" destOrd="0" presId="urn:microsoft.com/office/officeart/2005/8/layout/hierarchy1"/>
    <dgm:cxn modelId="{B8074F29-0760-4CE2-8D2C-22FC86FECCD3}" type="presParOf" srcId="{791F9D9C-C25B-4E49-9DC4-C1618F5A715E}" destId="{3B919967-920E-4A2D-A8B6-A011792E9B25}" srcOrd="2" destOrd="0" presId="urn:microsoft.com/office/officeart/2005/8/layout/hierarchy1"/>
    <dgm:cxn modelId="{A9946A07-EC7C-4154-9A0D-2FFF9805BB58}" type="presParOf" srcId="{3B919967-920E-4A2D-A8B6-A011792E9B25}" destId="{1ED85CD4-CB49-4866-B1D3-E3775ABF8527}" srcOrd="0" destOrd="0" presId="urn:microsoft.com/office/officeart/2005/8/layout/hierarchy1"/>
    <dgm:cxn modelId="{49D07FC9-5821-49EC-9F07-91D9CD181540}" type="presParOf" srcId="{1ED85CD4-CB49-4866-B1D3-E3775ABF8527}" destId="{4DB844CA-24AA-4659-8597-A3D56724556A}" srcOrd="0" destOrd="0" presId="urn:microsoft.com/office/officeart/2005/8/layout/hierarchy1"/>
    <dgm:cxn modelId="{5E37EDAE-02B4-49F6-8FA8-39A0F2BF9CEA}" type="presParOf" srcId="{1ED85CD4-CB49-4866-B1D3-E3775ABF8527}" destId="{ABA1CC15-1B43-4E39-B3AA-756A3C9872DA}" srcOrd="1" destOrd="0" presId="urn:microsoft.com/office/officeart/2005/8/layout/hierarchy1"/>
    <dgm:cxn modelId="{8B94D4AF-938E-42B2-AFA0-70B2E0FD16CC}" type="presParOf" srcId="{3B919967-920E-4A2D-A8B6-A011792E9B25}" destId="{EA9553B6-CBDF-45D8-8438-E89B6036D8D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78BC03-9314-4EFF-A3A7-1C34553743EA}" type="doc">
      <dgm:prSet loTypeId="urn:microsoft.com/office/officeart/2005/8/layout/default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5A94452-9963-4312-9E9B-848569CFDA4E}">
      <dgm:prSet/>
      <dgm:spPr/>
      <dgm:t>
        <a:bodyPr/>
        <a:lstStyle/>
        <a:p>
          <a:r>
            <a:rPr lang="en-US"/>
            <a:t>When an object is uploaded, S3 generates a unique key and encrypts the object using AES-256.</a:t>
          </a:r>
        </a:p>
      </dgm:t>
    </dgm:pt>
    <dgm:pt modelId="{D1B92B3E-8C00-49C5-8CE2-58C9E53A81F3}" type="parTrans" cxnId="{77A5CAF7-F8BA-48BF-B918-17D683C8279B}">
      <dgm:prSet/>
      <dgm:spPr/>
      <dgm:t>
        <a:bodyPr/>
        <a:lstStyle/>
        <a:p>
          <a:endParaRPr lang="en-US"/>
        </a:p>
      </dgm:t>
    </dgm:pt>
    <dgm:pt modelId="{82E52F0B-1A15-484D-82C5-599A4375FB58}" type="sibTrans" cxnId="{77A5CAF7-F8BA-48BF-B918-17D683C8279B}">
      <dgm:prSet/>
      <dgm:spPr/>
      <dgm:t>
        <a:bodyPr/>
        <a:lstStyle/>
        <a:p>
          <a:endParaRPr lang="en-US"/>
        </a:p>
      </dgm:t>
    </dgm:pt>
    <dgm:pt modelId="{7A66CCC5-A078-469B-86A3-88C6CD70E5FF}">
      <dgm:prSet/>
      <dgm:spPr/>
      <dgm:t>
        <a:bodyPr/>
        <a:lstStyle/>
        <a:p>
          <a:r>
            <a:rPr lang="en-US"/>
            <a:t>The encrypted object and its metadata are stored in S3.</a:t>
          </a:r>
        </a:p>
      </dgm:t>
    </dgm:pt>
    <dgm:pt modelId="{912D95FF-94FC-446C-B884-A2998B5223C7}" type="parTrans" cxnId="{679DF345-216F-4BDD-83D5-ACCFE64802BE}">
      <dgm:prSet/>
      <dgm:spPr/>
      <dgm:t>
        <a:bodyPr/>
        <a:lstStyle/>
        <a:p>
          <a:endParaRPr lang="en-US"/>
        </a:p>
      </dgm:t>
    </dgm:pt>
    <dgm:pt modelId="{8058E122-45AA-419A-A505-2B30638F837D}" type="sibTrans" cxnId="{679DF345-216F-4BDD-83D5-ACCFE64802BE}">
      <dgm:prSet/>
      <dgm:spPr/>
      <dgm:t>
        <a:bodyPr/>
        <a:lstStyle/>
        <a:p>
          <a:endParaRPr lang="en-US"/>
        </a:p>
      </dgm:t>
    </dgm:pt>
    <dgm:pt modelId="{3F5D6319-D05A-46D3-B6E4-171A65BD71B8}">
      <dgm:prSet/>
      <dgm:spPr/>
      <dgm:t>
        <a:bodyPr/>
        <a:lstStyle/>
        <a:p>
          <a:r>
            <a:rPr lang="en-US"/>
            <a:t>When you download (GET) the object, S3 automatically decrypts it before returning the data to you.</a:t>
          </a:r>
        </a:p>
      </dgm:t>
    </dgm:pt>
    <dgm:pt modelId="{1B943915-A8A0-46A8-9479-01B4B03B7F07}" type="parTrans" cxnId="{24249FBC-7995-46C7-9C9F-4D160A9DB40D}">
      <dgm:prSet/>
      <dgm:spPr/>
      <dgm:t>
        <a:bodyPr/>
        <a:lstStyle/>
        <a:p>
          <a:endParaRPr lang="en-US"/>
        </a:p>
      </dgm:t>
    </dgm:pt>
    <dgm:pt modelId="{56E56063-4786-458A-8F2B-6FFBFE07EB60}" type="sibTrans" cxnId="{24249FBC-7995-46C7-9C9F-4D160A9DB40D}">
      <dgm:prSet/>
      <dgm:spPr/>
      <dgm:t>
        <a:bodyPr/>
        <a:lstStyle/>
        <a:p>
          <a:endParaRPr lang="en-US"/>
        </a:p>
      </dgm:t>
    </dgm:pt>
    <dgm:pt modelId="{FF38551F-72B0-4DB8-8DA8-1269D99653D6}" type="pres">
      <dgm:prSet presAssocID="{2378BC03-9314-4EFF-A3A7-1C34553743EA}" presName="diagram" presStyleCnt="0">
        <dgm:presLayoutVars>
          <dgm:dir/>
          <dgm:resizeHandles val="exact"/>
        </dgm:presLayoutVars>
      </dgm:prSet>
      <dgm:spPr/>
    </dgm:pt>
    <dgm:pt modelId="{D17F910D-4839-4AAC-B1D3-975973297BDC}" type="pres">
      <dgm:prSet presAssocID="{15A94452-9963-4312-9E9B-848569CFDA4E}" presName="node" presStyleLbl="node1" presStyleIdx="0" presStyleCnt="3">
        <dgm:presLayoutVars>
          <dgm:bulletEnabled val="1"/>
        </dgm:presLayoutVars>
      </dgm:prSet>
      <dgm:spPr/>
    </dgm:pt>
    <dgm:pt modelId="{DFF06F5C-37ED-4952-9516-CF2C914606AA}" type="pres">
      <dgm:prSet presAssocID="{82E52F0B-1A15-484D-82C5-599A4375FB58}" presName="sibTrans" presStyleCnt="0"/>
      <dgm:spPr/>
    </dgm:pt>
    <dgm:pt modelId="{178F369E-8410-4A7D-B752-95C98B9AFAF0}" type="pres">
      <dgm:prSet presAssocID="{7A66CCC5-A078-469B-86A3-88C6CD70E5FF}" presName="node" presStyleLbl="node1" presStyleIdx="1" presStyleCnt="3">
        <dgm:presLayoutVars>
          <dgm:bulletEnabled val="1"/>
        </dgm:presLayoutVars>
      </dgm:prSet>
      <dgm:spPr/>
    </dgm:pt>
    <dgm:pt modelId="{95EC2E6E-3565-4017-8063-7E8A3FA05E32}" type="pres">
      <dgm:prSet presAssocID="{8058E122-45AA-419A-A505-2B30638F837D}" presName="sibTrans" presStyleCnt="0"/>
      <dgm:spPr/>
    </dgm:pt>
    <dgm:pt modelId="{232A4C18-60CC-4B24-BF60-B91C60BAD7A0}" type="pres">
      <dgm:prSet presAssocID="{3F5D6319-D05A-46D3-B6E4-171A65BD71B8}" presName="node" presStyleLbl="node1" presStyleIdx="2" presStyleCnt="3">
        <dgm:presLayoutVars>
          <dgm:bulletEnabled val="1"/>
        </dgm:presLayoutVars>
      </dgm:prSet>
      <dgm:spPr/>
    </dgm:pt>
  </dgm:ptLst>
  <dgm:cxnLst>
    <dgm:cxn modelId="{73D9EB44-0B5E-41E9-BAE1-AD6E643FC4BC}" type="presOf" srcId="{3F5D6319-D05A-46D3-B6E4-171A65BD71B8}" destId="{232A4C18-60CC-4B24-BF60-B91C60BAD7A0}" srcOrd="0" destOrd="0" presId="urn:microsoft.com/office/officeart/2005/8/layout/default"/>
    <dgm:cxn modelId="{679DF345-216F-4BDD-83D5-ACCFE64802BE}" srcId="{2378BC03-9314-4EFF-A3A7-1C34553743EA}" destId="{7A66CCC5-A078-469B-86A3-88C6CD70E5FF}" srcOrd="1" destOrd="0" parTransId="{912D95FF-94FC-446C-B884-A2998B5223C7}" sibTransId="{8058E122-45AA-419A-A505-2B30638F837D}"/>
    <dgm:cxn modelId="{DEB37D57-9014-4498-B1BB-27F7A4AE51A4}" type="presOf" srcId="{2378BC03-9314-4EFF-A3A7-1C34553743EA}" destId="{FF38551F-72B0-4DB8-8DA8-1269D99653D6}" srcOrd="0" destOrd="0" presId="urn:microsoft.com/office/officeart/2005/8/layout/default"/>
    <dgm:cxn modelId="{2A9862B3-DA4D-44FC-909F-E93B3865C45B}" type="presOf" srcId="{7A66CCC5-A078-469B-86A3-88C6CD70E5FF}" destId="{178F369E-8410-4A7D-B752-95C98B9AFAF0}" srcOrd="0" destOrd="0" presId="urn:microsoft.com/office/officeart/2005/8/layout/default"/>
    <dgm:cxn modelId="{24249FBC-7995-46C7-9C9F-4D160A9DB40D}" srcId="{2378BC03-9314-4EFF-A3A7-1C34553743EA}" destId="{3F5D6319-D05A-46D3-B6E4-171A65BD71B8}" srcOrd="2" destOrd="0" parTransId="{1B943915-A8A0-46A8-9479-01B4B03B7F07}" sibTransId="{56E56063-4786-458A-8F2B-6FFBFE07EB60}"/>
    <dgm:cxn modelId="{734660D5-DC79-4BBC-9338-F6486FD3D63A}" type="presOf" srcId="{15A94452-9963-4312-9E9B-848569CFDA4E}" destId="{D17F910D-4839-4AAC-B1D3-975973297BDC}" srcOrd="0" destOrd="0" presId="urn:microsoft.com/office/officeart/2005/8/layout/default"/>
    <dgm:cxn modelId="{77A5CAF7-F8BA-48BF-B918-17D683C8279B}" srcId="{2378BC03-9314-4EFF-A3A7-1C34553743EA}" destId="{15A94452-9963-4312-9E9B-848569CFDA4E}" srcOrd="0" destOrd="0" parTransId="{D1B92B3E-8C00-49C5-8CE2-58C9E53A81F3}" sibTransId="{82E52F0B-1A15-484D-82C5-599A4375FB58}"/>
    <dgm:cxn modelId="{DEAD46FB-280C-4BB1-941A-20D61E7A80EC}" type="presParOf" srcId="{FF38551F-72B0-4DB8-8DA8-1269D99653D6}" destId="{D17F910D-4839-4AAC-B1D3-975973297BDC}" srcOrd="0" destOrd="0" presId="urn:microsoft.com/office/officeart/2005/8/layout/default"/>
    <dgm:cxn modelId="{1385CA9F-0978-44C3-B7E6-8125586D2EF8}" type="presParOf" srcId="{FF38551F-72B0-4DB8-8DA8-1269D99653D6}" destId="{DFF06F5C-37ED-4952-9516-CF2C914606AA}" srcOrd="1" destOrd="0" presId="urn:microsoft.com/office/officeart/2005/8/layout/default"/>
    <dgm:cxn modelId="{C8627916-CC9B-45E0-8814-8AA6516B894C}" type="presParOf" srcId="{FF38551F-72B0-4DB8-8DA8-1269D99653D6}" destId="{178F369E-8410-4A7D-B752-95C98B9AFAF0}" srcOrd="2" destOrd="0" presId="urn:microsoft.com/office/officeart/2005/8/layout/default"/>
    <dgm:cxn modelId="{93642360-4D29-4698-BC68-2E0A765D7A57}" type="presParOf" srcId="{FF38551F-72B0-4DB8-8DA8-1269D99653D6}" destId="{95EC2E6E-3565-4017-8063-7E8A3FA05E32}" srcOrd="3" destOrd="0" presId="urn:microsoft.com/office/officeart/2005/8/layout/default"/>
    <dgm:cxn modelId="{78DFE561-185D-4083-9662-C649B5714ECF}" type="presParOf" srcId="{FF38551F-72B0-4DB8-8DA8-1269D99653D6}" destId="{232A4C18-60CC-4B24-BF60-B91C60BAD7A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B9B6AB-70ED-4D77-A7E9-E1333E84812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763A68A-2C52-491B-9457-72CF2563E631}">
      <dgm:prSet/>
      <dgm:spPr/>
      <dgm:t>
        <a:bodyPr/>
        <a:lstStyle/>
        <a:p>
          <a:r>
            <a:rPr lang="en-US"/>
            <a:t>SSE-KMS means that your data is encrypted inside Amazon S3,</a:t>
          </a:r>
          <a:br>
            <a:rPr lang="en-US"/>
          </a:br>
          <a:r>
            <a:rPr lang="en-US"/>
            <a:t>but the encryption keys are managed by AWS KMS (Key Management Service).</a:t>
          </a:r>
        </a:p>
      </dgm:t>
    </dgm:pt>
    <dgm:pt modelId="{181AA774-FC93-46B7-B24B-E98F832745A1}" type="parTrans" cxnId="{2BBC774C-1C0C-453B-BB23-F205E2E8502B}">
      <dgm:prSet/>
      <dgm:spPr/>
      <dgm:t>
        <a:bodyPr/>
        <a:lstStyle/>
        <a:p>
          <a:endParaRPr lang="en-US"/>
        </a:p>
      </dgm:t>
    </dgm:pt>
    <dgm:pt modelId="{197E6F45-B5F8-4513-80D4-8CC3C08FA7FE}" type="sibTrans" cxnId="{2BBC774C-1C0C-453B-BB23-F205E2E8502B}">
      <dgm:prSet/>
      <dgm:spPr/>
      <dgm:t>
        <a:bodyPr/>
        <a:lstStyle/>
        <a:p>
          <a:endParaRPr lang="en-US"/>
        </a:p>
      </dgm:t>
    </dgm:pt>
    <dgm:pt modelId="{26115AF9-CC37-4589-BA31-08BCFB1F931B}">
      <dgm:prSet/>
      <dgm:spPr/>
      <dgm:t>
        <a:bodyPr/>
        <a:lstStyle/>
        <a:p>
          <a:r>
            <a:rPr lang="en-US"/>
            <a:t>S3 stores your object, but KMS manages the encryption key.</a:t>
          </a:r>
          <a:br>
            <a:rPr lang="en-US"/>
          </a:br>
          <a:r>
            <a:rPr lang="en-US"/>
            <a:t>It gives you more control, auditability, and compliance support compared to SSE-S3.</a:t>
          </a:r>
        </a:p>
      </dgm:t>
    </dgm:pt>
    <dgm:pt modelId="{DE2055A7-2497-4174-870D-A28F64F24479}" type="parTrans" cxnId="{E429154F-0C60-43EC-947C-84E554E13172}">
      <dgm:prSet/>
      <dgm:spPr/>
      <dgm:t>
        <a:bodyPr/>
        <a:lstStyle/>
        <a:p>
          <a:endParaRPr lang="en-US"/>
        </a:p>
      </dgm:t>
    </dgm:pt>
    <dgm:pt modelId="{B5CD6626-3F7A-4FD0-BC56-509A3E7E2010}" type="sibTrans" cxnId="{E429154F-0C60-43EC-947C-84E554E13172}">
      <dgm:prSet/>
      <dgm:spPr/>
      <dgm:t>
        <a:bodyPr/>
        <a:lstStyle/>
        <a:p>
          <a:endParaRPr lang="en-US"/>
        </a:p>
      </dgm:t>
    </dgm:pt>
    <dgm:pt modelId="{1566F7E4-936C-4ADB-B96F-65814673D545}" type="pres">
      <dgm:prSet presAssocID="{16B9B6AB-70ED-4D77-A7E9-E1333E84812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2B50054-E10E-42BF-9444-FEF85CD29BAD}" type="pres">
      <dgm:prSet presAssocID="{4763A68A-2C52-491B-9457-72CF2563E631}" presName="hierRoot1" presStyleCnt="0"/>
      <dgm:spPr/>
    </dgm:pt>
    <dgm:pt modelId="{B80D452F-1BB4-4AC1-8C8E-F169BA21E9EB}" type="pres">
      <dgm:prSet presAssocID="{4763A68A-2C52-491B-9457-72CF2563E631}" presName="composite" presStyleCnt="0"/>
      <dgm:spPr/>
    </dgm:pt>
    <dgm:pt modelId="{2451C779-3E19-44FF-8745-F8608FD99074}" type="pres">
      <dgm:prSet presAssocID="{4763A68A-2C52-491B-9457-72CF2563E631}" presName="background" presStyleLbl="node0" presStyleIdx="0" presStyleCnt="2"/>
      <dgm:spPr/>
    </dgm:pt>
    <dgm:pt modelId="{B8E75102-D77F-41D2-9065-A201C0EB986B}" type="pres">
      <dgm:prSet presAssocID="{4763A68A-2C52-491B-9457-72CF2563E631}" presName="text" presStyleLbl="fgAcc0" presStyleIdx="0" presStyleCnt="2">
        <dgm:presLayoutVars>
          <dgm:chPref val="3"/>
        </dgm:presLayoutVars>
      </dgm:prSet>
      <dgm:spPr/>
    </dgm:pt>
    <dgm:pt modelId="{FC38AA1B-F5C0-4630-834E-251E33ED8B3D}" type="pres">
      <dgm:prSet presAssocID="{4763A68A-2C52-491B-9457-72CF2563E631}" presName="hierChild2" presStyleCnt="0"/>
      <dgm:spPr/>
    </dgm:pt>
    <dgm:pt modelId="{81C22BEE-7814-4FC3-8A39-ABC1A7084BBF}" type="pres">
      <dgm:prSet presAssocID="{26115AF9-CC37-4589-BA31-08BCFB1F931B}" presName="hierRoot1" presStyleCnt="0"/>
      <dgm:spPr/>
    </dgm:pt>
    <dgm:pt modelId="{07CF2E44-F872-42B4-8862-F948C6891D45}" type="pres">
      <dgm:prSet presAssocID="{26115AF9-CC37-4589-BA31-08BCFB1F931B}" presName="composite" presStyleCnt="0"/>
      <dgm:spPr/>
    </dgm:pt>
    <dgm:pt modelId="{EE569E7F-08E9-4A4D-A5EA-919200D8483F}" type="pres">
      <dgm:prSet presAssocID="{26115AF9-CC37-4589-BA31-08BCFB1F931B}" presName="background" presStyleLbl="node0" presStyleIdx="1" presStyleCnt="2"/>
      <dgm:spPr/>
    </dgm:pt>
    <dgm:pt modelId="{256B3767-5F3C-44B6-934C-22BCDDAD9454}" type="pres">
      <dgm:prSet presAssocID="{26115AF9-CC37-4589-BA31-08BCFB1F931B}" presName="text" presStyleLbl="fgAcc0" presStyleIdx="1" presStyleCnt="2">
        <dgm:presLayoutVars>
          <dgm:chPref val="3"/>
        </dgm:presLayoutVars>
      </dgm:prSet>
      <dgm:spPr/>
    </dgm:pt>
    <dgm:pt modelId="{FFA6FC47-B1CC-4FA9-8780-D9B445865C6F}" type="pres">
      <dgm:prSet presAssocID="{26115AF9-CC37-4589-BA31-08BCFB1F931B}" presName="hierChild2" presStyleCnt="0"/>
      <dgm:spPr/>
    </dgm:pt>
  </dgm:ptLst>
  <dgm:cxnLst>
    <dgm:cxn modelId="{1616A933-849B-48BB-A570-41857EC6A679}" type="presOf" srcId="{16B9B6AB-70ED-4D77-A7E9-E1333E848126}" destId="{1566F7E4-936C-4ADB-B96F-65814673D545}" srcOrd="0" destOrd="0" presId="urn:microsoft.com/office/officeart/2005/8/layout/hierarchy1"/>
    <dgm:cxn modelId="{C6735642-D13A-48D6-891D-F0762DF50770}" type="presOf" srcId="{4763A68A-2C52-491B-9457-72CF2563E631}" destId="{B8E75102-D77F-41D2-9065-A201C0EB986B}" srcOrd="0" destOrd="0" presId="urn:microsoft.com/office/officeart/2005/8/layout/hierarchy1"/>
    <dgm:cxn modelId="{2BBC774C-1C0C-453B-BB23-F205E2E8502B}" srcId="{16B9B6AB-70ED-4D77-A7E9-E1333E848126}" destId="{4763A68A-2C52-491B-9457-72CF2563E631}" srcOrd="0" destOrd="0" parTransId="{181AA774-FC93-46B7-B24B-E98F832745A1}" sibTransId="{197E6F45-B5F8-4513-80D4-8CC3C08FA7FE}"/>
    <dgm:cxn modelId="{E429154F-0C60-43EC-947C-84E554E13172}" srcId="{16B9B6AB-70ED-4D77-A7E9-E1333E848126}" destId="{26115AF9-CC37-4589-BA31-08BCFB1F931B}" srcOrd="1" destOrd="0" parTransId="{DE2055A7-2497-4174-870D-A28F64F24479}" sibTransId="{B5CD6626-3F7A-4FD0-BC56-509A3E7E2010}"/>
    <dgm:cxn modelId="{3D3A5C96-38A9-4D8D-B62A-BEDC2C48624D}" type="presOf" srcId="{26115AF9-CC37-4589-BA31-08BCFB1F931B}" destId="{256B3767-5F3C-44B6-934C-22BCDDAD9454}" srcOrd="0" destOrd="0" presId="urn:microsoft.com/office/officeart/2005/8/layout/hierarchy1"/>
    <dgm:cxn modelId="{F496519B-2458-4C52-9982-6A0CC41AB75E}" type="presParOf" srcId="{1566F7E4-936C-4ADB-B96F-65814673D545}" destId="{B2B50054-E10E-42BF-9444-FEF85CD29BAD}" srcOrd="0" destOrd="0" presId="urn:microsoft.com/office/officeart/2005/8/layout/hierarchy1"/>
    <dgm:cxn modelId="{35CEA8A1-5EF0-41B4-8597-37E5EEDDA5A6}" type="presParOf" srcId="{B2B50054-E10E-42BF-9444-FEF85CD29BAD}" destId="{B80D452F-1BB4-4AC1-8C8E-F169BA21E9EB}" srcOrd="0" destOrd="0" presId="urn:microsoft.com/office/officeart/2005/8/layout/hierarchy1"/>
    <dgm:cxn modelId="{35AD2C47-BB22-4605-913C-0A10CA093B71}" type="presParOf" srcId="{B80D452F-1BB4-4AC1-8C8E-F169BA21E9EB}" destId="{2451C779-3E19-44FF-8745-F8608FD99074}" srcOrd="0" destOrd="0" presId="urn:microsoft.com/office/officeart/2005/8/layout/hierarchy1"/>
    <dgm:cxn modelId="{3DEFE228-4F7C-445D-8A6C-0915A8D898D2}" type="presParOf" srcId="{B80D452F-1BB4-4AC1-8C8E-F169BA21E9EB}" destId="{B8E75102-D77F-41D2-9065-A201C0EB986B}" srcOrd="1" destOrd="0" presId="urn:microsoft.com/office/officeart/2005/8/layout/hierarchy1"/>
    <dgm:cxn modelId="{DB0FE2EC-1E6D-440E-9748-772FBE34E6C5}" type="presParOf" srcId="{B2B50054-E10E-42BF-9444-FEF85CD29BAD}" destId="{FC38AA1B-F5C0-4630-834E-251E33ED8B3D}" srcOrd="1" destOrd="0" presId="urn:microsoft.com/office/officeart/2005/8/layout/hierarchy1"/>
    <dgm:cxn modelId="{EE719756-24AC-4150-9665-810497E710FA}" type="presParOf" srcId="{1566F7E4-936C-4ADB-B96F-65814673D545}" destId="{81C22BEE-7814-4FC3-8A39-ABC1A7084BBF}" srcOrd="1" destOrd="0" presId="urn:microsoft.com/office/officeart/2005/8/layout/hierarchy1"/>
    <dgm:cxn modelId="{9F05E8B0-569B-4AF2-BEFE-2F385FA08C3D}" type="presParOf" srcId="{81C22BEE-7814-4FC3-8A39-ABC1A7084BBF}" destId="{07CF2E44-F872-42B4-8862-F948C6891D45}" srcOrd="0" destOrd="0" presId="urn:microsoft.com/office/officeart/2005/8/layout/hierarchy1"/>
    <dgm:cxn modelId="{E925BF80-F99E-4585-AA33-8D9BA2CB2B1C}" type="presParOf" srcId="{07CF2E44-F872-42B4-8862-F948C6891D45}" destId="{EE569E7F-08E9-4A4D-A5EA-919200D8483F}" srcOrd="0" destOrd="0" presId="urn:microsoft.com/office/officeart/2005/8/layout/hierarchy1"/>
    <dgm:cxn modelId="{DE374E73-C640-4552-8D75-5BBDBD7A4FAD}" type="presParOf" srcId="{07CF2E44-F872-42B4-8862-F948C6891D45}" destId="{256B3767-5F3C-44B6-934C-22BCDDAD9454}" srcOrd="1" destOrd="0" presId="urn:microsoft.com/office/officeart/2005/8/layout/hierarchy1"/>
    <dgm:cxn modelId="{7AD1953C-3CCD-4043-AE48-988656E0D97C}" type="presParOf" srcId="{81C22BEE-7814-4FC3-8A39-ABC1A7084BBF}" destId="{FFA6FC47-B1CC-4FA9-8780-D9B445865C6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26F1BF3-A016-4C40-BE77-C7C936D0B2B0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C6CC1B7-6036-40DD-80EE-A20C6AE58214}">
      <dgm:prSet/>
      <dgm:spPr/>
      <dgm:t>
        <a:bodyPr/>
        <a:lstStyle/>
        <a:p>
          <a:r>
            <a:rPr lang="en-US"/>
            <a:t>When you upload an object to S3,</a:t>
          </a:r>
          <a:br>
            <a:rPr lang="en-US"/>
          </a:br>
          <a:r>
            <a:rPr lang="en-US"/>
            <a:t>S3 requests a data encryption key (DEK) from AWS KMS.</a:t>
          </a:r>
        </a:p>
      </dgm:t>
    </dgm:pt>
    <dgm:pt modelId="{8E8DBDC0-2995-4B73-ADB2-E874A960603D}" type="parTrans" cxnId="{0C24DEE2-BE56-4F93-8237-39B96CCEDCF0}">
      <dgm:prSet/>
      <dgm:spPr/>
      <dgm:t>
        <a:bodyPr/>
        <a:lstStyle/>
        <a:p>
          <a:endParaRPr lang="en-US"/>
        </a:p>
      </dgm:t>
    </dgm:pt>
    <dgm:pt modelId="{47016DCF-F874-4B50-8687-EA1F21DABD97}" type="sibTrans" cxnId="{0C24DEE2-BE56-4F93-8237-39B96CCEDCF0}">
      <dgm:prSet/>
      <dgm:spPr/>
      <dgm:t>
        <a:bodyPr/>
        <a:lstStyle/>
        <a:p>
          <a:endParaRPr lang="en-US"/>
        </a:p>
      </dgm:t>
    </dgm:pt>
    <dgm:pt modelId="{E3F486E1-8DCD-4790-AC4A-51E6CBC4963A}">
      <dgm:prSet/>
      <dgm:spPr/>
      <dgm:t>
        <a:bodyPr/>
        <a:lstStyle/>
        <a:p>
          <a:r>
            <a:rPr lang="en-US"/>
            <a:t>That DEK is used to encrypt the object data.</a:t>
          </a:r>
        </a:p>
      </dgm:t>
    </dgm:pt>
    <dgm:pt modelId="{60D9E467-0D97-4335-918E-BEE8FD50AFED}" type="parTrans" cxnId="{642807B3-47CC-44AF-9463-862A9D004126}">
      <dgm:prSet/>
      <dgm:spPr/>
      <dgm:t>
        <a:bodyPr/>
        <a:lstStyle/>
        <a:p>
          <a:endParaRPr lang="en-US"/>
        </a:p>
      </dgm:t>
    </dgm:pt>
    <dgm:pt modelId="{64BD6EEC-3CD7-47B2-B7BA-BD1FE23B3ACA}" type="sibTrans" cxnId="{642807B3-47CC-44AF-9463-862A9D004126}">
      <dgm:prSet/>
      <dgm:spPr/>
      <dgm:t>
        <a:bodyPr/>
        <a:lstStyle/>
        <a:p>
          <a:endParaRPr lang="en-US"/>
        </a:p>
      </dgm:t>
    </dgm:pt>
    <dgm:pt modelId="{E81778A3-E11C-4A83-8C9F-1FEBF6ABB55F}">
      <dgm:prSet/>
      <dgm:spPr/>
      <dgm:t>
        <a:bodyPr/>
        <a:lstStyle/>
        <a:p>
          <a:r>
            <a:rPr lang="en-US" dirty="0"/>
            <a:t>The DEK itself is encrypted using the KMS master key (CMK).</a:t>
          </a:r>
        </a:p>
      </dgm:t>
    </dgm:pt>
    <dgm:pt modelId="{D11A9364-44BE-48D2-95FC-09D2B9894128}" type="parTrans" cxnId="{CB84A5FC-09F7-44C0-8296-A82D97BE734B}">
      <dgm:prSet/>
      <dgm:spPr/>
      <dgm:t>
        <a:bodyPr/>
        <a:lstStyle/>
        <a:p>
          <a:endParaRPr lang="en-US"/>
        </a:p>
      </dgm:t>
    </dgm:pt>
    <dgm:pt modelId="{CCDF9032-9E47-49D2-9B5E-21A600BB0E4D}" type="sibTrans" cxnId="{CB84A5FC-09F7-44C0-8296-A82D97BE734B}">
      <dgm:prSet/>
      <dgm:spPr/>
      <dgm:t>
        <a:bodyPr/>
        <a:lstStyle/>
        <a:p>
          <a:endParaRPr lang="en-US"/>
        </a:p>
      </dgm:t>
    </dgm:pt>
    <dgm:pt modelId="{3060B4C5-4805-4E2E-A101-197326C66CF3}">
      <dgm:prSet/>
      <dgm:spPr/>
      <dgm:t>
        <a:bodyPr/>
        <a:lstStyle/>
        <a:p>
          <a:r>
            <a:rPr lang="en-US"/>
            <a:t>When you download the object,</a:t>
          </a:r>
          <a:br>
            <a:rPr lang="en-US"/>
          </a:br>
          <a:r>
            <a:rPr lang="en-US"/>
            <a:t>S3 requests KMS to decrypt the DEK,</a:t>
          </a:r>
          <a:br>
            <a:rPr lang="en-US"/>
          </a:br>
          <a:r>
            <a:rPr lang="en-US"/>
            <a:t>and then decrypts the object before returning it to you.</a:t>
          </a:r>
        </a:p>
      </dgm:t>
    </dgm:pt>
    <dgm:pt modelId="{4F3AD721-720D-4E67-BD2B-969B9B5CF372}" type="parTrans" cxnId="{ED906E85-1D6E-4EBB-93AA-B39923989862}">
      <dgm:prSet/>
      <dgm:spPr/>
      <dgm:t>
        <a:bodyPr/>
        <a:lstStyle/>
        <a:p>
          <a:endParaRPr lang="en-US"/>
        </a:p>
      </dgm:t>
    </dgm:pt>
    <dgm:pt modelId="{1DC5D07B-7DBB-4BBA-BE72-53B875DD0E1D}" type="sibTrans" cxnId="{ED906E85-1D6E-4EBB-93AA-B39923989862}">
      <dgm:prSet/>
      <dgm:spPr/>
      <dgm:t>
        <a:bodyPr/>
        <a:lstStyle/>
        <a:p>
          <a:endParaRPr lang="en-US"/>
        </a:p>
      </dgm:t>
    </dgm:pt>
    <dgm:pt modelId="{070A89D1-93E1-4BED-B6A9-2F675719921B}" type="pres">
      <dgm:prSet presAssocID="{A26F1BF3-A016-4C40-BE77-C7C936D0B2B0}" presName="diagram" presStyleCnt="0">
        <dgm:presLayoutVars>
          <dgm:dir/>
          <dgm:resizeHandles val="exact"/>
        </dgm:presLayoutVars>
      </dgm:prSet>
      <dgm:spPr/>
    </dgm:pt>
    <dgm:pt modelId="{A7A1DBB3-8871-4DE0-97C7-B008F4606694}" type="pres">
      <dgm:prSet presAssocID="{AC6CC1B7-6036-40DD-80EE-A20C6AE58214}" presName="node" presStyleLbl="node1" presStyleIdx="0" presStyleCnt="4">
        <dgm:presLayoutVars>
          <dgm:bulletEnabled val="1"/>
        </dgm:presLayoutVars>
      </dgm:prSet>
      <dgm:spPr/>
    </dgm:pt>
    <dgm:pt modelId="{F1984F12-611E-4B77-BAF8-3DF7ADB9D58E}" type="pres">
      <dgm:prSet presAssocID="{47016DCF-F874-4B50-8687-EA1F21DABD97}" presName="sibTrans" presStyleLbl="sibTrans2D1" presStyleIdx="0" presStyleCnt="3"/>
      <dgm:spPr/>
    </dgm:pt>
    <dgm:pt modelId="{30407E64-7632-4AF9-A92C-6A9D1B7A0BE3}" type="pres">
      <dgm:prSet presAssocID="{47016DCF-F874-4B50-8687-EA1F21DABD97}" presName="connectorText" presStyleLbl="sibTrans2D1" presStyleIdx="0" presStyleCnt="3"/>
      <dgm:spPr/>
    </dgm:pt>
    <dgm:pt modelId="{6C3B3B03-DBA6-48AB-AC3D-560AF41A0886}" type="pres">
      <dgm:prSet presAssocID="{E3F486E1-8DCD-4790-AC4A-51E6CBC4963A}" presName="node" presStyleLbl="node1" presStyleIdx="1" presStyleCnt="4">
        <dgm:presLayoutVars>
          <dgm:bulletEnabled val="1"/>
        </dgm:presLayoutVars>
      </dgm:prSet>
      <dgm:spPr/>
    </dgm:pt>
    <dgm:pt modelId="{77F79E0A-DC66-470E-81FF-89897CB1AEA3}" type="pres">
      <dgm:prSet presAssocID="{64BD6EEC-3CD7-47B2-B7BA-BD1FE23B3ACA}" presName="sibTrans" presStyleLbl="sibTrans2D1" presStyleIdx="1" presStyleCnt="3"/>
      <dgm:spPr/>
    </dgm:pt>
    <dgm:pt modelId="{92D90B55-DA09-47C0-94FE-6EE3A3906DDF}" type="pres">
      <dgm:prSet presAssocID="{64BD6EEC-3CD7-47B2-B7BA-BD1FE23B3ACA}" presName="connectorText" presStyleLbl="sibTrans2D1" presStyleIdx="1" presStyleCnt="3"/>
      <dgm:spPr/>
    </dgm:pt>
    <dgm:pt modelId="{C1AACB92-CC41-4FE6-A493-69002D4E2BBA}" type="pres">
      <dgm:prSet presAssocID="{E81778A3-E11C-4A83-8C9F-1FEBF6ABB55F}" presName="node" presStyleLbl="node1" presStyleIdx="2" presStyleCnt="4">
        <dgm:presLayoutVars>
          <dgm:bulletEnabled val="1"/>
        </dgm:presLayoutVars>
      </dgm:prSet>
      <dgm:spPr/>
    </dgm:pt>
    <dgm:pt modelId="{704CFAD8-331E-47B9-828D-B6FA17CC2D08}" type="pres">
      <dgm:prSet presAssocID="{CCDF9032-9E47-49D2-9B5E-21A600BB0E4D}" presName="sibTrans" presStyleLbl="sibTrans2D1" presStyleIdx="2" presStyleCnt="3"/>
      <dgm:spPr/>
    </dgm:pt>
    <dgm:pt modelId="{AB4953EB-4C49-460D-8B43-74C1BEB2013A}" type="pres">
      <dgm:prSet presAssocID="{CCDF9032-9E47-49D2-9B5E-21A600BB0E4D}" presName="connectorText" presStyleLbl="sibTrans2D1" presStyleIdx="2" presStyleCnt="3"/>
      <dgm:spPr/>
    </dgm:pt>
    <dgm:pt modelId="{C86C1659-2889-4E83-996E-0AB73F004EE2}" type="pres">
      <dgm:prSet presAssocID="{3060B4C5-4805-4E2E-A101-197326C66CF3}" presName="node" presStyleLbl="node1" presStyleIdx="3" presStyleCnt="4">
        <dgm:presLayoutVars>
          <dgm:bulletEnabled val="1"/>
        </dgm:presLayoutVars>
      </dgm:prSet>
      <dgm:spPr/>
    </dgm:pt>
  </dgm:ptLst>
  <dgm:cxnLst>
    <dgm:cxn modelId="{7042590A-70AB-4B5B-AEB8-E46A59E30223}" type="presOf" srcId="{3060B4C5-4805-4E2E-A101-197326C66CF3}" destId="{C86C1659-2889-4E83-996E-0AB73F004EE2}" srcOrd="0" destOrd="0" presId="urn:microsoft.com/office/officeart/2005/8/layout/process5"/>
    <dgm:cxn modelId="{4DD2231C-0271-430F-9BA7-3100A412C8F3}" type="presOf" srcId="{47016DCF-F874-4B50-8687-EA1F21DABD97}" destId="{30407E64-7632-4AF9-A92C-6A9D1B7A0BE3}" srcOrd="1" destOrd="0" presId="urn:microsoft.com/office/officeart/2005/8/layout/process5"/>
    <dgm:cxn modelId="{BD0AF66F-1265-4265-AB7C-E5DCB8701CCC}" type="presOf" srcId="{CCDF9032-9E47-49D2-9B5E-21A600BB0E4D}" destId="{AB4953EB-4C49-460D-8B43-74C1BEB2013A}" srcOrd="1" destOrd="0" presId="urn:microsoft.com/office/officeart/2005/8/layout/process5"/>
    <dgm:cxn modelId="{0243B953-9B43-4BD1-AD71-A58158676AED}" type="presOf" srcId="{64BD6EEC-3CD7-47B2-B7BA-BD1FE23B3ACA}" destId="{92D90B55-DA09-47C0-94FE-6EE3A3906DDF}" srcOrd="1" destOrd="0" presId="urn:microsoft.com/office/officeart/2005/8/layout/process5"/>
    <dgm:cxn modelId="{0CB31375-C7F8-4713-AD69-CAA1073433B6}" type="presOf" srcId="{AC6CC1B7-6036-40DD-80EE-A20C6AE58214}" destId="{A7A1DBB3-8871-4DE0-97C7-B008F4606694}" srcOrd="0" destOrd="0" presId="urn:microsoft.com/office/officeart/2005/8/layout/process5"/>
    <dgm:cxn modelId="{9244DE59-C163-4382-84B6-3EDC241646B2}" type="presOf" srcId="{64BD6EEC-3CD7-47B2-B7BA-BD1FE23B3ACA}" destId="{77F79E0A-DC66-470E-81FF-89897CB1AEA3}" srcOrd="0" destOrd="0" presId="urn:microsoft.com/office/officeart/2005/8/layout/process5"/>
    <dgm:cxn modelId="{ED906E85-1D6E-4EBB-93AA-B39923989862}" srcId="{A26F1BF3-A016-4C40-BE77-C7C936D0B2B0}" destId="{3060B4C5-4805-4E2E-A101-197326C66CF3}" srcOrd="3" destOrd="0" parTransId="{4F3AD721-720D-4E67-BD2B-969B9B5CF372}" sibTransId="{1DC5D07B-7DBB-4BBA-BE72-53B875DD0E1D}"/>
    <dgm:cxn modelId="{3589AC9D-07C8-45C0-A956-FFBC74E7B64F}" type="presOf" srcId="{E3F486E1-8DCD-4790-AC4A-51E6CBC4963A}" destId="{6C3B3B03-DBA6-48AB-AC3D-560AF41A0886}" srcOrd="0" destOrd="0" presId="urn:microsoft.com/office/officeart/2005/8/layout/process5"/>
    <dgm:cxn modelId="{3AB1EEB0-9644-4D6D-9C9E-4A147F738F9D}" type="presOf" srcId="{47016DCF-F874-4B50-8687-EA1F21DABD97}" destId="{F1984F12-611E-4B77-BAF8-3DF7ADB9D58E}" srcOrd="0" destOrd="0" presId="urn:microsoft.com/office/officeart/2005/8/layout/process5"/>
    <dgm:cxn modelId="{642807B3-47CC-44AF-9463-862A9D004126}" srcId="{A26F1BF3-A016-4C40-BE77-C7C936D0B2B0}" destId="{E3F486E1-8DCD-4790-AC4A-51E6CBC4963A}" srcOrd="1" destOrd="0" parTransId="{60D9E467-0D97-4335-918E-BEE8FD50AFED}" sibTransId="{64BD6EEC-3CD7-47B2-B7BA-BD1FE23B3ACA}"/>
    <dgm:cxn modelId="{BBD561C7-C275-4D70-B1AA-6BD53CDDB8A9}" type="presOf" srcId="{CCDF9032-9E47-49D2-9B5E-21A600BB0E4D}" destId="{704CFAD8-331E-47B9-828D-B6FA17CC2D08}" srcOrd="0" destOrd="0" presId="urn:microsoft.com/office/officeart/2005/8/layout/process5"/>
    <dgm:cxn modelId="{27B29ED4-5592-4E58-AAAB-98B7477C3321}" type="presOf" srcId="{A26F1BF3-A016-4C40-BE77-C7C936D0B2B0}" destId="{070A89D1-93E1-4BED-B6A9-2F675719921B}" srcOrd="0" destOrd="0" presId="urn:microsoft.com/office/officeart/2005/8/layout/process5"/>
    <dgm:cxn modelId="{811997E0-2C3C-453D-BD59-0317B10FFD72}" type="presOf" srcId="{E81778A3-E11C-4A83-8C9F-1FEBF6ABB55F}" destId="{C1AACB92-CC41-4FE6-A493-69002D4E2BBA}" srcOrd="0" destOrd="0" presId="urn:microsoft.com/office/officeart/2005/8/layout/process5"/>
    <dgm:cxn modelId="{0C24DEE2-BE56-4F93-8237-39B96CCEDCF0}" srcId="{A26F1BF3-A016-4C40-BE77-C7C936D0B2B0}" destId="{AC6CC1B7-6036-40DD-80EE-A20C6AE58214}" srcOrd="0" destOrd="0" parTransId="{8E8DBDC0-2995-4B73-ADB2-E874A960603D}" sibTransId="{47016DCF-F874-4B50-8687-EA1F21DABD97}"/>
    <dgm:cxn modelId="{CB84A5FC-09F7-44C0-8296-A82D97BE734B}" srcId="{A26F1BF3-A016-4C40-BE77-C7C936D0B2B0}" destId="{E81778A3-E11C-4A83-8C9F-1FEBF6ABB55F}" srcOrd="2" destOrd="0" parTransId="{D11A9364-44BE-48D2-95FC-09D2B9894128}" sibTransId="{CCDF9032-9E47-49D2-9B5E-21A600BB0E4D}"/>
    <dgm:cxn modelId="{FF0FF436-E908-4ED9-BFBF-DB4E1505480D}" type="presParOf" srcId="{070A89D1-93E1-4BED-B6A9-2F675719921B}" destId="{A7A1DBB3-8871-4DE0-97C7-B008F4606694}" srcOrd="0" destOrd="0" presId="urn:microsoft.com/office/officeart/2005/8/layout/process5"/>
    <dgm:cxn modelId="{964D253E-4461-4C12-9595-11604671FBDE}" type="presParOf" srcId="{070A89D1-93E1-4BED-B6A9-2F675719921B}" destId="{F1984F12-611E-4B77-BAF8-3DF7ADB9D58E}" srcOrd="1" destOrd="0" presId="urn:microsoft.com/office/officeart/2005/8/layout/process5"/>
    <dgm:cxn modelId="{9E3EF9D0-E5E0-48F6-B8D0-E31E6A4BF71A}" type="presParOf" srcId="{F1984F12-611E-4B77-BAF8-3DF7ADB9D58E}" destId="{30407E64-7632-4AF9-A92C-6A9D1B7A0BE3}" srcOrd="0" destOrd="0" presId="urn:microsoft.com/office/officeart/2005/8/layout/process5"/>
    <dgm:cxn modelId="{168F950C-D23D-4100-868F-80859E50BF93}" type="presParOf" srcId="{070A89D1-93E1-4BED-B6A9-2F675719921B}" destId="{6C3B3B03-DBA6-48AB-AC3D-560AF41A0886}" srcOrd="2" destOrd="0" presId="urn:microsoft.com/office/officeart/2005/8/layout/process5"/>
    <dgm:cxn modelId="{D432053B-D66A-4C62-ADC4-77B4F5C85E06}" type="presParOf" srcId="{070A89D1-93E1-4BED-B6A9-2F675719921B}" destId="{77F79E0A-DC66-470E-81FF-89897CB1AEA3}" srcOrd="3" destOrd="0" presId="urn:microsoft.com/office/officeart/2005/8/layout/process5"/>
    <dgm:cxn modelId="{71FA74EC-7FD9-4CC2-86AA-128757C1635A}" type="presParOf" srcId="{77F79E0A-DC66-470E-81FF-89897CB1AEA3}" destId="{92D90B55-DA09-47C0-94FE-6EE3A3906DDF}" srcOrd="0" destOrd="0" presId="urn:microsoft.com/office/officeart/2005/8/layout/process5"/>
    <dgm:cxn modelId="{8317AFC9-797B-4BD8-AE12-E5F781CA46DC}" type="presParOf" srcId="{070A89D1-93E1-4BED-B6A9-2F675719921B}" destId="{C1AACB92-CC41-4FE6-A493-69002D4E2BBA}" srcOrd="4" destOrd="0" presId="urn:microsoft.com/office/officeart/2005/8/layout/process5"/>
    <dgm:cxn modelId="{A4D55F37-A574-4DEB-B0EC-94A56F6B19B7}" type="presParOf" srcId="{070A89D1-93E1-4BED-B6A9-2F675719921B}" destId="{704CFAD8-331E-47B9-828D-B6FA17CC2D08}" srcOrd="5" destOrd="0" presId="urn:microsoft.com/office/officeart/2005/8/layout/process5"/>
    <dgm:cxn modelId="{2FA9D33A-6EE8-4815-8D2A-1CB588E34218}" type="presParOf" srcId="{704CFAD8-331E-47B9-828D-B6FA17CC2D08}" destId="{AB4953EB-4C49-460D-8B43-74C1BEB2013A}" srcOrd="0" destOrd="0" presId="urn:microsoft.com/office/officeart/2005/8/layout/process5"/>
    <dgm:cxn modelId="{D6A81A7C-4353-4ACB-A379-8019C4F8FCC7}" type="presParOf" srcId="{070A89D1-93E1-4BED-B6A9-2F675719921B}" destId="{C86C1659-2889-4E83-996E-0AB73F004EE2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2BDEC26-FCD7-4BBB-9EB6-CDE5AF463E6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0A45AA8-6668-44C0-BF85-2BE825388AB2}">
      <dgm:prSet/>
      <dgm:spPr/>
      <dgm:t>
        <a:bodyPr/>
        <a:lstStyle/>
        <a:p>
          <a:r>
            <a:rPr lang="en-US"/>
            <a:t>DSSE-KMS is an enhanced version of SSE-KMS, introduced by AWS for extra security and compliance.</a:t>
          </a:r>
          <a:br>
            <a:rPr lang="en-US"/>
          </a:br>
          <a:r>
            <a:rPr lang="en-US"/>
            <a:t>It encrypts every object twice using two separate AWS KMS keys providing a dual layer of encryption.</a:t>
          </a:r>
        </a:p>
      </dgm:t>
    </dgm:pt>
    <dgm:pt modelId="{79737D3D-61DA-4342-88D4-14CE714C58E7}" type="parTrans" cxnId="{FF00B9F1-20E8-4738-A9C8-A495F8E680D3}">
      <dgm:prSet/>
      <dgm:spPr/>
      <dgm:t>
        <a:bodyPr/>
        <a:lstStyle/>
        <a:p>
          <a:endParaRPr lang="en-US"/>
        </a:p>
      </dgm:t>
    </dgm:pt>
    <dgm:pt modelId="{1352700D-5738-47CF-AF2E-C42276CAD0F9}" type="sibTrans" cxnId="{FF00B9F1-20E8-4738-A9C8-A495F8E680D3}">
      <dgm:prSet/>
      <dgm:spPr/>
      <dgm:t>
        <a:bodyPr/>
        <a:lstStyle/>
        <a:p>
          <a:endParaRPr lang="en-US"/>
        </a:p>
      </dgm:t>
    </dgm:pt>
    <dgm:pt modelId="{400F236C-5013-4F77-87F0-0411F434A32F}">
      <dgm:prSet/>
      <dgm:spPr/>
      <dgm:t>
        <a:bodyPr/>
        <a:lstStyle/>
        <a:p>
          <a:r>
            <a:rPr lang="en-US"/>
            <a:t>Your data is encrypted once, then encrypted again both using independent KMS keys.</a:t>
          </a:r>
        </a:p>
      </dgm:t>
    </dgm:pt>
    <dgm:pt modelId="{FE057186-0D34-4962-BB42-FB3BA56D5335}" type="parTrans" cxnId="{629A8D03-6114-4D1D-968F-FB0C73066533}">
      <dgm:prSet/>
      <dgm:spPr/>
      <dgm:t>
        <a:bodyPr/>
        <a:lstStyle/>
        <a:p>
          <a:endParaRPr lang="en-US"/>
        </a:p>
      </dgm:t>
    </dgm:pt>
    <dgm:pt modelId="{DD7F31AD-C77E-4017-87F9-A9F6AE01D966}" type="sibTrans" cxnId="{629A8D03-6114-4D1D-968F-FB0C73066533}">
      <dgm:prSet/>
      <dgm:spPr/>
      <dgm:t>
        <a:bodyPr/>
        <a:lstStyle/>
        <a:p>
          <a:endParaRPr lang="en-US"/>
        </a:p>
      </dgm:t>
    </dgm:pt>
    <dgm:pt modelId="{5F3F1E06-1D2C-4C73-9AE4-054B729615D2}" type="pres">
      <dgm:prSet presAssocID="{92BDEC26-FCD7-4BBB-9EB6-CDE5AF463E6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72EEE3B-E0E1-41B1-92EA-3CBE15B920A6}" type="pres">
      <dgm:prSet presAssocID="{70A45AA8-6668-44C0-BF85-2BE825388AB2}" presName="hierRoot1" presStyleCnt="0"/>
      <dgm:spPr/>
    </dgm:pt>
    <dgm:pt modelId="{A2E460A9-98E1-4FF2-9817-D17DC6D92995}" type="pres">
      <dgm:prSet presAssocID="{70A45AA8-6668-44C0-BF85-2BE825388AB2}" presName="composite" presStyleCnt="0"/>
      <dgm:spPr/>
    </dgm:pt>
    <dgm:pt modelId="{9646AFEB-ED0B-41FE-9EC5-758F0B7D353D}" type="pres">
      <dgm:prSet presAssocID="{70A45AA8-6668-44C0-BF85-2BE825388AB2}" presName="background" presStyleLbl="node0" presStyleIdx="0" presStyleCnt="2"/>
      <dgm:spPr/>
    </dgm:pt>
    <dgm:pt modelId="{454F4FB1-D5BA-468E-BD8B-FCBEDEF6FCE8}" type="pres">
      <dgm:prSet presAssocID="{70A45AA8-6668-44C0-BF85-2BE825388AB2}" presName="text" presStyleLbl="fgAcc0" presStyleIdx="0" presStyleCnt="2">
        <dgm:presLayoutVars>
          <dgm:chPref val="3"/>
        </dgm:presLayoutVars>
      </dgm:prSet>
      <dgm:spPr/>
    </dgm:pt>
    <dgm:pt modelId="{3182FA18-6E9D-4855-ABD1-ABEEA9158128}" type="pres">
      <dgm:prSet presAssocID="{70A45AA8-6668-44C0-BF85-2BE825388AB2}" presName="hierChild2" presStyleCnt="0"/>
      <dgm:spPr/>
    </dgm:pt>
    <dgm:pt modelId="{B82BF43D-DAB7-4BF6-BE44-556A0DD2FA78}" type="pres">
      <dgm:prSet presAssocID="{400F236C-5013-4F77-87F0-0411F434A32F}" presName="hierRoot1" presStyleCnt="0"/>
      <dgm:spPr/>
    </dgm:pt>
    <dgm:pt modelId="{498123AE-CA2B-453A-96E1-4904EE115170}" type="pres">
      <dgm:prSet presAssocID="{400F236C-5013-4F77-87F0-0411F434A32F}" presName="composite" presStyleCnt="0"/>
      <dgm:spPr/>
    </dgm:pt>
    <dgm:pt modelId="{E2C08D01-4275-4F5D-9059-F39FB60008FE}" type="pres">
      <dgm:prSet presAssocID="{400F236C-5013-4F77-87F0-0411F434A32F}" presName="background" presStyleLbl="node0" presStyleIdx="1" presStyleCnt="2"/>
      <dgm:spPr/>
    </dgm:pt>
    <dgm:pt modelId="{B2CCFF72-E66B-4167-8463-BF7C927ED5CA}" type="pres">
      <dgm:prSet presAssocID="{400F236C-5013-4F77-87F0-0411F434A32F}" presName="text" presStyleLbl="fgAcc0" presStyleIdx="1" presStyleCnt="2">
        <dgm:presLayoutVars>
          <dgm:chPref val="3"/>
        </dgm:presLayoutVars>
      </dgm:prSet>
      <dgm:spPr/>
    </dgm:pt>
    <dgm:pt modelId="{2D05F69C-5C45-4189-B603-931BFBA7CABD}" type="pres">
      <dgm:prSet presAssocID="{400F236C-5013-4F77-87F0-0411F434A32F}" presName="hierChild2" presStyleCnt="0"/>
      <dgm:spPr/>
    </dgm:pt>
  </dgm:ptLst>
  <dgm:cxnLst>
    <dgm:cxn modelId="{629A8D03-6114-4D1D-968F-FB0C73066533}" srcId="{92BDEC26-FCD7-4BBB-9EB6-CDE5AF463E65}" destId="{400F236C-5013-4F77-87F0-0411F434A32F}" srcOrd="1" destOrd="0" parTransId="{FE057186-0D34-4962-BB42-FB3BA56D5335}" sibTransId="{DD7F31AD-C77E-4017-87F9-A9F6AE01D966}"/>
    <dgm:cxn modelId="{66D4BE32-DC0B-4A5D-8037-395CF36AE8A5}" type="presOf" srcId="{92BDEC26-FCD7-4BBB-9EB6-CDE5AF463E65}" destId="{5F3F1E06-1D2C-4C73-9AE4-054B729615D2}" srcOrd="0" destOrd="0" presId="urn:microsoft.com/office/officeart/2005/8/layout/hierarchy1"/>
    <dgm:cxn modelId="{494FDC97-C9B3-43EF-949F-62035A4A90C2}" type="presOf" srcId="{400F236C-5013-4F77-87F0-0411F434A32F}" destId="{B2CCFF72-E66B-4167-8463-BF7C927ED5CA}" srcOrd="0" destOrd="0" presId="urn:microsoft.com/office/officeart/2005/8/layout/hierarchy1"/>
    <dgm:cxn modelId="{BCB760B8-BF59-4C17-AB96-F6A3411CD669}" type="presOf" srcId="{70A45AA8-6668-44C0-BF85-2BE825388AB2}" destId="{454F4FB1-D5BA-468E-BD8B-FCBEDEF6FCE8}" srcOrd="0" destOrd="0" presId="urn:microsoft.com/office/officeart/2005/8/layout/hierarchy1"/>
    <dgm:cxn modelId="{FF00B9F1-20E8-4738-A9C8-A495F8E680D3}" srcId="{92BDEC26-FCD7-4BBB-9EB6-CDE5AF463E65}" destId="{70A45AA8-6668-44C0-BF85-2BE825388AB2}" srcOrd="0" destOrd="0" parTransId="{79737D3D-61DA-4342-88D4-14CE714C58E7}" sibTransId="{1352700D-5738-47CF-AF2E-C42276CAD0F9}"/>
    <dgm:cxn modelId="{33C37DD7-BC11-468B-B8BA-57D3EA785D24}" type="presParOf" srcId="{5F3F1E06-1D2C-4C73-9AE4-054B729615D2}" destId="{F72EEE3B-E0E1-41B1-92EA-3CBE15B920A6}" srcOrd="0" destOrd="0" presId="urn:microsoft.com/office/officeart/2005/8/layout/hierarchy1"/>
    <dgm:cxn modelId="{91D29514-9EB4-462B-94D5-31431380C57E}" type="presParOf" srcId="{F72EEE3B-E0E1-41B1-92EA-3CBE15B920A6}" destId="{A2E460A9-98E1-4FF2-9817-D17DC6D92995}" srcOrd="0" destOrd="0" presId="urn:microsoft.com/office/officeart/2005/8/layout/hierarchy1"/>
    <dgm:cxn modelId="{D668B82A-C413-46D9-BF15-B82B5D809435}" type="presParOf" srcId="{A2E460A9-98E1-4FF2-9817-D17DC6D92995}" destId="{9646AFEB-ED0B-41FE-9EC5-758F0B7D353D}" srcOrd="0" destOrd="0" presId="urn:microsoft.com/office/officeart/2005/8/layout/hierarchy1"/>
    <dgm:cxn modelId="{D46A2121-BC0A-4163-82B4-9157862A061F}" type="presParOf" srcId="{A2E460A9-98E1-4FF2-9817-D17DC6D92995}" destId="{454F4FB1-D5BA-468E-BD8B-FCBEDEF6FCE8}" srcOrd="1" destOrd="0" presId="urn:microsoft.com/office/officeart/2005/8/layout/hierarchy1"/>
    <dgm:cxn modelId="{F7CFB39D-3E4E-4767-9D74-05471AA26176}" type="presParOf" srcId="{F72EEE3B-E0E1-41B1-92EA-3CBE15B920A6}" destId="{3182FA18-6E9D-4855-ABD1-ABEEA9158128}" srcOrd="1" destOrd="0" presId="urn:microsoft.com/office/officeart/2005/8/layout/hierarchy1"/>
    <dgm:cxn modelId="{D33375E0-D321-437C-A71E-DE8ECDC9A175}" type="presParOf" srcId="{5F3F1E06-1D2C-4C73-9AE4-054B729615D2}" destId="{B82BF43D-DAB7-4BF6-BE44-556A0DD2FA78}" srcOrd="1" destOrd="0" presId="urn:microsoft.com/office/officeart/2005/8/layout/hierarchy1"/>
    <dgm:cxn modelId="{5883374F-BF81-4493-9426-9B5BBC0F339A}" type="presParOf" srcId="{B82BF43D-DAB7-4BF6-BE44-556A0DD2FA78}" destId="{498123AE-CA2B-453A-96E1-4904EE115170}" srcOrd="0" destOrd="0" presId="urn:microsoft.com/office/officeart/2005/8/layout/hierarchy1"/>
    <dgm:cxn modelId="{9CFCA82C-A2AE-4EEC-9539-381997E081D3}" type="presParOf" srcId="{498123AE-CA2B-453A-96E1-4904EE115170}" destId="{E2C08D01-4275-4F5D-9059-F39FB60008FE}" srcOrd="0" destOrd="0" presId="urn:microsoft.com/office/officeart/2005/8/layout/hierarchy1"/>
    <dgm:cxn modelId="{ED5C15E3-8ADC-4F94-80CF-7BDD9E08BD0A}" type="presParOf" srcId="{498123AE-CA2B-453A-96E1-4904EE115170}" destId="{B2CCFF72-E66B-4167-8463-BF7C927ED5CA}" srcOrd="1" destOrd="0" presId="urn:microsoft.com/office/officeart/2005/8/layout/hierarchy1"/>
    <dgm:cxn modelId="{552B90AB-FFA0-4C6F-9AFC-06A5A3B9E848}" type="presParOf" srcId="{B82BF43D-DAB7-4BF6-BE44-556A0DD2FA78}" destId="{2D05F69C-5C45-4189-B603-931BFBA7CAB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8F029CE-D8B7-41EF-9C82-A5882C62FFB8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F6A84E7-8FDE-434F-9F23-620989E95365}">
      <dgm:prSet/>
      <dgm:spPr/>
      <dgm:t>
        <a:bodyPr/>
        <a:lstStyle/>
        <a:p>
          <a:r>
            <a:rPr lang="en-US" b="1"/>
            <a:t>Maximum Security: </a:t>
          </a:r>
          <a:r>
            <a:rPr lang="en-US"/>
            <a:t>Two independent KMS keys protect the same data.</a:t>
          </a:r>
        </a:p>
      </dgm:t>
    </dgm:pt>
    <dgm:pt modelId="{42F33530-B3BC-4FBA-BE20-BE8457E1DC79}" type="parTrans" cxnId="{DD40FBB3-4B7A-4D3A-BE5E-D33444D6A96F}">
      <dgm:prSet/>
      <dgm:spPr/>
      <dgm:t>
        <a:bodyPr/>
        <a:lstStyle/>
        <a:p>
          <a:endParaRPr lang="en-US"/>
        </a:p>
      </dgm:t>
    </dgm:pt>
    <dgm:pt modelId="{60FE3B00-23D1-46C5-BE8D-E327993C20DA}" type="sibTrans" cxnId="{DD40FBB3-4B7A-4D3A-BE5E-D33444D6A96F}">
      <dgm:prSet/>
      <dgm:spPr/>
      <dgm:t>
        <a:bodyPr/>
        <a:lstStyle/>
        <a:p>
          <a:endParaRPr lang="en-US"/>
        </a:p>
      </dgm:t>
    </dgm:pt>
    <dgm:pt modelId="{68FBB581-3943-4DAE-9E1B-AFB54EB9583E}">
      <dgm:prSet/>
      <dgm:spPr/>
      <dgm:t>
        <a:bodyPr/>
        <a:lstStyle/>
        <a:p>
          <a:r>
            <a:rPr lang="en-US" b="1"/>
            <a:t>Compliance-Ready: </a:t>
          </a:r>
          <a:r>
            <a:rPr lang="en-US"/>
            <a:t>Designed for industries with strict security rules (finance, defense, healthcare).</a:t>
          </a:r>
        </a:p>
      </dgm:t>
    </dgm:pt>
    <dgm:pt modelId="{52D0A8F2-5BEC-4534-B4DF-66FBF1C2D672}" type="parTrans" cxnId="{95CAC031-6AF3-4990-8144-0A0EF7EEE285}">
      <dgm:prSet/>
      <dgm:spPr/>
      <dgm:t>
        <a:bodyPr/>
        <a:lstStyle/>
        <a:p>
          <a:endParaRPr lang="en-US"/>
        </a:p>
      </dgm:t>
    </dgm:pt>
    <dgm:pt modelId="{3E74BA8A-C95D-4188-B55E-EF016FA12BCA}" type="sibTrans" cxnId="{95CAC031-6AF3-4990-8144-0A0EF7EEE285}">
      <dgm:prSet/>
      <dgm:spPr/>
      <dgm:t>
        <a:bodyPr/>
        <a:lstStyle/>
        <a:p>
          <a:endParaRPr lang="en-US"/>
        </a:p>
      </dgm:t>
    </dgm:pt>
    <dgm:pt modelId="{601B1E42-78B9-4FEC-8CD0-3CA50C8B7154}">
      <dgm:prSet/>
      <dgm:spPr/>
      <dgm:t>
        <a:bodyPr/>
        <a:lstStyle/>
        <a:p>
          <a:r>
            <a:rPr lang="en-US" b="1"/>
            <a:t>Fully Managed: </a:t>
          </a:r>
          <a:r>
            <a:rPr lang="en-US"/>
            <a:t>AWS automatically handles both encryption layers.</a:t>
          </a:r>
        </a:p>
      </dgm:t>
    </dgm:pt>
    <dgm:pt modelId="{7565F1A1-F1BC-4DE4-958A-6D89CC59D1FC}" type="parTrans" cxnId="{F4253F3B-4389-4376-B8E5-EEA7C30E8083}">
      <dgm:prSet/>
      <dgm:spPr/>
      <dgm:t>
        <a:bodyPr/>
        <a:lstStyle/>
        <a:p>
          <a:endParaRPr lang="en-US"/>
        </a:p>
      </dgm:t>
    </dgm:pt>
    <dgm:pt modelId="{3A4C2979-3317-46EF-B674-6C7DD6602166}" type="sibTrans" cxnId="{F4253F3B-4389-4376-B8E5-EEA7C30E8083}">
      <dgm:prSet/>
      <dgm:spPr/>
      <dgm:t>
        <a:bodyPr/>
        <a:lstStyle/>
        <a:p>
          <a:endParaRPr lang="en-US"/>
        </a:p>
      </dgm:t>
    </dgm:pt>
    <dgm:pt modelId="{14ADFE03-40A5-4C72-AE20-89CA813DD920}">
      <dgm:prSet/>
      <dgm:spPr/>
      <dgm:t>
        <a:bodyPr/>
        <a:lstStyle/>
        <a:p>
          <a:r>
            <a:rPr lang="en-US" b="1"/>
            <a:t>Transparent Access: </a:t>
          </a:r>
          <a:r>
            <a:rPr lang="en-US"/>
            <a:t>S3 automatically decrypts both layers when authorized users download data.</a:t>
          </a:r>
          <a:br>
            <a:rPr lang="en-US"/>
          </a:br>
          <a:endParaRPr lang="en-US"/>
        </a:p>
      </dgm:t>
    </dgm:pt>
    <dgm:pt modelId="{FD9D4FED-AF35-4E71-88F3-CC423C13332F}" type="parTrans" cxnId="{64719DAE-006D-44F7-B889-F20D26E8972F}">
      <dgm:prSet/>
      <dgm:spPr/>
      <dgm:t>
        <a:bodyPr/>
        <a:lstStyle/>
        <a:p>
          <a:endParaRPr lang="en-US"/>
        </a:p>
      </dgm:t>
    </dgm:pt>
    <dgm:pt modelId="{BC043116-953D-469C-B814-74F5A93948D1}" type="sibTrans" cxnId="{64719DAE-006D-44F7-B889-F20D26E8972F}">
      <dgm:prSet/>
      <dgm:spPr/>
      <dgm:t>
        <a:bodyPr/>
        <a:lstStyle/>
        <a:p>
          <a:endParaRPr lang="en-US"/>
        </a:p>
      </dgm:t>
    </dgm:pt>
    <dgm:pt modelId="{1ED184E9-F5DC-4BFB-B1FD-836A23436527}">
      <dgm:prSet/>
      <dgm:spPr/>
      <dgm:t>
        <a:bodyPr/>
        <a:lstStyle/>
        <a:p>
          <a:r>
            <a:rPr lang="en-US" b="1"/>
            <a:t>Disadvantages</a:t>
          </a:r>
          <a:endParaRPr lang="en-US"/>
        </a:p>
      </dgm:t>
    </dgm:pt>
    <dgm:pt modelId="{DAE2533F-AB25-4133-9279-9FD93BAD5108}" type="parTrans" cxnId="{80ED0455-50EC-4F22-A9A9-6CB5372F2A35}">
      <dgm:prSet/>
      <dgm:spPr/>
      <dgm:t>
        <a:bodyPr/>
        <a:lstStyle/>
        <a:p>
          <a:endParaRPr lang="en-US"/>
        </a:p>
      </dgm:t>
    </dgm:pt>
    <dgm:pt modelId="{C21EC72A-4C4B-446B-B457-AF125EE023D5}" type="sibTrans" cxnId="{80ED0455-50EC-4F22-A9A9-6CB5372F2A35}">
      <dgm:prSet/>
      <dgm:spPr/>
      <dgm:t>
        <a:bodyPr/>
        <a:lstStyle/>
        <a:p>
          <a:endParaRPr lang="en-US"/>
        </a:p>
      </dgm:t>
    </dgm:pt>
    <dgm:pt modelId="{0E9F5E26-7A57-457F-9917-48B5753FC9EF}">
      <dgm:prSet/>
      <dgm:spPr/>
      <dgm:t>
        <a:bodyPr/>
        <a:lstStyle/>
        <a:p>
          <a:r>
            <a:rPr lang="en-US" b="1"/>
            <a:t>Slightly higher cost</a:t>
          </a:r>
          <a:r>
            <a:rPr lang="en-US"/>
            <a:t> : Since it makes two KMS API calls per operation.</a:t>
          </a:r>
        </a:p>
      </dgm:t>
    </dgm:pt>
    <dgm:pt modelId="{C520B08E-A65A-4A4E-912F-32A694D69442}" type="parTrans" cxnId="{B763525A-2E55-4206-818E-8F5591F313C2}">
      <dgm:prSet/>
      <dgm:spPr/>
      <dgm:t>
        <a:bodyPr/>
        <a:lstStyle/>
        <a:p>
          <a:endParaRPr lang="en-US"/>
        </a:p>
      </dgm:t>
    </dgm:pt>
    <dgm:pt modelId="{ABA2A16F-3BC1-4DD7-B30F-597BCA142892}" type="sibTrans" cxnId="{B763525A-2E55-4206-818E-8F5591F313C2}">
      <dgm:prSet/>
      <dgm:spPr/>
      <dgm:t>
        <a:bodyPr/>
        <a:lstStyle/>
        <a:p>
          <a:endParaRPr lang="en-US"/>
        </a:p>
      </dgm:t>
    </dgm:pt>
    <dgm:pt modelId="{6FFE13FF-D5DC-4AF0-A9C0-83CC9BC86B8C}">
      <dgm:prSet/>
      <dgm:spPr/>
      <dgm:t>
        <a:bodyPr/>
        <a:lstStyle/>
        <a:p>
          <a:r>
            <a:rPr lang="en-US" b="1"/>
            <a:t>More complex IAM policies: </a:t>
          </a:r>
          <a:r>
            <a:rPr lang="en-US"/>
            <a:t>Users need access to both KMS keys.</a:t>
          </a:r>
        </a:p>
      </dgm:t>
    </dgm:pt>
    <dgm:pt modelId="{AC0AA84F-8B6D-45EA-9399-CA93FF75F970}" type="parTrans" cxnId="{EDD89446-1745-428D-A610-95B3AC1054C3}">
      <dgm:prSet/>
      <dgm:spPr/>
      <dgm:t>
        <a:bodyPr/>
        <a:lstStyle/>
        <a:p>
          <a:endParaRPr lang="en-US"/>
        </a:p>
      </dgm:t>
    </dgm:pt>
    <dgm:pt modelId="{B7712AF7-3E72-4F32-949D-8B740035D798}" type="sibTrans" cxnId="{EDD89446-1745-428D-A610-95B3AC1054C3}">
      <dgm:prSet/>
      <dgm:spPr/>
      <dgm:t>
        <a:bodyPr/>
        <a:lstStyle/>
        <a:p>
          <a:endParaRPr lang="en-US"/>
        </a:p>
      </dgm:t>
    </dgm:pt>
    <dgm:pt modelId="{E9F2045B-ACEB-457A-9D87-5FED04986C08}">
      <dgm:prSet/>
      <dgm:spPr/>
      <dgm:t>
        <a:bodyPr/>
        <a:lstStyle/>
        <a:p>
          <a:r>
            <a:rPr lang="en-US" b="1"/>
            <a:t>Performance overhead: </a:t>
          </a:r>
          <a:r>
            <a:rPr lang="en-US"/>
            <a:t>Minimal delay due to double encryption/decryption.</a:t>
          </a:r>
        </a:p>
      </dgm:t>
    </dgm:pt>
    <dgm:pt modelId="{F99E33A6-BA9A-48FD-9AD8-9184627BF2DF}" type="parTrans" cxnId="{88750B87-C093-4615-AE70-2B0DF95114BC}">
      <dgm:prSet/>
      <dgm:spPr/>
      <dgm:t>
        <a:bodyPr/>
        <a:lstStyle/>
        <a:p>
          <a:endParaRPr lang="en-US"/>
        </a:p>
      </dgm:t>
    </dgm:pt>
    <dgm:pt modelId="{A1814D33-6111-445A-A714-4A1AAD37C5DA}" type="sibTrans" cxnId="{88750B87-C093-4615-AE70-2B0DF95114BC}">
      <dgm:prSet/>
      <dgm:spPr/>
      <dgm:t>
        <a:bodyPr/>
        <a:lstStyle/>
        <a:p>
          <a:endParaRPr lang="en-US"/>
        </a:p>
      </dgm:t>
    </dgm:pt>
    <dgm:pt modelId="{E7A500D7-A2EB-4638-ABE7-A1A888D8EA84}" type="pres">
      <dgm:prSet presAssocID="{58F029CE-D8B7-41EF-9C82-A5882C62FFB8}" presName="diagram" presStyleCnt="0">
        <dgm:presLayoutVars>
          <dgm:dir/>
          <dgm:resizeHandles val="exact"/>
        </dgm:presLayoutVars>
      </dgm:prSet>
      <dgm:spPr/>
    </dgm:pt>
    <dgm:pt modelId="{0E004C9E-58A1-4CB2-8E41-80C80D0561B7}" type="pres">
      <dgm:prSet presAssocID="{0F6A84E7-8FDE-434F-9F23-620989E95365}" presName="node" presStyleLbl="node1" presStyleIdx="0" presStyleCnt="8">
        <dgm:presLayoutVars>
          <dgm:bulletEnabled val="1"/>
        </dgm:presLayoutVars>
      </dgm:prSet>
      <dgm:spPr/>
    </dgm:pt>
    <dgm:pt modelId="{2267F00F-BC61-4638-A074-C3B709D85E51}" type="pres">
      <dgm:prSet presAssocID="{60FE3B00-23D1-46C5-BE8D-E327993C20DA}" presName="sibTrans" presStyleCnt="0"/>
      <dgm:spPr/>
    </dgm:pt>
    <dgm:pt modelId="{FC085FFC-229A-4C02-B26E-5597128961D6}" type="pres">
      <dgm:prSet presAssocID="{68FBB581-3943-4DAE-9E1B-AFB54EB9583E}" presName="node" presStyleLbl="node1" presStyleIdx="1" presStyleCnt="8">
        <dgm:presLayoutVars>
          <dgm:bulletEnabled val="1"/>
        </dgm:presLayoutVars>
      </dgm:prSet>
      <dgm:spPr/>
    </dgm:pt>
    <dgm:pt modelId="{12357EE0-CDD5-4D4F-88CD-31B7148DE039}" type="pres">
      <dgm:prSet presAssocID="{3E74BA8A-C95D-4188-B55E-EF016FA12BCA}" presName="sibTrans" presStyleCnt="0"/>
      <dgm:spPr/>
    </dgm:pt>
    <dgm:pt modelId="{4B589CBA-F36A-48E9-BFE5-62AD833352F3}" type="pres">
      <dgm:prSet presAssocID="{601B1E42-78B9-4FEC-8CD0-3CA50C8B7154}" presName="node" presStyleLbl="node1" presStyleIdx="2" presStyleCnt="8">
        <dgm:presLayoutVars>
          <dgm:bulletEnabled val="1"/>
        </dgm:presLayoutVars>
      </dgm:prSet>
      <dgm:spPr/>
    </dgm:pt>
    <dgm:pt modelId="{A91A1199-C951-416E-8CC2-54D96067B7F2}" type="pres">
      <dgm:prSet presAssocID="{3A4C2979-3317-46EF-B674-6C7DD6602166}" presName="sibTrans" presStyleCnt="0"/>
      <dgm:spPr/>
    </dgm:pt>
    <dgm:pt modelId="{8B55566B-B5CA-49B0-A0F8-95D7E39F327B}" type="pres">
      <dgm:prSet presAssocID="{14ADFE03-40A5-4C72-AE20-89CA813DD920}" presName="node" presStyleLbl="node1" presStyleIdx="3" presStyleCnt="8">
        <dgm:presLayoutVars>
          <dgm:bulletEnabled val="1"/>
        </dgm:presLayoutVars>
      </dgm:prSet>
      <dgm:spPr/>
    </dgm:pt>
    <dgm:pt modelId="{0C4E344C-800C-45DB-B381-3CDE9E7E1587}" type="pres">
      <dgm:prSet presAssocID="{BC043116-953D-469C-B814-74F5A93948D1}" presName="sibTrans" presStyleCnt="0"/>
      <dgm:spPr/>
    </dgm:pt>
    <dgm:pt modelId="{DD2AE90F-DF00-4DF1-BECF-1F4BBFB6EA3B}" type="pres">
      <dgm:prSet presAssocID="{1ED184E9-F5DC-4BFB-B1FD-836A23436527}" presName="node" presStyleLbl="node1" presStyleIdx="4" presStyleCnt="8">
        <dgm:presLayoutVars>
          <dgm:bulletEnabled val="1"/>
        </dgm:presLayoutVars>
      </dgm:prSet>
      <dgm:spPr/>
    </dgm:pt>
    <dgm:pt modelId="{81135130-D5E5-46A6-9B00-664FD292DA07}" type="pres">
      <dgm:prSet presAssocID="{C21EC72A-4C4B-446B-B457-AF125EE023D5}" presName="sibTrans" presStyleCnt="0"/>
      <dgm:spPr/>
    </dgm:pt>
    <dgm:pt modelId="{5A0C56DD-D8FA-4873-AC0F-ACAA755D0889}" type="pres">
      <dgm:prSet presAssocID="{0E9F5E26-7A57-457F-9917-48B5753FC9EF}" presName="node" presStyleLbl="node1" presStyleIdx="5" presStyleCnt="8">
        <dgm:presLayoutVars>
          <dgm:bulletEnabled val="1"/>
        </dgm:presLayoutVars>
      </dgm:prSet>
      <dgm:spPr/>
    </dgm:pt>
    <dgm:pt modelId="{ADDE83E0-3A71-43C0-8A84-B3146A323C6F}" type="pres">
      <dgm:prSet presAssocID="{ABA2A16F-3BC1-4DD7-B30F-597BCA142892}" presName="sibTrans" presStyleCnt="0"/>
      <dgm:spPr/>
    </dgm:pt>
    <dgm:pt modelId="{95136AD1-C44A-4E2C-AEE0-7550AE69BFF2}" type="pres">
      <dgm:prSet presAssocID="{6FFE13FF-D5DC-4AF0-A9C0-83CC9BC86B8C}" presName="node" presStyleLbl="node1" presStyleIdx="6" presStyleCnt="8">
        <dgm:presLayoutVars>
          <dgm:bulletEnabled val="1"/>
        </dgm:presLayoutVars>
      </dgm:prSet>
      <dgm:spPr/>
    </dgm:pt>
    <dgm:pt modelId="{829D4610-61B9-48FC-9C42-DC9ED34E8594}" type="pres">
      <dgm:prSet presAssocID="{B7712AF7-3E72-4F32-949D-8B740035D798}" presName="sibTrans" presStyleCnt="0"/>
      <dgm:spPr/>
    </dgm:pt>
    <dgm:pt modelId="{8DCE23DE-29E7-44A1-9B9D-91DD38EA5FB7}" type="pres">
      <dgm:prSet presAssocID="{E9F2045B-ACEB-457A-9D87-5FED04986C08}" presName="node" presStyleLbl="node1" presStyleIdx="7" presStyleCnt="8">
        <dgm:presLayoutVars>
          <dgm:bulletEnabled val="1"/>
        </dgm:presLayoutVars>
      </dgm:prSet>
      <dgm:spPr/>
    </dgm:pt>
  </dgm:ptLst>
  <dgm:cxnLst>
    <dgm:cxn modelId="{A9F1D906-E868-49E8-8B03-C507014F8F37}" type="presOf" srcId="{0E9F5E26-7A57-457F-9917-48B5753FC9EF}" destId="{5A0C56DD-D8FA-4873-AC0F-ACAA755D0889}" srcOrd="0" destOrd="0" presId="urn:microsoft.com/office/officeart/2005/8/layout/default"/>
    <dgm:cxn modelId="{30C09030-3A8C-4755-BFED-882B5C6A1672}" type="presOf" srcId="{14ADFE03-40A5-4C72-AE20-89CA813DD920}" destId="{8B55566B-B5CA-49B0-A0F8-95D7E39F327B}" srcOrd="0" destOrd="0" presId="urn:microsoft.com/office/officeart/2005/8/layout/default"/>
    <dgm:cxn modelId="{95CAC031-6AF3-4990-8144-0A0EF7EEE285}" srcId="{58F029CE-D8B7-41EF-9C82-A5882C62FFB8}" destId="{68FBB581-3943-4DAE-9E1B-AFB54EB9583E}" srcOrd="1" destOrd="0" parTransId="{52D0A8F2-5BEC-4534-B4DF-66FBF1C2D672}" sibTransId="{3E74BA8A-C95D-4188-B55E-EF016FA12BCA}"/>
    <dgm:cxn modelId="{F4253F3B-4389-4376-B8E5-EEA7C30E8083}" srcId="{58F029CE-D8B7-41EF-9C82-A5882C62FFB8}" destId="{601B1E42-78B9-4FEC-8CD0-3CA50C8B7154}" srcOrd="2" destOrd="0" parTransId="{7565F1A1-F1BC-4DE4-958A-6D89CC59D1FC}" sibTransId="{3A4C2979-3317-46EF-B674-6C7DD6602166}"/>
    <dgm:cxn modelId="{EDD89446-1745-428D-A610-95B3AC1054C3}" srcId="{58F029CE-D8B7-41EF-9C82-A5882C62FFB8}" destId="{6FFE13FF-D5DC-4AF0-A9C0-83CC9BC86B8C}" srcOrd="6" destOrd="0" parTransId="{AC0AA84F-8B6D-45EA-9399-CA93FF75F970}" sibTransId="{B7712AF7-3E72-4F32-949D-8B740035D798}"/>
    <dgm:cxn modelId="{0969DC70-6EEE-40C8-9DE6-93DE248C0DD4}" type="presOf" srcId="{68FBB581-3943-4DAE-9E1B-AFB54EB9583E}" destId="{FC085FFC-229A-4C02-B26E-5597128961D6}" srcOrd="0" destOrd="0" presId="urn:microsoft.com/office/officeart/2005/8/layout/default"/>
    <dgm:cxn modelId="{80ED0455-50EC-4F22-A9A9-6CB5372F2A35}" srcId="{58F029CE-D8B7-41EF-9C82-A5882C62FFB8}" destId="{1ED184E9-F5DC-4BFB-B1FD-836A23436527}" srcOrd="4" destOrd="0" parTransId="{DAE2533F-AB25-4133-9279-9FD93BAD5108}" sibTransId="{C21EC72A-4C4B-446B-B457-AF125EE023D5}"/>
    <dgm:cxn modelId="{B763525A-2E55-4206-818E-8F5591F313C2}" srcId="{58F029CE-D8B7-41EF-9C82-A5882C62FFB8}" destId="{0E9F5E26-7A57-457F-9917-48B5753FC9EF}" srcOrd="5" destOrd="0" parTransId="{C520B08E-A65A-4A4E-912F-32A694D69442}" sibTransId="{ABA2A16F-3BC1-4DD7-B30F-597BCA142892}"/>
    <dgm:cxn modelId="{3AED5086-7AB3-424E-B9E9-5DEA8A23B7CA}" type="presOf" srcId="{601B1E42-78B9-4FEC-8CD0-3CA50C8B7154}" destId="{4B589CBA-F36A-48E9-BFE5-62AD833352F3}" srcOrd="0" destOrd="0" presId="urn:microsoft.com/office/officeart/2005/8/layout/default"/>
    <dgm:cxn modelId="{88750B87-C093-4615-AE70-2B0DF95114BC}" srcId="{58F029CE-D8B7-41EF-9C82-A5882C62FFB8}" destId="{E9F2045B-ACEB-457A-9D87-5FED04986C08}" srcOrd="7" destOrd="0" parTransId="{F99E33A6-BA9A-48FD-9AD8-9184627BF2DF}" sibTransId="{A1814D33-6111-445A-A714-4A1AAD37C5DA}"/>
    <dgm:cxn modelId="{46A16FA5-4667-4BB9-86C7-5B060A2CD850}" type="presOf" srcId="{E9F2045B-ACEB-457A-9D87-5FED04986C08}" destId="{8DCE23DE-29E7-44A1-9B9D-91DD38EA5FB7}" srcOrd="0" destOrd="0" presId="urn:microsoft.com/office/officeart/2005/8/layout/default"/>
    <dgm:cxn modelId="{64719DAE-006D-44F7-B889-F20D26E8972F}" srcId="{58F029CE-D8B7-41EF-9C82-A5882C62FFB8}" destId="{14ADFE03-40A5-4C72-AE20-89CA813DD920}" srcOrd="3" destOrd="0" parTransId="{FD9D4FED-AF35-4E71-88F3-CC423C13332F}" sibTransId="{BC043116-953D-469C-B814-74F5A93948D1}"/>
    <dgm:cxn modelId="{DD40FBB3-4B7A-4D3A-BE5E-D33444D6A96F}" srcId="{58F029CE-D8B7-41EF-9C82-A5882C62FFB8}" destId="{0F6A84E7-8FDE-434F-9F23-620989E95365}" srcOrd="0" destOrd="0" parTransId="{42F33530-B3BC-4FBA-BE20-BE8457E1DC79}" sibTransId="{60FE3B00-23D1-46C5-BE8D-E327993C20DA}"/>
    <dgm:cxn modelId="{C9CC17B6-E7E0-4EFC-9F3C-B145F7120F59}" type="presOf" srcId="{6FFE13FF-D5DC-4AF0-A9C0-83CC9BC86B8C}" destId="{95136AD1-C44A-4E2C-AEE0-7550AE69BFF2}" srcOrd="0" destOrd="0" presId="urn:microsoft.com/office/officeart/2005/8/layout/default"/>
    <dgm:cxn modelId="{FC30CFCF-4C3A-4408-A4A8-4F6C2F332A9A}" type="presOf" srcId="{58F029CE-D8B7-41EF-9C82-A5882C62FFB8}" destId="{E7A500D7-A2EB-4638-ABE7-A1A888D8EA84}" srcOrd="0" destOrd="0" presId="urn:microsoft.com/office/officeart/2005/8/layout/default"/>
    <dgm:cxn modelId="{B7930BDC-2E7D-4135-BA53-AD387B5F8FAB}" type="presOf" srcId="{1ED184E9-F5DC-4BFB-B1FD-836A23436527}" destId="{DD2AE90F-DF00-4DF1-BECF-1F4BBFB6EA3B}" srcOrd="0" destOrd="0" presId="urn:microsoft.com/office/officeart/2005/8/layout/default"/>
    <dgm:cxn modelId="{96FFB9EB-20A9-43DB-8872-4118414ACA8B}" type="presOf" srcId="{0F6A84E7-8FDE-434F-9F23-620989E95365}" destId="{0E004C9E-58A1-4CB2-8E41-80C80D0561B7}" srcOrd="0" destOrd="0" presId="urn:microsoft.com/office/officeart/2005/8/layout/default"/>
    <dgm:cxn modelId="{7FEDF883-D2F8-4B0B-AB2C-399E8F1620AB}" type="presParOf" srcId="{E7A500D7-A2EB-4638-ABE7-A1A888D8EA84}" destId="{0E004C9E-58A1-4CB2-8E41-80C80D0561B7}" srcOrd="0" destOrd="0" presId="urn:microsoft.com/office/officeart/2005/8/layout/default"/>
    <dgm:cxn modelId="{D038C7F3-880F-4D44-B9E9-E0CB5D6E0189}" type="presParOf" srcId="{E7A500D7-A2EB-4638-ABE7-A1A888D8EA84}" destId="{2267F00F-BC61-4638-A074-C3B709D85E51}" srcOrd="1" destOrd="0" presId="urn:microsoft.com/office/officeart/2005/8/layout/default"/>
    <dgm:cxn modelId="{97CBB46E-47C5-452A-A41E-28C566958161}" type="presParOf" srcId="{E7A500D7-A2EB-4638-ABE7-A1A888D8EA84}" destId="{FC085FFC-229A-4C02-B26E-5597128961D6}" srcOrd="2" destOrd="0" presId="urn:microsoft.com/office/officeart/2005/8/layout/default"/>
    <dgm:cxn modelId="{1E85DD3D-498A-401A-88DB-4DDAC0B6A328}" type="presParOf" srcId="{E7A500D7-A2EB-4638-ABE7-A1A888D8EA84}" destId="{12357EE0-CDD5-4D4F-88CD-31B7148DE039}" srcOrd="3" destOrd="0" presId="urn:microsoft.com/office/officeart/2005/8/layout/default"/>
    <dgm:cxn modelId="{95FB4C85-F853-455C-BBBF-EE7377E702EE}" type="presParOf" srcId="{E7A500D7-A2EB-4638-ABE7-A1A888D8EA84}" destId="{4B589CBA-F36A-48E9-BFE5-62AD833352F3}" srcOrd="4" destOrd="0" presId="urn:microsoft.com/office/officeart/2005/8/layout/default"/>
    <dgm:cxn modelId="{676DC89E-36B1-4775-ABD7-B9FEEC7ABBA7}" type="presParOf" srcId="{E7A500D7-A2EB-4638-ABE7-A1A888D8EA84}" destId="{A91A1199-C951-416E-8CC2-54D96067B7F2}" srcOrd="5" destOrd="0" presId="urn:microsoft.com/office/officeart/2005/8/layout/default"/>
    <dgm:cxn modelId="{0A69A36F-4DB1-4791-A3C1-90A0CCCA85BB}" type="presParOf" srcId="{E7A500D7-A2EB-4638-ABE7-A1A888D8EA84}" destId="{8B55566B-B5CA-49B0-A0F8-95D7E39F327B}" srcOrd="6" destOrd="0" presId="urn:microsoft.com/office/officeart/2005/8/layout/default"/>
    <dgm:cxn modelId="{13CC1978-009A-4A77-B404-EC26D937E70E}" type="presParOf" srcId="{E7A500D7-A2EB-4638-ABE7-A1A888D8EA84}" destId="{0C4E344C-800C-45DB-B381-3CDE9E7E1587}" srcOrd="7" destOrd="0" presId="urn:microsoft.com/office/officeart/2005/8/layout/default"/>
    <dgm:cxn modelId="{00080E90-1EFF-46AE-8B75-5FC162347C1A}" type="presParOf" srcId="{E7A500D7-A2EB-4638-ABE7-A1A888D8EA84}" destId="{DD2AE90F-DF00-4DF1-BECF-1F4BBFB6EA3B}" srcOrd="8" destOrd="0" presId="urn:microsoft.com/office/officeart/2005/8/layout/default"/>
    <dgm:cxn modelId="{F03B3CE8-1EBA-4F2E-9A7F-C24B7B64B66E}" type="presParOf" srcId="{E7A500D7-A2EB-4638-ABE7-A1A888D8EA84}" destId="{81135130-D5E5-46A6-9B00-664FD292DA07}" srcOrd="9" destOrd="0" presId="urn:microsoft.com/office/officeart/2005/8/layout/default"/>
    <dgm:cxn modelId="{6B9E7FF5-E004-49E1-AC24-72F3C7E7499F}" type="presParOf" srcId="{E7A500D7-A2EB-4638-ABE7-A1A888D8EA84}" destId="{5A0C56DD-D8FA-4873-AC0F-ACAA755D0889}" srcOrd="10" destOrd="0" presId="urn:microsoft.com/office/officeart/2005/8/layout/default"/>
    <dgm:cxn modelId="{C2229162-B97F-42DA-823A-76AA74F84289}" type="presParOf" srcId="{E7A500D7-A2EB-4638-ABE7-A1A888D8EA84}" destId="{ADDE83E0-3A71-43C0-8A84-B3146A323C6F}" srcOrd="11" destOrd="0" presId="urn:microsoft.com/office/officeart/2005/8/layout/default"/>
    <dgm:cxn modelId="{84BB15B1-694E-40D7-98C5-12B264ED9873}" type="presParOf" srcId="{E7A500D7-A2EB-4638-ABE7-A1A888D8EA84}" destId="{95136AD1-C44A-4E2C-AEE0-7550AE69BFF2}" srcOrd="12" destOrd="0" presId="urn:microsoft.com/office/officeart/2005/8/layout/default"/>
    <dgm:cxn modelId="{6F794CAC-EB39-4A43-BCD8-9B8B034474E4}" type="presParOf" srcId="{E7A500D7-A2EB-4638-ABE7-A1A888D8EA84}" destId="{829D4610-61B9-48FC-9C42-DC9ED34E8594}" srcOrd="13" destOrd="0" presId="urn:microsoft.com/office/officeart/2005/8/layout/default"/>
    <dgm:cxn modelId="{19885EB6-74FF-4103-A690-E6C3B672701B}" type="presParOf" srcId="{E7A500D7-A2EB-4638-ABE7-A1A888D8EA84}" destId="{8DCE23DE-29E7-44A1-9B9D-91DD38EA5FB7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7D5F4CA-5CF6-4CBD-B698-0F0AE1B8F9AB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0C3D3DE-4144-4755-AF0E-A563FB540C72}">
      <dgm:prSet/>
      <dgm:spPr/>
      <dgm:t>
        <a:bodyPr/>
        <a:lstStyle/>
        <a:p>
          <a:r>
            <a:rPr lang="en-US"/>
            <a:t>When the first object is uploaded, S3 requests a KMS data key this key becomes the S3 Bucket Key.</a:t>
          </a:r>
        </a:p>
      </dgm:t>
    </dgm:pt>
    <dgm:pt modelId="{47E93640-0332-4813-8555-C35E52AA304A}" type="parTrans" cxnId="{D4BD2B4F-7C12-4F5B-8F86-F8D0E0A57468}">
      <dgm:prSet/>
      <dgm:spPr/>
      <dgm:t>
        <a:bodyPr/>
        <a:lstStyle/>
        <a:p>
          <a:endParaRPr lang="en-US"/>
        </a:p>
      </dgm:t>
    </dgm:pt>
    <dgm:pt modelId="{93F5CF27-1D67-4ED5-A216-C1BC1E532373}" type="sibTrans" cxnId="{D4BD2B4F-7C12-4F5B-8F86-F8D0E0A57468}">
      <dgm:prSet/>
      <dgm:spPr/>
      <dgm:t>
        <a:bodyPr/>
        <a:lstStyle/>
        <a:p>
          <a:endParaRPr lang="en-US"/>
        </a:p>
      </dgm:t>
    </dgm:pt>
    <dgm:pt modelId="{9DB29CE7-44E6-4208-BD62-2A236478B0A8}">
      <dgm:prSet/>
      <dgm:spPr/>
      <dgm:t>
        <a:bodyPr/>
        <a:lstStyle/>
        <a:p>
          <a:r>
            <a:rPr lang="en-US"/>
            <a:t>S3 then uses this bucket-level key to encrypt or decrypt multiple objects locally.</a:t>
          </a:r>
        </a:p>
      </dgm:t>
    </dgm:pt>
    <dgm:pt modelId="{F8BF84E5-1646-47D1-915F-0F5D4C58E296}" type="parTrans" cxnId="{6DE754B5-055F-4DA7-9CA4-7B26F0F69DE5}">
      <dgm:prSet/>
      <dgm:spPr/>
      <dgm:t>
        <a:bodyPr/>
        <a:lstStyle/>
        <a:p>
          <a:endParaRPr lang="en-US"/>
        </a:p>
      </dgm:t>
    </dgm:pt>
    <dgm:pt modelId="{EAB696C7-6F1D-4DA7-A6D4-684614C79928}" type="sibTrans" cxnId="{6DE754B5-055F-4DA7-9CA4-7B26F0F69DE5}">
      <dgm:prSet/>
      <dgm:spPr/>
      <dgm:t>
        <a:bodyPr/>
        <a:lstStyle/>
        <a:p>
          <a:endParaRPr lang="en-US"/>
        </a:p>
      </dgm:t>
    </dgm:pt>
    <dgm:pt modelId="{143C064E-593C-42D9-87BA-56BF41A7004E}">
      <dgm:prSet/>
      <dgm:spPr/>
      <dgm:t>
        <a:bodyPr/>
        <a:lstStyle/>
        <a:p>
          <a:r>
            <a:rPr lang="en-US"/>
            <a:t>Fewer KMS calls lower API cost and faster performance.</a:t>
          </a:r>
        </a:p>
      </dgm:t>
    </dgm:pt>
    <dgm:pt modelId="{0598C58E-02DC-479F-92EC-AEF8177A60E1}" type="parTrans" cxnId="{622913A2-6BAD-458C-A17E-174C6E6B0709}">
      <dgm:prSet/>
      <dgm:spPr/>
      <dgm:t>
        <a:bodyPr/>
        <a:lstStyle/>
        <a:p>
          <a:endParaRPr lang="en-US"/>
        </a:p>
      </dgm:t>
    </dgm:pt>
    <dgm:pt modelId="{4875F00B-741B-4E76-BF28-B44AF9BF42C8}" type="sibTrans" cxnId="{622913A2-6BAD-458C-A17E-174C6E6B0709}">
      <dgm:prSet/>
      <dgm:spPr/>
      <dgm:t>
        <a:bodyPr/>
        <a:lstStyle/>
        <a:p>
          <a:endParaRPr lang="en-US"/>
        </a:p>
      </dgm:t>
    </dgm:pt>
    <dgm:pt modelId="{A84B2A9B-C3BC-4F93-82BD-B4E09C71072C}">
      <dgm:prSet/>
      <dgm:spPr/>
      <dgm:t>
        <a:bodyPr/>
        <a:lstStyle/>
        <a:p>
          <a:r>
            <a:rPr lang="en-US"/>
            <a:t>Security remains the same (data is still protected with KMS-managed keys).</a:t>
          </a:r>
        </a:p>
      </dgm:t>
    </dgm:pt>
    <dgm:pt modelId="{2754CA4C-7027-43B6-A54E-3939BCB8F177}" type="parTrans" cxnId="{EBF91C7C-EB31-4272-811E-DC968AA96DA8}">
      <dgm:prSet/>
      <dgm:spPr/>
      <dgm:t>
        <a:bodyPr/>
        <a:lstStyle/>
        <a:p>
          <a:endParaRPr lang="en-US"/>
        </a:p>
      </dgm:t>
    </dgm:pt>
    <dgm:pt modelId="{CCE2B5B3-1CE6-4DDB-BA0A-FBC6816824D5}" type="sibTrans" cxnId="{EBF91C7C-EB31-4272-811E-DC968AA96DA8}">
      <dgm:prSet/>
      <dgm:spPr/>
      <dgm:t>
        <a:bodyPr/>
        <a:lstStyle/>
        <a:p>
          <a:endParaRPr lang="en-US"/>
        </a:p>
      </dgm:t>
    </dgm:pt>
    <dgm:pt modelId="{69AAFEAA-E2AE-4D96-8401-AB81FE46AE3D}" type="pres">
      <dgm:prSet presAssocID="{17D5F4CA-5CF6-4CBD-B698-0F0AE1B8F9AB}" presName="vert0" presStyleCnt="0">
        <dgm:presLayoutVars>
          <dgm:dir/>
          <dgm:animOne val="branch"/>
          <dgm:animLvl val="lvl"/>
        </dgm:presLayoutVars>
      </dgm:prSet>
      <dgm:spPr/>
    </dgm:pt>
    <dgm:pt modelId="{6927FB7B-8EB4-46E7-9600-237B6779C0EC}" type="pres">
      <dgm:prSet presAssocID="{C0C3D3DE-4144-4755-AF0E-A563FB540C72}" presName="thickLine" presStyleLbl="alignNode1" presStyleIdx="0" presStyleCnt="4"/>
      <dgm:spPr/>
    </dgm:pt>
    <dgm:pt modelId="{F1E7284C-E725-4CF4-B407-8A0DF7B98430}" type="pres">
      <dgm:prSet presAssocID="{C0C3D3DE-4144-4755-AF0E-A563FB540C72}" presName="horz1" presStyleCnt="0"/>
      <dgm:spPr/>
    </dgm:pt>
    <dgm:pt modelId="{D5B95CDF-0976-438D-8280-E8B18640F0C2}" type="pres">
      <dgm:prSet presAssocID="{C0C3D3DE-4144-4755-AF0E-A563FB540C72}" presName="tx1" presStyleLbl="revTx" presStyleIdx="0" presStyleCnt="4"/>
      <dgm:spPr/>
    </dgm:pt>
    <dgm:pt modelId="{C9ACF685-0535-46FB-B781-B165EE8BEF99}" type="pres">
      <dgm:prSet presAssocID="{C0C3D3DE-4144-4755-AF0E-A563FB540C72}" presName="vert1" presStyleCnt="0"/>
      <dgm:spPr/>
    </dgm:pt>
    <dgm:pt modelId="{B6E7C494-414F-4DF7-9A42-F1288965397F}" type="pres">
      <dgm:prSet presAssocID="{9DB29CE7-44E6-4208-BD62-2A236478B0A8}" presName="thickLine" presStyleLbl="alignNode1" presStyleIdx="1" presStyleCnt="4"/>
      <dgm:spPr/>
    </dgm:pt>
    <dgm:pt modelId="{8533FFA4-40BB-4A93-8377-B3FB853B771D}" type="pres">
      <dgm:prSet presAssocID="{9DB29CE7-44E6-4208-BD62-2A236478B0A8}" presName="horz1" presStyleCnt="0"/>
      <dgm:spPr/>
    </dgm:pt>
    <dgm:pt modelId="{FD5D841E-B4F0-4677-8917-72ABCE69FB8F}" type="pres">
      <dgm:prSet presAssocID="{9DB29CE7-44E6-4208-BD62-2A236478B0A8}" presName="tx1" presStyleLbl="revTx" presStyleIdx="1" presStyleCnt="4"/>
      <dgm:spPr/>
    </dgm:pt>
    <dgm:pt modelId="{4C075AE2-FF2E-4E6C-BD8B-0AFE120AD4D7}" type="pres">
      <dgm:prSet presAssocID="{9DB29CE7-44E6-4208-BD62-2A236478B0A8}" presName="vert1" presStyleCnt="0"/>
      <dgm:spPr/>
    </dgm:pt>
    <dgm:pt modelId="{9244E577-D10C-499E-B32D-6EE468636382}" type="pres">
      <dgm:prSet presAssocID="{143C064E-593C-42D9-87BA-56BF41A7004E}" presName="thickLine" presStyleLbl="alignNode1" presStyleIdx="2" presStyleCnt="4"/>
      <dgm:spPr/>
    </dgm:pt>
    <dgm:pt modelId="{8F0F580B-8601-4A30-9E97-35B23EBFED2F}" type="pres">
      <dgm:prSet presAssocID="{143C064E-593C-42D9-87BA-56BF41A7004E}" presName="horz1" presStyleCnt="0"/>
      <dgm:spPr/>
    </dgm:pt>
    <dgm:pt modelId="{BB774368-71CD-4F99-B219-211F8B4795D6}" type="pres">
      <dgm:prSet presAssocID="{143C064E-593C-42D9-87BA-56BF41A7004E}" presName="tx1" presStyleLbl="revTx" presStyleIdx="2" presStyleCnt="4"/>
      <dgm:spPr/>
    </dgm:pt>
    <dgm:pt modelId="{EE85C930-17B4-45AA-AD6D-CE0101E6CB45}" type="pres">
      <dgm:prSet presAssocID="{143C064E-593C-42D9-87BA-56BF41A7004E}" presName="vert1" presStyleCnt="0"/>
      <dgm:spPr/>
    </dgm:pt>
    <dgm:pt modelId="{F46DD3C0-D967-4B03-A948-7BF25B61D7CA}" type="pres">
      <dgm:prSet presAssocID="{A84B2A9B-C3BC-4F93-82BD-B4E09C71072C}" presName="thickLine" presStyleLbl="alignNode1" presStyleIdx="3" presStyleCnt="4"/>
      <dgm:spPr/>
    </dgm:pt>
    <dgm:pt modelId="{1FA3D4E7-6983-4E57-B5A0-DE0EA326D260}" type="pres">
      <dgm:prSet presAssocID="{A84B2A9B-C3BC-4F93-82BD-B4E09C71072C}" presName="horz1" presStyleCnt="0"/>
      <dgm:spPr/>
    </dgm:pt>
    <dgm:pt modelId="{3BBAFA3B-F2E2-43C4-A82C-9540C9B112C6}" type="pres">
      <dgm:prSet presAssocID="{A84B2A9B-C3BC-4F93-82BD-B4E09C71072C}" presName="tx1" presStyleLbl="revTx" presStyleIdx="3" presStyleCnt="4"/>
      <dgm:spPr/>
    </dgm:pt>
    <dgm:pt modelId="{0F8838A1-10E3-409A-8740-F9C825E83ABF}" type="pres">
      <dgm:prSet presAssocID="{A84B2A9B-C3BC-4F93-82BD-B4E09C71072C}" presName="vert1" presStyleCnt="0"/>
      <dgm:spPr/>
    </dgm:pt>
  </dgm:ptLst>
  <dgm:cxnLst>
    <dgm:cxn modelId="{BD9C885B-4954-494A-85A2-53B85066D3F5}" type="presOf" srcId="{9DB29CE7-44E6-4208-BD62-2A236478B0A8}" destId="{FD5D841E-B4F0-4677-8917-72ABCE69FB8F}" srcOrd="0" destOrd="0" presId="urn:microsoft.com/office/officeart/2008/layout/LinedList"/>
    <dgm:cxn modelId="{6F2C714D-0DED-4BFD-BA2C-7E48C5FA3882}" type="presOf" srcId="{17D5F4CA-5CF6-4CBD-B698-0F0AE1B8F9AB}" destId="{69AAFEAA-E2AE-4D96-8401-AB81FE46AE3D}" srcOrd="0" destOrd="0" presId="urn:microsoft.com/office/officeart/2008/layout/LinedList"/>
    <dgm:cxn modelId="{D4BD2B4F-7C12-4F5B-8F86-F8D0E0A57468}" srcId="{17D5F4CA-5CF6-4CBD-B698-0F0AE1B8F9AB}" destId="{C0C3D3DE-4144-4755-AF0E-A563FB540C72}" srcOrd="0" destOrd="0" parTransId="{47E93640-0332-4813-8555-C35E52AA304A}" sibTransId="{93F5CF27-1D67-4ED5-A216-C1BC1E532373}"/>
    <dgm:cxn modelId="{07D5AF73-7EDB-42B6-A552-A79BBED2CB33}" type="presOf" srcId="{C0C3D3DE-4144-4755-AF0E-A563FB540C72}" destId="{D5B95CDF-0976-438D-8280-E8B18640F0C2}" srcOrd="0" destOrd="0" presId="urn:microsoft.com/office/officeart/2008/layout/LinedList"/>
    <dgm:cxn modelId="{EBF91C7C-EB31-4272-811E-DC968AA96DA8}" srcId="{17D5F4CA-5CF6-4CBD-B698-0F0AE1B8F9AB}" destId="{A84B2A9B-C3BC-4F93-82BD-B4E09C71072C}" srcOrd="3" destOrd="0" parTransId="{2754CA4C-7027-43B6-A54E-3939BCB8F177}" sibTransId="{CCE2B5B3-1CE6-4DDB-BA0A-FBC6816824D5}"/>
    <dgm:cxn modelId="{71896DA0-4F89-40AC-95FE-164B1737E92D}" type="presOf" srcId="{A84B2A9B-C3BC-4F93-82BD-B4E09C71072C}" destId="{3BBAFA3B-F2E2-43C4-A82C-9540C9B112C6}" srcOrd="0" destOrd="0" presId="urn:microsoft.com/office/officeart/2008/layout/LinedList"/>
    <dgm:cxn modelId="{622913A2-6BAD-458C-A17E-174C6E6B0709}" srcId="{17D5F4CA-5CF6-4CBD-B698-0F0AE1B8F9AB}" destId="{143C064E-593C-42D9-87BA-56BF41A7004E}" srcOrd="2" destOrd="0" parTransId="{0598C58E-02DC-479F-92EC-AEF8177A60E1}" sibTransId="{4875F00B-741B-4E76-BF28-B44AF9BF42C8}"/>
    <dgm:cxn modelId="{6DE754B5-055F-4DA7-9CA4-7B26F0F69DE5}" srcId="{17D5F4CA-5CF6-4CBD-B698-0F0AE1B8F9AB}" destId="{9DB29CE7-44E6-4208-BD62-2A236478B0A8}" srcOrd="1" destOrd="0" parTransId="{F8BF84E5-1646-47D1-915F-0F5D4C58E296}" sibTransId="{EAB696C7-6F1D-4DA7-A6D4-684614C79928}"/>
    <dgm:cxn modelId="{93B05EFE-CF9B-4690-8F95-79461B5CF6C3}" type="presOf" srcId="{143C064E-593C-42D9-87BA-56BF41A7004E}" destId="{BB774368-71CD-4F99-B219-211F8B4795D6}" srcOrd="0" destOrd="0" presId="urn:microsoft.com/office/officeart/2008/layout/LinedList"/>
    <dgm:cxn modelId="{25B38616-137A-4A9E-A789-B9E26D313C3B}" type="presParOf" srcId="{69AAFEAA-E2AE-4D96-8401-AB81FE46AE3D}" destId="{6927FB7B-8EB4-46E7-9600-237B6779C0EC}" srcOrd="0" destOrd="0" presId="urn:microsoft.com/office/officeart/2008/layout/LinedList"/>
    <dgm:cxn modelId="{EFA23136-E90E-4EEB-9AF0-A71F2B84DBA5}" type="presParOf" srcId="{69AAFEAA-E2AE-4D96-8401-AB81FE46AE3D}" destId="{F1E7284C-E725-4CF4-B407-8A0DF7B98430}" srcOrd="1" destOrd="0" presId="urn:microsoft.com/office/officeart/2008/layout/LinedList"/>
    <dgm:cxn modelId="{38DF5A41-C62F-4432-ABF5-6D43DE0A91F1}" type="presParOf" srcId="{F1E7284C-E725-4CF4-B407-8A0DF7B98430}" destId="{D5B95CDF-0976-438D-8280-E8B18640F0C2}" srcOrd="0" destOrd="0" presId="urn:microsoft.com/office/officeart/2008/layout/LinedList"/>
    <dgm:cxn modelId="{225E891B-A74A-47C9-B13F-4E21B60C1B6B}" type="presParOf" srcId="{F1E7284C-E725-4CF4-B407-8A0DF7B98430}" destId="{C9ACF685-0535-46FB-B781-B165EE8BEF99}" srcOrd="1" destOrd="0" presId="urn:microsoft.com/office/officeart/2008/layout/LinedList"/>
    <dgm:cxn modelId="{DD75CF5F-61E6-4FA2-82CC-8D7AF9245A62}" type="presParOf" srcId="{69AAFEAA-E2AE-4D96-8401-AB81FE46AE3D}" destId="{B6E7C494-414F-4DF7-9A42-F1288965397F}" srcOrd="2" destOrd="0" presId="urn:microsoft.com/office/officeart/2008/layout/LinedList"/>
    <dgm:cxn modelId="{07157874-BC0E-4E26-8822-089884003C38}" type="presParOf" srcId="{69AAFEAA-E2AE-4D96-8401-AB81FE46AE3D}" destId="{8533FFA4-40BB-4A93-8377-B3FB853B771D}" srcOrd="3" destOrd="0" presId="urn:microsoft.com/office/officeart/2008/layout/LinedList"/>
    <dgm:cxn modelId="{BE1A3E44-200D-4FB1-A923-37E8E07EF920}" type="presParOf" srcId="{8533FFA4-40BB-4A93-8377-B3FB853B771D}" destId="{FD5D841E-B4F0-4677-8917-72ABCE69FB8F}" srcOrd="0" destOrd="0" presId="urn:microsoft.com/office/officeart/2008/layout/LinedList"/>
    <dgm:cxn modelId="{388F0F6A-3ED0-47A2-B09B-4DB74F547B61}" type="presParOf" srcId="{8533FFA4-40BB-4A93-8377-B3FB853B771D}" destId="{4C075AE2-FF2E-4E6C-BD8B-0AFE120AD4D7}" srcOrd="1" destOrd="0" presId="urn:microsoft.com/office/officeart/2008/layout/LinedList"/>
    <dgm:cxn modelId="{3A0435D3-1236-4F23-89F3-26EEF19D1F65}" type="presParOf" srcId="{69AAFEAA-E2AE-4D96-8401-AB81FE46AE3D}" destId="{9244E577-D10C-499E-B32D-6EE468636382}" srcOrd="4" destOrd="0" presId="urn:microsoft.com/office/officeart/2008/layout/LinedList"/>
    <dgm:cxn modelId="{CC9B1319-36C5-45D2-A367-334B04B69653}" type="presParOf" srcId="{69AAFEAA-E2AE-4D96-8401-AB81FE46AE3D}" destId="{8F0F580B-8601-4A30-9E97-35B23EBFED2F}" srcOrd="5" destOrd="0" presId="urn:microsoft.com/office/officeart/2008/layout/LinedList"/>
    <dgm:cxn modelId="{B5E951CF-398F-4F00-BF35-E4ADC629B29F}" type="presParOf" srcId="{8F0F580B-8601-4A30-9E97-35B23EBFED2F}" destId="{BB774368-71CD-4F99-B219-211F8B4795D6}" srcOrd="0" destOrd="0" presId="urn:microsoft.com/office/officeart/2008/layout/LinedList"/>
    <dgm:cxn modelId="{175A0E79-8729-4160-97B5-F2738BF72DF6}" type="presParOf" srcId="{8F0F580B-8601-4A30-9E97-35B23EBFED2F}" destId="{EE85C930-17B4-45AA-AD6D-CE0101E6CB45}" srcOrd="1" destOrd="0" presId="urn:microsoft.com/office/officeart/2008/layout/LinedList"/>
    <dgm:cxn modelId="{BCA26FDC-BAF7-47F1-B65D-CBBD0C68FD14}" type="presParOf" srcId="{69AAFEAA-E2AE-4D96-8401-AB81FE46AE3D}" destId="{F46DD3C0-D967-4B03-A948-7BF25B61D7CA}" srcOrd="6" destOrd="0" presId="urn:microsoft.com/office/officeart/2008/layout/LinedList"/>
    <dgm:cxn modelId="{E03B8F8E-8CEC-4F8C-BBDE-8CB38EB12EE8}" type="presParOf" srcId="{69AAFEAA-E2AE-4D96-8401-AB81FE46AE3D}" destId="{1FA3D4E7-6983-4E57-B5A0-DE0EA326D260}" srcOrd="7" destOrd="0" presId="urn:microsoft.com/office/officeart/2008/layout/LinedList"/>
    <dgm:cxn modelId="{22E47270-0E23-4400-B5A2-A986A87DF6D4}" type="presParOf" srcId="{1FA3D4E7-6983-4E57-B5A0-DE0EA326D260}" destId="{3BBAFA3B-F2E2-43C4-A82C-9540C9B112C6}" srcOrd="0" destOrd="0" presId="urn:microsoft.com/office/officeart/2008/layout/LinedList"/>
    <dgm:cxn modelId="{2225CFF4-1036-4FB9-937F-F29B5647657B}" type="presParOf" srcId="{1FA3D4E7-6983-4E57-B5A0-DE0EA326D260}" destId="{0F8838A1-10E3-409A-8740-F9C825E83AB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15C5E2-DE17-4433-8DD9-6D49A05852C0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07F44B-B823-4BC1-8932-28A2E5F4F9CC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S3 automatically encrypts each object at rest using AES-256 encryption.</a:t>
          </a:r>
        </a:p>
      </dsp:txBody>
      <dsp:txXfrm>
        <a:off x="378614" y="886531"/>
        <a:ext cx="2810360" cy="1744948"/>
      </dsp:txXfrm>
    </dsp:sp>
    <dsp:sp modelId="{5B25AAF1-ACD7-412D-A5D0-4F21E449C9E2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5B717C-6317-4946-8289-BD6937E2EE76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The encryption keys are fully managed by Amazon S3 — users don’t create, view, or manage them.</a:t>
          </a:r>
        </a:p>
      </dsp:txBody>
      <dsp:txXfrm>
        <a:off x="3946203" y="886531"/>
        <a:ext cx="2810360" cy="1744948"/>
      </dsp:txXfrm>
    </dsp:sp>
    <dsp:sp modelId="{4DB844CA-24AA-4659-8597-A3D56724556A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A1CC15-1B43-4E39-B3AA-756A3C9872DA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S3 handles both encryption (when data is uploaded) and decryption (when data is downloaded) transparently.</a:t>
          </a:r>
        </a:p>
      </dsp:txBody>
      <dsp:txXfrm>
        <a:off x="7513791" y="886531"/>
        <a:ext cx="2810360" cy="1744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7F910D-4839-4AAC-B1D3-975973297BDC}">
      <dsp:nvSpPr>
        <dsp:cNvPr id="0" name=""/>
        <dsp:cNvSpPr/>
      </dsp:nvSpPr>
      <dsp:spPr>
        <a:xfrm>
          <a:off x="1748064" y="2975"/>
          <a:ext cx="3342605" cy="200556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When an object is uploaded, S3 generates a unique key and encrypts the object using AES-256.</a:t>
          </a:r>
        </a:p>
      </dsp:txBody>
      <dsp:txXfrm>
        <a:off x="1748064" y="2975"/>
        <a:ext cx="3342605" cy="2005563"/>
      </dsp:txXfrm>
    </dsp:sp>
    <dsp:sp modelId="{178F369E-8410-4A7D-B752-95C98B9AFAF0}">
      <dsp:nvSpPr>
        <dsp:cNvPr id="0" name=""/>
        <dsp:cNvSpPr/>
      </dsp:nvSpPr>
      <dsp:spPr>
        <a:xfrm>
          <a:off x="5424930" y="2975"/>
          <a:ext cx="3342605" cy="200556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encrypted object and its metadata are stored in S3.</a:t>
          </a:r>
        </a:p>
      </dsp:txBody>
      <dsp:txXfrm>
        <a:off x="5424930" y="2975"/>
        <a:ext cx="3342605" cy="2005563"/>
      </dsp:txXfrm>
    </dsp:sp>
    <dsp:sp modelId="{232A4C18-60CC-4B24-BF60-B91C60BAD7A0}">
      <dsp:nvSpPr>
        <dsp:cNvPr id="0" name=""/>
        <dsp:cNvSpPr/>
      </dsp:nvSpPr>
      <dsp:spPr>
        <a:xfrm>
          <a:off x="3586497" y="2342799"/>
          <a:ext cx="3342605" cy="200556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When you download (GET) the object, S3 automatically decrypts it before returning the data to you.</a:t>
          </a:r>
        </a:p>
      </dsp:txBody>
      <dsp:txXfrm>
        <a:off x="3586497" y="2342799"/>
        <a:ext cx="3342605" cy="20055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51C779-3E19-44FF-8745-F8608FD99074}">
      <dsp:nvSpPr>
        <dsp:cNvPr id="0" name=""/>
        <dsp:cNvSpPr/>
      </dsp:nvSpPr>
      <dsp:spPr>
        <a:xfrm>
          <a:off x="1283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E75102-D77F-41D2-9065-A201C0EB986B}">
      <dsp:nvSpPr>
        <dsp:cNvPr id="0" name=""/>
        <dsp:cNvSpPr/>
      </dsp:nvSpPr>
      <dsp:spPr>
        <a:xfrm>
          <a:off x="501904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SSE-KMS means that your data is encrypted inside Amazon S3,</a:t>
          </a:r>
          <a:br>
            <a:rPr lang="en-US" sz="2500" kern="1200"/>
          </a:br>
          <a:r>
            <a:rPr lang="en-US" sz="2500" kern="1200"/>
            <a:t>but the encryption keys are managed by AWS KMS (Key Management Service).</a:t>
          </a:r>
        </a:p>
      </dsp:txBody>
      <dsp:txXfrm>
        <a:off x="585701" y="1066737"/>
        <a:ext cx="4337991" cy="2693452"/>
      </dsp:txXfrm>
    </dsp:sp>
    <dsp:sp modelId="{EE569E7F-08E9-4A4D-A5EA-919200D8483F}">
      <dsp:nvSpPr>
        <dsp:cNvPr id="0" name=""/>
        <dsp:cNvSpPr/>
      </dsp:nvSpPr>
      <dsp:spPr>
        <a:xfrm>
          <a:off x="5508110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6B3767-5F3C-44B6-934C-22BCDDAD9454}">
      <dsp:nvSpPr>
        <dsp:cNvPr id="0" name=""/>
        <dsp:cNvSpPr/>
      </dsp:nvSpPr>
      <dsp:spPr>
        <a:xfrm>
          <a:off x="6008730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S3 stores your object, but KMS manages the encryption key.</a:t>
          </a:r>
          <a:br>
            <a:rPr lang="en-US" sz="2500" kern="1200"/>
          </a:br>
          <a:r>
            <a:rPr lang="en-US" sz="2500" kern="1200"/>
            <a:t>It gives you more control, auditability, and compliance support compared to SSE-S3.</a:t>
          </a:r>
        </a:p>
      </dsp:txBody>
      <dsp:txXfrm>
        <a:off x="6092527" y="1066737"/>
        <a:ext cx="4337991" cy="26934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1DBB3-8871-4DE0-97C7-B008F4606694}">
      <dsp:nvSpPr>
        <dsp:cNvPr id="0" name=""/>
        <dsp:cNvSpPr/>
      </dsp:nvSpPr>
      <dsp:spPr>
        <a:xfrm>
          <a:off x="1523210" y="532"/>
          <a:ext cx="2650459" cy="159027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When you upload an object to S3,</a:t>
          </a:r>
          <a:br>
            <a:rPr lang="en-US" sz="1500" kern="1200"/>
          </a:br>
          <a:r>
            <a:rPr lang="en-US" sz="1500" kern="1200"/>
            <a:t>S3 requests a data encryption key (DEK) from AWS KMS.</a:t>
          </a:r>
        </a:p>
      </dsp:txBody>
      <dsp:txXfrm>
        <a:off x="1569788" y="47110"/>
        <a:ext cx="2557303" cy="1497119"/>
      </dsp:txXfrm>
    </dsp:sp>
    <dsp:sp modelId="{F1984F12-611E-4B77-BAF8-3DF7ADB9D58E}">
      <dsp:nvSpPr>
        <dsp:cNvPr id="0" name=""/>
        <dsp:cNvSpPr/>
      </dsp:nvSpPr>
      <dsp:spPr>
        <a:xfrm>
          <a:off x="4406910" y="467013"/>
          <a:ext cx="561897" cy="6573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406910" y="598476"/>
        <a:ext cx="393328" cy="394388"/>
      </dsp:txXfrm>
    </dsp:sp>
    <dsp:sp modelId="{6C3B3B03-DBA6-48AB-AC3D-560AF41A0886}">
      <dsp:nvSpPr>
        <dsp:cNvPr id="0" name=""/>
        <dsp:cNvSpPr/>
      </dsp:nvSpPr>
      <dsp:spPr>
        <a:xfrm>
          <a:off x="5233854" y="532"/>
          <a:ext cx="2650459" cy="1590275"/>
        </a:xfrm>
        <a:prstGeom prst="roundRect">
          <a:avLst>
            <a:gd name="adj" fmla="val 1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That DEK is used to encrypt the object data.</a:t>
          </a:r>
        </a:p>
      </dsp:txBody>
      <dsp:txXfrm>
        <a:off x="5280432" y="47110"/>
        <a:ext cx="2557303" cy="1497119"/>
      </dsp:txXfrm>
    </dsp:sp>
    <dsp:sp modelId="{77F79E0A-DC66-470E-81FF-89897CB1AEA3}">
      <dsp:nvSpPr>
        <dsp:cNvPr id="0" name=""/>
        <dsp:cNvSpPr/>
      </dsp:nvSpPr>
      <dsp:spPr>
        <a:xfrm rot="5400000">
          <a:off x="6278135" y="1776340"/>
          <a:ext cx="561897" cy="6573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6361890" y="1824049"/>
        <a:ext cx="394388" cy="393328"/>
      </dsp:txXfrm>
    </dsp:sp>
    <dsp:sp modelId="{C1AACB92-CC41-4FE6-A493-69002D4E2BBA}">
      <dsp:nvSpPr>
        <dsp:cNvPr id="0" name=""/>
        <dsp:cNvSpPr/>
      </dsp:nvSpPr>
      <dsp:spPr>
        <a:xfrm>
          <a:off x="5233854" y="2650991"/>
          <a:ext cx="2650459" cy="1590275"/>
        </a:xfrm>
        <a:prstGeom prst="roundRect">
          <a:avLst>
            <a:gd name="adj" fmla="val 10000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DEK itself is encrypted using the KMS master key (CMK).</a:t>
          </a:r>
        </a:p>
      </dsp:txBody>
      <dsp:txXfrm>
        <a:off x="5280432" y="2697569"/>
        <a:ext cx="2557303" cy="1497119"/>
      </dsp:txXfrm>
    </dsp:sp>
    <dsp:sp modelId="{704CFAD8-331E-47B9-828D-B6FA17CC2D08}">
      <dsp:nvSpPr>
        <dsp:cNvPr id="0" name=""/>
        <dsp:cNvSpPr/>
      </dsp:nvSpPr>
      <dsp:spPr>
        <a:xfrm rot="10800000">
          <a:off x="4438716" y="3117472"/>
          <a:ext cx="561897" cy="6573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4607285" y="3248935"/>
        <a:ext cx="393328" cy="394388"/>
      </dsp:txXfrm>
    </dsp:sp>
    <dsp:sp modelId="{C86C1659-2889-4E83-996E-0AB73F004EE2}">
      <dsp:nvSpPr>
        <dsp:cNvPr id="0" name=""/>
        <dsp:cNvSpPr/>
      </dsp:nvSpPr>
      <dsp:spPr>
        <a:xfrm>
          <a:off x="1523210" y="2650991"/>
          <a:ext cx="2650459" cy="1590275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When you download the object,</a:t>
          </a:r>
          <a:br>
            <a:rPr lang="en-US" sz="1500" kern="1200"/>
          </a:br>
          <a:r>
            <a:rPr lang="en-US" sz="1500" kern="1200"/>
            <a:t>S3 requests KMS to decrypt the DEK,</a:t>
          </a:r>
          <a:br>
            <a:rPr lang="en-US" sz="1500" kern="1200"/>
          </a:br>
          <a:r>
            <a:rPr lang="en-US" sz="1500" kern="1200"/>
            <a:t>and then decrypts the object before returning it to you.</a:t>
          </a:r>
        </a:p>
      </dsp:txBody>
      <dsp:txXfrm>
        <a:off x="1569788" y="2697569"/>
        <a:ext cx="2557303" cy="14971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46AFEB-ED0B-41FE-9EC5-758F0B7D353D}">
      <dsp:nvSpPr>
        <dsp:cNvPr id="0" name=""/>
        <dsp:cNvSpPr/>
      </dsp:nvSpPr>
      <dsp:spPr>
        <a:xfrm>
          <a:off x="1283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4F4FB1-D5BA-468E-BD8B-FCBEDEF6FCE8}">
      <dsp:nvSpPr>
        <dsp:cNvPr id="0" name=""/>
        <dsp:cNvSpPr/>
      </dsp:nvSpPr>
      <dsp:spPr>
        <a:xfrm>
          <a:off x="501904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DSSE-KMS is an enhanced version of SSE-KMS, introduced by AWS for extra security and compliance.</a:t>
          </a:r>
          <a:br>
            <a:rPr lang="en-US" sz="2200" kern="1200"/>
          </a:br>
          <a:r>
            <a:rPr lang="en-US" sz="2200" kern="1200"/>
            <a:t>It encrypts every object twice using two separate AWS KMS keys providing a dual layer of encryption.</a:t>
          </a:r>
        </a:p>
      </dsp:txBody>
      <dsp:txXfrm>
        <a:off x="585701" y="1066737"/>
        <a:ext cx="4337991" cy="2693452"/>
      </dsp:txXfrm>
    </dsp:sp>
    <dsp:sp modelId="{E2C08D01-4275-4F5D-9059-F39FB60008FE}">
      <dsp:nvSpPr>
        <dsp:cNvPr id="0" name=""/>
        <dsp:cNvSpPr/>
      </dsp:nvSpPr>
      <dsp:spPr>
        <a:xfrm>
          <a:off x="5508110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CCFF72-E66B-4167-8463-BF7C927ED5CA}">
      <dsp:nvSpPr>
        <dsp:cNvPr id="0" name=""/>
        <dsp:cNvSpPr/>
      </dsp:nvSpPr>
      <dsp:spPr>
        <a:xfrm>
          <a:off x="6008730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Your data is encrypted once, then encrypted again both using independent KMS keys.</a:t>
          </a:r>
        </a:p>
      </dsp:txBody>
      <dsp:txXfrm>
        <a:off x="6092527" y="1066737"/>
        <a:ext cx="4337991" cy="269345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004C9E-58A1-4CB2-8E41-80C80D0561B7}">
      <dsp:nvSpPr>
        <dsp:cNvPr id="0" name=""/>
        <dsp:cNvSpPr/>
      </dsp:nvSpPr>
      <dsp:spPr>
        <a:xfrm>
          <a:off x="3080" y="385801"/>
          <a:ext cx="2444055" cy="14664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Maximum Security: </a:t>
          </a:r>
          <a:r>
            <a:rPr lang="en-US" sz="1600" kern="1200"/>
            <a:t>Two independent KMS keys protect the same data.</a:t>
          </a:r>
        </a:p>
      </dsp:txBody>
      <dsp:txXfrm>
        <a:off x="3080" y="385801"/>
        <a:ext cx="2444055" cy="1466433"/>
      </dsp:txXfrm>
    </dsp:sp>
    <dsp:sp modelId="{FC085FFC-229A-4C02-B26E-5597128961D6}">
      <dsp:nvSpPr>
        <dsp:cNvPr id="0" name=""/>
        <dsp:cNvSpPr/>
      </dsp:nvSpPr>
      <dsp:spPr>
        <a:xfrm>
          <a:off x="2691541" y="385801"/>
          <a:ext cx="2444055" cy="1466433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Compliance-Ready: </a:t>
          </a:r>
          <a:r>
            <a:rPr lang="en-US" sz="1600" kern="1200"/>
            <a:t>Designed for industries with strict security rules (finance, defense, healthcare).</a:t>
          </a:r>
        </a:p>
      </dsp:txBody>
      <dsp:txXfrm>
        <a:off x="2691541" y="385801"/>
        <a:ext cx="2444055" cy="1466433"/>
      </dsp:txXfrm>
    </dsp:sp>
    <dsp:sp modelId="{4B589CBA-F36A-48E9-BFE5-62AD833352F3}">
      <dsp:nvSpPr>
        <dsp:cNvPr id="0" name=""/>
        <dsp:cNvSpPr/>
      </dsp:nvSpPr>
      <dsp:spPr>
        <a:xfrm>
          <a:off x="5380002" y="385801"/>
          <a:ext cx="2444055" cy="1466433"/>
        </a:xfrm>
        <a:prstGeom prst="rect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Fully Managed: </a:t>
          </a:r>
          <a:r>
            <a:rPr lang="en-US" sz="1600" kern="1200"/>
            <a:t>AWS automatically handles both encryption layers.</a:t>
          </a:r>
        </a:p>
      </dsp:txBody>
      <dsp:txXfrm>
        <a:off x="5380002" y="385801"/>
        <a:ext cx="2444055" cy="1466433"/>
      </dsp:txXfrm>
    </dsp:sp>
    <dsp:sp modelId="{8B55566B-B5CA-49B0-A0F8-95D7E39F327B}">
      <dsp:nvSpPr>
        <dsp:cNvPr id="0" name=""/>
        <dsp:cNvSpPr/>
      </dsp:nvSpPr>
      <dsp:spPr>
        <a:xfrm>
          <a:off x="8068463" y="385801"/>
          <a:ext cx="2444055" cy="1466433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Transparent Access: </a:t>
          </a:r>
          <a:r>
            <a:rPr lang="en-US" sz="1600" kern="1200"/>
            <a:t>S3 automatically decrypts both layers when authorized users download data.</a:t>
          </a:r>
          <a:br>
            <a:rPr lang="en-US" sz="1600" kern="1200"/>
          </a:br>
          <a:endParaRPr lang="en-US" sz="1600" kern="1200"/>
        </a:p>
      </dsp:txBody>
      <dsp:txXfrm>
        <a:off x="8068463" y="385801"/>
        <a:ext cx="2444055" cy="1466433"/>
      </dsp:txXfrm>
    </dsp:sp>
    <dsp:sp modelId="{DD2AE90F-DF00-4DF1-BECF-1F4BBFB6EA3B}">
      <dsp:nvSpPr>
        <dsp:cNvPr id="0" name=""/>
        <dsp:cNvSpPr/>
      </dsp:nvSpPr>
      <dsp:spPr>
        <a:xfrm>
          <a:off x="3080" y="2096640"/>
          <a:ext cx="2444055" cy="1466433"/>
        </a:xfrm>
        <a:prstGeom prst="rect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Disadvantages</a:t>
          </a:r>
          <a:endParaRPr lang="en-US" sz="1600" kern="1200"/>
        </a:p>
      </dsp:txBody>
      <dsp:txXfrm>
        <a:off x="3080" y="2096640"/>
        <a:ext cx="2444055" cy="1466433"/>
      </dsp:txXfrm>
    </dsp:sp>
    <dsp:sp modelId="{5A0C56DD-D8FA-4873-AC0F-ACAA755D0889}">
      <dsp:nvSpPr>
        <dsp:cNvPr id="0" name=""/>
        <dsp:cNvSpPr/>
      </dsp:nvSpPr>
      <dsp:spPr>
        <a:xfrm>
          <a:off x="2691541" y="2096640"/>
          <a:ext cx="2444055" cy="1466433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Slightly higher cost</a:t>
          </a:r>
          <a:r>
            <a:rPr lang="en-US" sz="1600" kern="1200"/>
            <a:t> : Since it makes two KMS API calls per operation.</a:t>
          </a:r>
        </a:p>
      </dsp:txBody>
      <dsp:txXfrm>
        <a:off x="2691541" y="2096640"/>
        <a:ext cx="2444055" cy="1466433"/>
      </dsp:txXfrm>
    </dsp:sp>
    <dsp:sp modelId="{95136AD1-C44A-4E2C-AEE0-7550AE69BFF2}">
      <dsp:nvSpPr>
        <dsp:cNvPr id="0" name=""/>
        <dsp:cNvSpPr/>
      </dsp:nvSpPr>
      <dsp:spPr>
        <a:xfrm>
          <a:off x="5380002" y="2096640"/>
          <a:ext cx="2444055" cy="1466433"/>
        </a:xfrm>
        <a:prstGeom prst="rect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More complex IAM policies: </a:t>
          </a:r>
          <a:r>
            <a:rPr lang="en-US" sz="1600" kern="1200"/>
            <a:t>Users need access to both KMS keys.</a:t>
          </a:r>
        </a:p>
      </dsp:txBody>
      <dsp:txXfrm>
        <a:off x="5380002" y="2096640"/>
        <a:ext cx="2444055" cy="1466433"/>
      </dsp:txXfrm>
    </dsp:sp>
    <dsp:sp modelId="{8DCE23DE-29E7-44A1-9B9D-91DD38EA5FB7}">
      <dsp:nvSpPr>
        <dsp:cNvPr id="0" name=""/>
        <dsp:cNvSpPr/>
      </dsp:nvSpPr>
      <dsp:spPr>
        <a:xfrm>
          <a:off x="8068463" y="2096640"/>
          <a:ext cx="2444055" cy="1466433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Performance overhead: </a:t>
          </a:r>
          <a:r>
            <a:rPr lang="en-US" sz="1600" kern="1200"/>
            <a:t>Minimal delay due to double encryption/decryption.</a:t>
          </a:r>
        </a:p>
      </dsp:txBody>
      <dsp:txXfrm>
        <a:off x="8068463" y="2096640"/>
        <a:ext cx="2444055" cy="146643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27FB7B-8EB4-46E7-9600-237B6779C0EC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B95CDF-0976-438D-8280-E8B18640F0C2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When the first object is uploaded, S3 requests a KMS data key this key becomes the S3 Bucket Key.</a:t>
          </a:r>
        </a:p>
      </dsp:txBody>
      <dsp:txXfrm>
        <a:off x="0" y="0"/>
        <a:ext cx="6900512" cy="1384035"/>
      </dsp:txXfrm>
    </dsp:sp>
    <dsp:sp modelId="{B6E7C494-414F-4DF7-9A42-F1288965397F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5D841E-B4F0-4677-8917-72ABCE69FB8F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S3 then uses this bucket-level key to encrypt or decrypt multiple objects locally.</a:t>
          </a:r>
        </a:p>
      </dsp:txBody>
      <dsp:txXfrm>
        <a:off x="0" y="1384035"/>
        <a:ext cx="6900512" cy="1384035"/>
      </dsp:txXfrm>
    </dsp:sp>
    <dsp:sp modelId="{9244E577-D10C-499E-B32D-6EE468636382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774368-71CD-4F99-B219-211F8B4795D6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Fewer KMS calls lower API cost and faster performance.</a:t>
          </a:r>
        </a:p>
      </dsp:txBody>
      <dsp:txXfrm>
        <a:off x="0" y="2768070"/>
        <a:ext cx="6900512" cy="1384035"/>
      </dsp:txXfrm>
    </dsp:sp>
    <dsp:sp modelId="{F46DD3C0-D967-4B03-A948-7BF25B61D7CA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BAFA3B-F2E2-43C4-A82C-9540C9B112C6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Security remains the same (data is still protected with KMS-managed keys).</a:t>
          </a:r>
        </a:p>
      </dsp:txBody>
      <dsp:txXfrm>
        <a:off x="0" y="4152105"/>
        <a:ext cx="6900512" cy="1384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C0483-65F5-A922-2D65-00D59EBF5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4613A6-CCEB-2CCD-3002-C22202075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833F4-5420-E50F-3414-A57598C99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2E73-2A69-4435-95E3-11D033F649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672A0-5F1C-BA96-BAC4-12196CACA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04C7F-E950-179A-70B1-BE200C48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A0D5-A979-42C0-8907-A57FADFDC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74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50861-1E8D-9358-C5FD-8B60E97A9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35C34-7E6C-4058-E43B-C1C9A50D5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249AC-6413-AE72-F9FA-BBB347AAC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2E73-2A69-4435-95E3-11D033F649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CE71E-1F10-7561-FEF0-402DA9C81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47DD3-295E-163D-FB95-8142AAE8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A0D5-A979-42C0-8907-A57FADFDC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82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6F013-B057-8A1B-E873-C1B28EB05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D9E47-6855-44AA-E2B0-2CD82FD56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DCC78-90E5-9D59-BA46-ADD75040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2E73-2A69-4435-95E3-11D033F649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379AC-CE2E-666E-6315-4DB7A576D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8FF31-6700-82FC-2497-1F1AEEF22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A0D5-A979-42C0-8907-A57FADFDC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12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2AF39-BDF8-CE9D-50EA-994DB3CF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82B89-46FD-11A3-F623-877BC3BC67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36E0E-8570-F3BE-6007-5D9C2E6A8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AA656-5B66-AD22-543E-BA17AE9D5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2E73-2A69-4435-95E3-11D033F649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B10BE-400B-6058-9EBE-1ACD6873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0BA65-5134-4645-85A2-D50DD263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A0D5-A979-42C0-8907-A57FADFDC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22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5139-74DA-D1AB-135D-E7C6E1CE3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FE722-D7E4-094D-ED15-2C60B71A2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F0190-82FA-E499-6C3A-C5FCEBE37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24B449-03D6-4E07-01EC-CE00993A15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0D421B-B45D-8914-84F5-70559F9E51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446C8B-9800-7FE0-3B97-B23E7ACF9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2E73-2A69-4435-95E3-11D033F649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DD4A84-1676-5941-D0DF-1CA0FE2CD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07212F-2B40-BBE3-E2EF-B32FD7A10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A0D5-A979-42C0-8907-A57FADFDC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199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9B55-D71E-0BE2-EEAC-5D1A10483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686331-E373-DCCE-26FA-6C1420C86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2E73-2A69-4435-95E3-11D033F649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2DFA4-A2DA-9354-F5BC-7F3B44618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CC6A1-7489-C279-EE5C-52D8701D1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A0D5-A979-42C0-8907-A57FADFDC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650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A92B1-7748-996B-04D9-1EBCC2A22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2E73-2A69-4435-95E3-11D033F649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51F8F6-2CC5-D195-FF52-A41E1487B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1BC18-A12D-4162-89AA-FAAACD33B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A0D5-A979-42C0-8907-A57FADFDC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79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0895A-4340-0C68-70C7-CFC49550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A0C7B-0546-4B8A-9AA6-EA3025D04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42046-4237-A2C8-64C8-599592B5D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55353-740D-DFF7-FE33-92C356BC5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2E73-2A69-4435-95E3-11D033F649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FE81A-DA42-C3C5-7754-24514B040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7C2CD-3EE4-53F2-B33F-6AD423C58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A0D5-A979-42C0-8907-A57FADFDC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08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58418-9813-FB72-B842-B5D038B3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7F054C-A52C-1291-C1D7-BA9DFDC54D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3C295B-2302-CBB3-C038-038D94110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70768-BEED-9BD9-7E40-A21AC2748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2E73-2A69-4435-95E3-11D033F649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577EB-AF71-FEC7-701A-9F266C81F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810E3-081C-A8BA-63A8-CA74B1705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A0D5-A979-42C0-8907-A57FADFDC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10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D579B-9694-B1AA-0F49-E546C8338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795ED-43EB-92DB-8B10-C93C91091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C244B-9A0C-2E90-B7E7-C58E00891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2E73-2A69-4435-95E3-11D033F649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FAFD7-9B37-60E7-4042-D9FC81F06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4209-9244-93A4-7985-3076EC46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A0D5-A979-42C0-8907-A57FADFDC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65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A1EFAB-CFFC-4E47-E48E-4C0C3532B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50960-31E6-308D-0C93-FCB44E258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65FBD-9BA1-A881-D8DB-BDA5243DD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2E73-2A69-4435-95E3-11D033F649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89459-F24E-BBE9-9BCC-F517A708D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610CC-45F7-E3B1-DC74-8A257919C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A0D5-A979-42C0-8907-A57FADFDC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42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77EC9C-B4FC-7BF9-ABBD-8A91C0A6D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13A9D-0E2D-62F2-8B64-44B97A639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22DA6-75D8-F5BF-0BAB-AB948D4168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D62E73-2A69-4435-95E3-11D033F6496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F6558-F7DE-68AD-A6D2-F11551E6B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C3905-C62F-B0F6-0D1E-5ED1A6D25E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1A0D5-A979-42C0-8907-A57FADFDC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17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13CA7B-880F-DFB1-14E2-1728EB8B4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8716" y="955309"/>
            <a:ext cx="7074568" cy="2898975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rgbClr val="FFFFFF"/>
                </a:solidFill>
              </a:rPr>
              <a:t>Amazon S3–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B69A50-38AC-81DF-A9B3-8638C4090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4916" y="4533813"/>
            <a:ext cx="6930189" cy="9384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Server-Side Encryption (SSE)</a:t>
            </a:r>
          </a:p>
          <a:p>
            <a:r>
              <a:rPr lang="en-US">
                <a:solidFill>
                  <a:srgbClr val="FFFFFF"/>
                </a:solidFill>
              </a:rPr>
              <a:t>Client-Side Encryption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0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D73A39-3ECC-3D79-A2BD-9CF7D6D66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1.SSE-S3</a:t>
            </a:r>
            <a:br>
              <a:rPr lang="en-US" sz="4800" b="1" dirty="0"/>
            </a:br>
            <a:endParaRPr lang="en-US" sz="48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4F7F3222-EFAE-EC10-A52B-439AE2F703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5910619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7813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C866C0F-47EB-2F67-C9EC-58720B2045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26095" b="6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7627CC-D29C-622D-FFE1-B05534AE3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How It Works</a:t>
            </a:r>
            <a:br>
              <a:rPr lang="en-US" b="1" dirty="0">
                <a:solidFill>
                  <a:srgbClr val="FFFFFF"/>
                </a:solidFill>
              </a:rPr>
            </a:br>
            <a:endParaRPr lang="en-US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80C329-C588-5414-FFC4-CA13A15F54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402534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07191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50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2FC3150-6F94-2718-893E-7CA555468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br>
              <a:rPr lang="en-US" sz="4800" b="1">
                <a:solidFill>
                  <a:schemeClr val="bg1"/>
                </a:solidFill>
              </a:rPr>
            </a:br>
            <a:r>
              <a:rPr lang="en-US" sz="4800" b="1">
                <a:solidFill>
                  <a:schemeClr val="bg1"/>
                </a:solidFill>
              </a:rPr>
              <a:t>Advantages &amp; Limitations</a:t>
            </a:r>
            <a:br>
              <a:rPr lang="en-US" sz="4800" b="1">
                <a:solidFill>
                  <a:schemeClr val="bg1"/>
                </a:solidFill>
              </a:rPr>
            </a:br>
            <a:br>
              <a:rPr lang="en-US" sz="4800" b="1">
                <a:solidFill>
                  <a:schemeClr val="bg1"/>
                </a:solidFill>
              </a:rPr>
            </a:br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B2115-64DD-FCF4-3237-6C31A5D88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Very easy to use – no setup or key management required.</a:t>
            </a:r>
          </a:p>
          <a:p>
            <a:r>
              <a:rPr lang="en-US" sz="1800" dirty="0">
                <a:solidFill>
                  <a:schemeClr val="tx2"/>
                </a:solidFill>
              </a:rPr>
              <a:t>No extra cost because AWS KMS is not involved.</a:t>
            </a:r>
          </a:p>
          <a:p>
            <a:r>
              <a:rPr lang="en-US" sz="1800" dirty="0">
                <a:solidFill>
                  <a:schemeClr val="tx2"/>
                </a:solidFill>
              </a:rPr>
              <a:t>Encryption and decryption are fully automatic.</a:t>
            </a:r>
          </a:p>
          <a:p>
            <a:r>
              <a:rPr lang="en-US" sz="1800" dirty="0">
                <a:solidFill>
                  <a:schemeClr val="tx2"/>
                </a:solidFill>
              </a:rPr>
              <a:t>Supported in S3 console, CLI, and SDKs.</a:t>
            </a:r>
          </a:p>
          <a:p>
            <a:r>
              <a:rPr lang="en-US" sz="1800" b="1" dirty="0">
                <a:solidFill>
                  <a:schemeClr val="tx2"/>
                </a:solidFill>
              </a:rPr>
              <a:t>Limitations:</a:t>
            </a:r>
          </a:p>
          <a:p>
            <a:r>
              <a:rPr lang="en-US" sz="1800" dirty="0">
                <a:solidFill>
                  <a:schemeClr val="tx2"/>
                </a:solidFill>
              </a:rPr>
              <a:t>You have no control over the encryption keys.</a:t>
            </a:r>
          </a:p>
          <a:p>
            <a:r>
              <a:rPr lang="en-US" sz="1800" dirty="0">
                <a:solidFill>
                  <a:schemeClr val="tx2"/>
                </a:solidFill>
              </a:rPr>
              <a:t>No audit trail or CloudTrail logs for key usage.</a:t>
            </a:r>
          </a:p>
          <a:p>
            <a:r>
              <a:rPr lang="en-US" sz="1800" dirty="0">
                <a:solidFill>
                  <a:schemeClr val="tx2"/>
                </a:solidFill>
              </a:rPr>
              <a:t>Not sufficient for strict compliance or regulated industries</a:t>
            </a:r>
          </a:p>
          <a:p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485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67AD-6B9E-A22A-171F-6B27D583D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 Cases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9E713-8BAB-31ED-BB0C-8633A962F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or general-purpose data storage.</a:t>
            </a:r>
          </a:p>
          <a:p>
            <a:r>
              <a:rPr lang="en-US" dirty="0"/>
              <a:t>Public or static website content (images, HTML, CSS, JS).</a:t>
            </a:r>
          </a:p>
          <a:p>
            <a:r>
              <a:rPr lang="en-US" dirty="0"/>
              <a:t>Application logs or backups where advanced key control is unnecessary.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Hosting a static website on S3  store HTML, CSS, and images encrypted with SSE-S3 for basic protection.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768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F651F3-4077-BF56-5497-2B39527F5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Summary Table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8F859C-D418-0404-EC3A-E011456B9D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5150918"/>
              </p:ext>
            </p:extLst>
          </p:nvPr>
        </p:nvGraphicFramePr>
        <p:xfrm>
          <a:off x="5922492" y="1136986"/>
          <a:ext cx="5536002" cy="4525275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2485570">
                  <a:extLst>
                    <a:ext uri="{9D8B030D-6E8A-4147-A177-3AD203B41FA5}">
                      <a16:colId xmlns:a16="http://schemas.microsoft.com/office/drawing/2014/main" val="2649668513"/>
                    </a:ext>
                  </a:extLst>
                </a:gridCol>
                <a:gridCol w="3050432">
                  <a:extLst>
                    <a:ext uri="{9D8B030D-6E8A-4147-A177-3AD203B41FA5}">
                      <a16:colId xmlns:a16="http://schemas.microsoft.com/office/drawing/2014/main" val="1667485053"/>
                    </a:ext>
                  </a:extLst>
                </a:gridCol>
              </a:tblGrid>
              <a:tr h="603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marL="165870" marR="217084" marT="127592" marB="12759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marL="165870" marR="217084" marT="127592" marB="12759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147895"/>
                  </a:ext>
                </a:extLst>
              </a:tr>
              <a:tr h="603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bg1"/>
                          </a:solidFill>
                        </a:rPr>
                        <a:t>Algorithm</a:t>
                      </a:r>
                    </a:p>
                  </a:txBody>
                  <a:tcPr marL="165870" marR="217084" marT="127592" marB="12759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bg1"/>
                          </a:solidFill>
                        </a:rPr>
                        <a:t>AES-256</a:t>
                      </a:r>
                    </a:p>
                  </a:txBody>
                  <a:tcPr marL="165870" marR="217084" marT="127592" marB="12759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38829"/>
                  </a:ext>
                </a:extLst>
              </a:tr>
              <a:tr h="603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bg1"/>
                          </a:solidFill>
                        </a:rPr>
                        <a:t>Key Management</a:t>
                      </a:r>
                    </a:p>
                  </a:txBody>
                  <a:tcPr marL="165870" marR="217084" marT="127592" marB="12759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bg1"/>
                          </a:solidFill>
                        </a:rPr>
                        <a:t>S3 handles everything</a:t>
                      </a:r>
                    </a:p>
                  </a:txBody>
                  <a:tcPr marL="165870" marR="217084" marT="127592" marB="12759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67289"/>
                  </a:ext>
                </a:extLst>
              </a:tr>
              <a:tr h="603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bg1"/>
                          </a:solidFill>
                        </a:rPr>
                        <a:t>Cost</a:t>
                      </a:r>
                    </a:p>
                  </a:txBody>
                  <a:tcPr marL="165870" marR="217084" marT="127592" marB="12759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bg1"/>
                          </a:solidFill>
                        </a:rPr>
                        <a:t>No extra cost</a:t>
                      </a:r>
                    </a:p>
                  </a:txBody>
                  <a:tcPr marL="165870" marR="217084" marT="127592" marB="12759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191705"/>
                  </a:ext>
                </a:extLst>
              </a:tr>
              <a:tr h="603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bg1"/>
                          </a:solidFill>
                        </a:rPr>
                        <a:t>Complexity</a:t>
                      </a:r>
                    </a:p>
                  </a:txBody>
                  <a:tcPr marL="165870" marR="217084" marT="127592" marB="12759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bg1"/>
                          </a:solidFill>
                        </a:rPr>
                        <a:t>Very low</a:t>
                      </a:r>
                    </a:p>
                  </a:txBody>
                  <a:tcPr marL="165870" marR="217084" marT="127592" marB="12759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236122"/>
                  </a:ext>
                </a:extLst>
              </a:tr>
              <a:tr h="603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bg1"/>
                          </a:solidFill>
                        </a:rPr>
                        <a:t>Security Level</a:t>
                      </a:r>
                    </a:p>
                  </a:txBody>
                  <a:tcPr marL="165870" marR="217084" marT="127592" marB="12759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bg1"/>
                          </a:solidFill>
                        </a:rPr>
                        <a:t>Basic</a:t>
                      </a:r>
                    </a:p>
                  </a:txBody>
                  <a:tcPr marL="165870" marR="217084" marT="127592" marB="12759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00922"/>
                  </a:ext>
                </a:extLst>
              </a:tr>
              <a:tr h="901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bg1"/>
                          </a:solidFill>
                        </a:rPr>
                        <a:t>Suitable For</a:t>
                      </a:r>
                    </a:p>
                  </a:txBody>
                  <a:tcPr marL="165870" marR="217084" marT="127592" marB="12759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bg1"/>
                          </a:solidFill>
                        </a:rPr>
                        <a:t>Non-sensitive or public data</a:t>
                      </a:r>
                    </a:p>
                  </a:txBody>
                  <a:tcPr marL="165870" marR="217084" marT="127592" marB="12759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443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9189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2A7BC-96B9-58C7-A9B9-870F28888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SSE-KMS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02D21E-0A4A-D655-6EE5-F52DA81E9C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738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1B0439-9C5B-AD75-924E-81C2FBBC6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8308"/>
            <a:ext cx="7188989" cy="1021424"/>
          </a:xfrm>
        </p:spPr>
        <p:txBody>
          <a:bodyPr anchor="b">
            <a:normAutofit/>
          </a:bodyPr>
          <a:lstStyle/>
          <a:p>
            <a:r>
              <a:rPr lang="en-US" sz="3100" b="1">
                <a:solidFill>
                  <a:schemeClr val="bg1"/>
                </a:solidFill>
              </a:rPr>
              <a:t>How It Works</a:t>
            </a:r>
            <a:br>
              <a:rPr lang="en-US" sz="3100" b="1">
                <a:solidFill>
                  <a:schemeClr val="bg1"/>
                </a:solidFill>
              </a:rPr>
            </a:br>
            <a:endParaRPr lang="en-US" sz="310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1440584"/>
            <a:ext cx="80271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7C2F6CE-0CF2-4DDD-85F5-96799A328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164811" y="6267491"/>
            <a:ext cx="80271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4EFE55D6-8ED8-13C5-B5D5-A5AE319601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8111785"/>
              </p:ext>
            </p:extLst>
          </p:nvPr>
        </p:nvGraphicFramePr>
        <p:xfrm>
          <a:off x="1411903" y="1715407"/>
          <a:ext cx="9407525" cy="424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6037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2C8736-99CF-5C88-A452-F8DBB8ECF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</a:rPr>
              <a:t>Key Management</a:t>
            </a:r>
            <a:br>
              <a:rPr lang="en-US" sz="4000" b="1" dirty="0">
                <a:solidFill>
                  <a:srgbClr val="FFFFFF"/>
                </a:solidFill>
              </a:rPr>
            </a:b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5D43E20-9620-1F8A-9C0E-237DC3E5C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b="1"/>
              <a:t>Key Management</a:t>
            </a:r>
          </a:p>
          <a:p>
            <a:r>
              <a:rPr lang="en-US" sz="2000"/>
              <a:t>AWS KMS is responsible for creating, storing, and managing encryption keys.</a:t>
            </a:r>
          </a:p>
          <a:p>
            <a:r>
              <a:rPr lang="en-US" sz="2000"/>
              <a:t>You can choose from:</a:t>
            </a:r>
          </a:p>
          <a:p>
            <a:pPr lvl="1"/>
            <a:r>
              <a:rPr lang="en-US" sz="2000"/>
              <a:t>AWS Managed Key (aws/s3) – default, simple option</a:t>
            </a:r>
          </a:p>
          <a:p>
            <a:pPr lvl="1"/>
            <a:r>
              <a:rPr lang="en-US" sz="2000"/>
              <a:t>Customer Managed Key (CMK) – full control, custom policy</a:t>
            </a:r>
            <a:br>
              <a:rPr lang="en-US" sz="2000"/>
            </a:br>
            <a:endParaRPr lang="en-US" sz="2000"/>
          </a:p>
          <a:p>
            <a:r>
              <a:rPr lang="en-US" sz="2000" b="1"/>
              <a:t> Required Permissions</a:t>
            </a:r>
          </a:p>
          <a:p>
            <a:r>
              <a:rPr lang="en-US" sz="2000"/>
              <a:t>To use SSE-KMS, your IAM role or user must have:</a:t>
            </a:r>
          </a:p>
          <a:p>
            <a:r>
              <a:rPr lang="en-US" sz="2000"/>
              <a:t>s3:PutObject, s3:GetObject (for S3 actions)</a:t>
            </a:r>
          </a:p>
          <a:p>
            <a:r>
              <a:rPr lang="en-US" sz="2000"/>
              <a:t>kms:Encrypt, kms:Decrypt, kms:GenerateDataKey (for KMS actions)</a:t>
            </a:r>
          </a:p>
          <a:p>
            <a:r>
              <a:rPr lang="en-US" sz="2000"/>
              <a:t>Without these, the operation will fail with AccessDenied errors.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029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D00114-7056-F33F-21F3-A9A8BAE55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br>
              <a:rPr lang="en-US" sz="2100" b="1">
                <a:solidFill>
                  <a:schemeClr val="bg1"/>
                </a:solidFill>
              </a:rPr>
            </a:br>
            <a:r>
              <a:rPr lang="en-US" sz="2100" b="1">
                <a:solidFill>
                  <a:schemeClr val="bg1"/>
                </a:solidFill>
              </a:rPr>
              <a:t>Advantages &amp; Disadvantages</a:t>
            </a:r>
            <a:br>
              <a:rPr lang="en-US" sz="2100" b="1">
                <a:solidFill>
                  <a:schemeClr val="bg1"/>
                </a:solidFill>
              </a:rPr>
            </a:br>
            <a:br>
              <a:rPr lang="en-US" sz="2100" b="1">
                <a:solidFill>
                  <a:schemeClr val="bg1"/>
                </a:solidFill>
              </a:rPr>
            </a:br>
            <a:endParaRPr lang="en-US" sz="2100">
              <a:solidFill>
                <a:schemeClr val="bg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A4132-FF2B-CBDD-0A15-50F25605E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en-US" sz="1900" b="1">
                <a:solidFill>
                  <a:schemeClr val="bg1"/>
                </a:solidFill>
              </a:rPr>
              <a:t>Advantages:</a:t>
            </a:r>
          </a:p>
          <a:p>
            <a:r>
              <a:rPr lang="en-US" sz="1900" b="1">
                <a:solidFill>
                  <a:schemeClr val="bg1"/>
                </a:solidFill>
              </a:rPr>
              <a:t>Full key control: </a:t>
            </a:r>
            <a:r>
              <a:rPr lang="en-US" sz="1900">
                <a:solidFill>
                  <a:schemeClr val="bg1"/>
                </a:solidFill>
              </a:rPr>
              <a:t>you choose who can use or manage the key.</a:t>
            </a:r>
          </a:p>
          <a:p>
            <a:r>
              <a:rPr lang="en-US" sz="1900" b="1">
                <a:solidFill>
                  <a:schemeClr val="bg1"/>
                </a:solidFill>
              </a:rPr>
              <a:t>Audit trail: </a:t>
            </a:r>
            <a:r>
              <a:rPr lang="en-US" sz="1900">
                <a:solidFill>
                  <a:schemeClr val="bg1"/>
                </a:solidFill>
              </a:rPr>
              <a:t>every encryption/decryption action is logged in AWS CloudTrail.</a:t>
            </a:r>
          </a:p>
          <a:p>
            <a:r>
              <a:rPr lang="en-US" sz="1900" b="1">
                <a:solidFill>
                  <a:schemeClr val="bg1"/>
                </a:solidFill>
              </a:rPr>
              <a:t>Key rotation: </a:t>
            </a:r>
            <a:r>
              <a:rPr lang="en-US" sz="1900">
                <a:solidFill>
                  <a:schemeClr val="bg1"/>
                </a:solidFill>
              </a:rPr>
              <a:t>you can automatically or manually rotate keys.</a:t>
            </a:r>
          </a:p>
          <a:p>
            <a:r>
              <a:rPr lang="en-US" sz="1900" b="1">
                <a:solidFill>
                  <a:schemeClr val="bg1"/>
                </a:solidFill>
              </a:rPr>
              <a:t>Granular access: </a:t>
            </a:r>
            <a:r>
              <a:rPr lang="en-US" sz="1900">
                <a:solidFill>
                  <a:schemeClr val="bg1"/>
                </a:solidFill>
              </a:rPr>
              <a:t>fine-grained IAM and KMS key policies possible.</a:t>
            </a:r>
          </a:p>
          <a:p>
            <a:r>
              <a:rPr lang="en-US" sz="1900" b="1">
                <a:solidFill>
                  <a:schemeClr val="bg1"/>
                </a:solidFill>
              </a:rPr>
              <a:t>Disadvantages:</a:t>
            </a:r>
          </a:p>
          <a:p>
            <a:r>
              <a:rPr lang="en-US" sz="1900">
                <a:solidFill>
                  <a:schemeClr val="bg1"/>
                </a:solidFill>
              </a:rPr>
              <a:t>Slight latency due to KMS calls on every operation.</a:t>
            </a:r>
          </a:p>
          <a:p>
            <a:r>
              <a:rPr lang="en-US" sz="1900">
                <a:solidFill>
                  <a:schemeClr val="bg1"/>
                </a:solidFill>
              </a:rPr>
              <a:t>Additional cost for KMS API requests (per 10,000 calls).</a:t>
            </a:r>
          </a:p>
          <a:p>
            <a:r>
              <a:rPr lang="en-US" sz="1900" b="1">
                <a:solidFill>
                  <a:schemeClr val="bg1"/>
                </a:solidFill>
              </a:rPr>
              <a:t>Complex permissions: </a:t>
            </a:r>
            <a:r>
              <a:rPr lang="en-US" sz="1900">
                <a:solidFill>
                  <a:schemeClr val="bg1"/>
                </a:solidFill>
              </a:rPr>
              <a:t>you must manage both S3 and KMS IAM policies.</a:t>
            </a:r>
          </a:p>
          <a:p>
            <a:endParaRPr lang="en-US" sz="190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53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AEF41-E019-06DD-18E0-0ACD4CC17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Use Cases</a:t>
            </a:r>
            <a:br>
              <a:rPr lang="en-US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AC5AB-EE6E-0316-CFDA-46C386606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200" dirty="0"/>
              <a:t>Use SSE-KMS when you need stronger security and compliance.</a:t>
            </a:r>
          </a:p>
          <a:p>
            <a:r>
              <a:rPr lang="en-US" sz="2200" b="1" dirty="0"/>
              <a:t>Common examples:</a:t>
            </a:r>
          </a:p>
          <a:p>
            <a:r>
              <a:rPr lang="en-US" sz="2200" dirty="0"/>
              <a:t>Sensitive business data</a:t>
            </a:r>
          </a:p>
          <a:p>
            <a:r>
              <a:rPr lang="en-US" sz="2200" dirty="0"/>
              <a:t>Customer PII (Personally Identifiable Information)</a:t>
            </a:r>
          </a:p>
          <a:p>
            <a:r>
              <a:rPr lang="en-US" sz="2200" dirty="0"/>
              <a:t>Financial reports and invoices</a:t>
            </a:r>
          </a:p>
          <a:p>
            <a:r>
              <a:rPr lang="en-US" sz="2200" dirty="0"/>
              <a:t>Legal or healthcare documents</a:t>
            </a:r>
          </a:p>
          <a:p>
            <a:r>
              <a:rPr lang="en-US" sz="2200" b="1" dirty="0"/>
              <a:t>Example:</a:t>
            </a:r>
            <a:br>
              <a:rPr lang="en-US" sz="2200" dirty="0"/>
            </a:br>
            <a:r>
              <a:rPr lang="en-US" sz="2200" dirty="0"/>
              <a:t>Ali uploads confidential invoices to an S3 bucket.</a:t>
            </a:r>
            <a:br>
              <a:rPr lang="en-US" sz="2200" dirty="0"/>
            </a:br>
            <a:r>
              <a:rPr lang="en-US" sz="2200" dirty="0"/>
              <a:t>He enables SSE-KMS so that:</a:t>
            </a:r>
          </a:p>
          <a:p>
            <a:r>
              <a:rPr lang="en-US" sz="2200" dirty="0"/>
              <a:t>The data is encrypted with his company’s KMS CMK.</a:t>
            </a:r>
          </a:p>
          <a:p>
            <a:r>
              <a:rPr lang="en-US" sz="2200" dirty="0"/>
              <a:t>Every decryption event is logged in CloudTrail.</a:t>
            </a:r>
          </a:p>
          <a:p>
            <a:r>
              <a:rPr lang="en-US" sz="2200" dirty="0"/>
              <a:t>Only authorized IAM users can decrypt the files.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65713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C0740-434B-EBB1-23A9-4F2DECDBB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DSSE-KMS </a:t>
            </a:r>
            <a:endParaRPr lang="en-US" dirty="0"/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8C42248F-CA61-7D6E-64B8-392379082CC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3650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F74A04-DB8C-0ADF-F644-8D3017576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2800" b="1">
                <a:solidFill>
                  <a:schemeClr val="bg1"/>
                </a:solidFill>
              </a:rPr>
              <a:t>How It Works</a:t>
            </a:r>
            <a:br>
              <a:rPr lang="en-US" sz="2800" b="1">
                <a:solidFill>
                  <a:schemeClr val="bg1"/>
                </a:solidFill>
              </a:rPr>
            </a:b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2A831-D3B6-01B1-1A1E-A5A42DAC7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 dirty="0"/>
              <a:t>User uploads an object to an S3 bucket with DSSE-KMS enabled.</a:t>
            </a:r>
          </a:p>
          <a:p>
            <a:r>
              <a:rPr lang="en-US" sz="2400" dirty="0"/>
              <a:t>Amazon S3 requests two different data keys (DEKs) from AWS KMS one for each encryption layer.</a:t>
            </a:r>
          </a:p>
          <a:p>
            <a:r>
              <a:rPr lang="en-US" sz="2400" dirty="0"/>
              <a:t>The object is encrypted first with the first DEK,</a:t>
            </a:r>
            <a:br>
              <a:rPr lang="en-US" sz="2400" dirty="0"/>
            </a:br>
            <a:r>
              <a:rPr lang="en-US" sz="2400" dirty="0"/>
              <a:t>and then the already encrypted data is encrypted again with the second DEK.</a:t>
            </a:r>
          </a:p>
          <a:p>
            <a:r>
              <a:rPr lang="en-US" sz="2400" dirty="0"/>
              <a:t>Both keys are protected by different KMS master keys (CMKs).</a:t>
            </a:r>
          </a:p>
          <a:p>
            <a:r>
              <a:rPr lang="en-US" sz="2400" dirty="0"/>
              <a:t>When you download or access the object,</a:t>
            </a:r>
            <a:br>
              <a:rPr lang="en-US" sz="2400" dirty="0"/>
            </a:br>
            <a:r>
              <a:rPr lang="en-US" sz="2400" dirty="0"/>
              <a:t>S3 automatically performs double decryption using both KMS keys in reverse order.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7464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B45A1-9FF5-297A-F344-0F1BD39E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>
                <a:solidFill>
                  <a:schemeClr val="tx2"/>
                </a:solidFill>
              </a:rPr>
              <a:t>Why Two Layers?</a:t>
            </a:r>
            <a:br>
              <a:rPr lang="en-US" sz="3600" b="1">
                <a:solidFill>
                  <a:schemeClr val="tx2"/>
                </a:solidFill>
              </a:rPr>
            </a:br>
            <a:endParaRPr lang="en-US" sz="3600">
              <a:solidFill>
                <a:schemeClr val="tx2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993DB-50E6-D386-6F3A-3A1EA399B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The dual-layer encryption ensures:</a:t>
            </a:r>
          </a:p>
          <a:p>
            <a:r>
              <a:rPr lang="en-US" sz="1800" dirty="0">
                <a:solidFill>
                  <a:schemeClr val="tx2"/>
                </a:solidFill>
              </a:rPr>
              <a:t>Even if one key is compromised, the data is still encrypted by the second key.</a:t>
            </a:r>
          </a:p>
          <a:p>
            <a:r>
              <a:rPr lang="en-US" sz="1800" dirty="0">
                <a:solidFill>
                  <a:schemeClr val="tx2"/>
                </a:solidFill>
              </a:rPr>
              <a:t>Meets regulatory requirements like FIPS 140-2, CJIS, or DoD 5220.22-M where multiple encryption layers are mandatory.</a:t>
            </a:r>
          </a:p>
          <a:p>
            <a:r>
              <a:rPr lang="en-US" sz="1800" dirty="0">
                <a:solidFill>
                  <a:schemeClr val="tx2"/>
                </a:solidFill>
              </a:rPr>
              <a:t>Provides independent encryption boundaries  both keys are controlled separately in AWS KMS.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1535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54DF33-42D9-2F9F-F246-BF92B151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br>
              <a:rPr lang="en-US" sz="2200" b="1"/>
            </a:br>
            <a:r>
              <a:rPr lang="en-US" sz="2200" b="1"/>
              <a:t>Advantages &amp; Disadvantages</a:t>
            </a:r>
            <a:br>
              <a:rPr lang="en-US" sz="2200" b="1"/>
            </a:br>
            <a:br>
              <a:rPr lang="en-US" sz="2200" b="1"/>
            </a:br>
            <a:endParaRPr lang="en-US" sz="2200"/>
          </a:p>
        </p:txBody>
      </p:sp>
      <p:sp>
        <p:nvSpPr>
          <p:cNvPr id="7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6C1228AC-84C8-3C7D-CAED-8F4914F28B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7718830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0878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F8587-CB8F-405C-CF68-8BA654567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Use Cases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5D97ADF-B28F-F179-C71B-1C8102909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1500" b="1"/>
              <a:t>Highly Sensitive Data</a:t>
            </a:r>
          </a:p>
          <a:p>
            <a:r>
              <a:rPr lang="en-US" sz="1500"/>
              <a:t>Used for critical or classified information such as military, financial, or government datasets.</a:t>
            </a:r>
          </a:p>
          <a:p>
            <a:r>
              <a:rPr lang="en-US" sz="1500"/>
              <a:t>DSSE-KMS applies two separate KMS encryption keys, ensuring data protection even if one key is compromised.</a:t>
            </a:r>
          </a:p>
          <a:p>
            <a:r>
              <a:rPr lang="en-US" sz="1500" b="1"/>
              <a:t>Example:</a:t>
            </a:r>
            <a:br>
              <a:rPr lang="en-US" sz="1500"/>
            </a:br>
            <a:r>
              <a:rPr lang="en-US" sz="1500"/>
              <a:t>Government defense department stores confidential satellite data in an S3 bucket.</a:t>
            </a:r>
          </a:p>
          <a:p>
            <a:pPr lvl="1"/>
            <a:r>
              <a:rPr lang="en-US" sz="1500"/>
              <a:t>Key 1: Managed by AWS KMS</a:t>
            </a:r>
          </a:p>
          <a:p>
            <a:pPr lvl="1"/>
            <a:r>
              <a:rPr lang="en-US" sz="1500"/>
              <a:t>Key 2: Managed by the internal government security authority</a:t>
            </a:r>
            <a:br>
              <a:rPr lang="en-US" sz="1500"/>
            </a:br>
            <a:r>
              <a:rPr lang="en-US" sz="1500"/>
              <a:t>➤ Result: No single entity can decrypt or access the raw data.</a:t>
            </a:r>
          </a:p>
          <a:p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853795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C1B0-2F63-B13E-815E-EB7747E23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000" b="1" dirty="0"/>
              <a:t>Compliance Requirements</a:t>
            </a:r>
          </a:p>
          <a:p>
            <a:r>
              <a:rPr lang="en-US" sz="2000" dirty="0"/>
              <a:t>Many industries are bound by strict legal or security frameworks that require multiple encryption layers.</a:t>
            </a:r>
          </a:p>
          <a:p>
            <a:r>
              <a:rPr lang="en-US" sz="2000" dirty="0"/>
              <a:t>DSSE-KMS meets or exceeds standards such as:</a:t>
            </a:r>
          </a:p>
          <a:p>
            <a:pPr lvl="1"/>
            <a:r>
              <a:rPr lang="en-US" sz="2000" dirty="0"/>
              <a:t>FIPS 140-2 Level 3 (U.S. encryption certification)</a:t>
            </a:r>
          </a:p>
          <a:p>
            <a:pPr lvl="1"/>
            <a:r>
              <a:rPr lang="en-US" sz="2000" dirty="0"/>
              <a:t>CJIS (Criminal Justice Information Services for law enforcement)</a:t>
            </a:r>
          </a:p>
          <a:p>
            <a:pPr lvl="1"/>
            <a:r>
              <a:rPr lang="en-US" sz="2000" dirty="0"/>
              <a:t>GDPR+ (EU privacy compliance)</a:t>
            </a:r>
          </a:p>
          <a:p>
            <a:r>
              <a:rPr lang="en-US" sz="2000" b="1" dirty="0"/>
              <a:t>Example:</a:t>
            </a:r>
            <a:br>
              <a:rPr lang="en-US" sz="2000" dirty="0"/>
            </a:br>
            <a:r>
              <a:rPr lang="en-US" sz="2000" dirty="0"/>
              <a:t>A European healthcare company stores patient health records in S3 with DSSE-KMS to comply with GDPR and healthcare security policies.</a:t>
            </a:r>
            <a:br>
              <a:rPr lang="en-US" sz="2000" dirty="0"/>
            </a:br>
            <a:r>
              <a:rPr lang="en-US" sz="2000" dirty="0"/>
              <a:t>➤ Provides double assurance and audit-ready protection.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87018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85311-816E-7864-BD94-33C89BFF4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b="1"/>
              <a:t>Amazon S3 Bucket Key</a:t>
            </a:r>
            <a:br>
              <a:rPr lang="en-US" sz="4200" b="1"/>
            </a:br>
            <a:endParaRPr lang="en-US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9C230F3-A307-FF3E-2A15-335863F1E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Purpose</a:t>
            </a:r>
          </a:p>
          <a:p>
            <a:r>
              <a:rPr lang="en-US" sz="2200"/>
              <a:t>An S3 Bucket Key helps reduce encryption costs and improve performance when using SSE-KMS (Server-Side Encryption with AWS KMS keys).</a:t>
            </a:r>
          </a:p>
          <a:p>
            <a:r>
              <a:rPr lang="en-US" sz="2200"/>
              <a:t>Normally, when S3 encrypts each object with SSE-KMS, it makes a separate API call to AWS KMS for every upload or read which can become expensive for large-scale operations.</a:t>
            </a:r>
          </a:p>
          <a:p>
            <a:r>
              <a:rPr lang="en-US" sz="2200"/>
              <a:t>With a Bucket Key, S3 requests a unique key once per bucket (per region) and reuses it for multiple objects.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506619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23590-F5D5-EA9C-299F-3393D8459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 b="1"/>
              <a:t>How It Works</a:t>
            </a:r>
            <a:br>
              <a:rPr lang="en-US" sz="5400" b="1"/>
            </a:br>
            <a:endParaRPr 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A2849A-31D0-B445-9170-EB5B4248B6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726645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2823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1E5539EC-8CB8-002F-68C6-678840282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C5D55A6-9EFD-CDA3-20CC-A99812CE1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5B6E73B-6DFD-AE6C-1628-DF8DC30085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0E00FC4-DDBC-F424-CF71-73AF7A28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FDBA01F-F5A8-3761-5E45-C042B20EA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Cost &amp; Performance Benefits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871DF7-06C6-9C5C-47C8-3533D20178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7422691"/>
              </p:ext>
            </p:extLst>
          </p:nvPr>
        </p:nvGraphicFramePr>
        <p:xfrm>
          <a:off x="876690" y="2195229"/>
          <a:ext cx="10439011" cy="3776094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3229948">
                  <a:extLst>
                    <a:ext uri="{9D8B030D-6E8A-4147-A177-3AD203B41FA5}">
                      <a16:colId xmlns:a16="http://schemas.microsoft.com/office/drawing/2014/main" val="2028981693"/>
                    </a:ext>
                  </a:extLst>
                </a:gridCol>
                <a:gridCol w="3476868">
                  <a:extLst>
                    <a:ext uri="{9D8B030D-6E8A-4147-A177-3AD203B41FA5}">
                      <a16:colId xmlns:a16="http://schemas.microsoft.com/office/drawing/2014/main" val="461990024"/>
                    </a:ext>
                  </a:extLst>
                </a:gridCol>
                <a:gridCol w="3732195">
                  <a:extLst>
                    <a:ext uri="{9D8B030D-6E8A-4147-A177-3AD203B41FA5}">
                      <a16:colId xmlns:a16="http://schemas.microsoft.com/office/drawing/2014/main" val="688531380"/>
                    </a:ext>
                  </a:extLst>
                </a:gridCol>
              </a:tblGrid>
              <a:tr h="683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cap="none" spc="0">
                          <a:solidFill>
                            <a:schemeClr val="tx1"/>
                          </a:solidFill>
                        </a:rPr>
                        <a:t>Setting</a:t>
                      </a:r>
                    </a:p>
                  </a:txBody>
                  <a:tcPr marL="194626" marR="149713" marT="149713" marB="14971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cap="none" spc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194626" marR="149713" marT="149713" marB="1497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cap="none" spc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 marL="194626" marR="149713" marT="149713" marB="1497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248618"/>
                  </a:ext>
                </a:extLst>
              </a:tr>
              <a:tr h="1030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cap="none" spc="0">
                          <a:solidFill>
                            <a:schemeClr val="tx1"/>
                          </a:solidFill>
                        </a:rPr>
                        <a:t>Enable Bucket Key</a:t>
                      </a:r>
                      <a:endParaRPr lang="en-US" sz="2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94626" marR="149713" marT="149713" marB="14971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S3 reuses one key per bucket</a:t>
                      </a:r>
                    </a:p>
                  </a:txBody>
                  <a:tcPr marL="194626" marR="149713" marT="149713" marB="1497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Reduced KMS cost, Faster operations</a:t>
                      </a:r>
                    </a:p>
                  </a:txBody>
                  <a:tcPr marL="194626" marR="149713" marT="149713" marB="1497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462660"/>
                  </a:ext>
                </a:extLst>
              </a:tr>
              <a:tr h="1030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cap="none" spc="0">
                          <a:solidFill>
                            <a:schemeClr val="tx1"/>
                          </a:solidFill>
                        </a:rPr>
                        <a:t>Disable Bucket Key</a:t>
                      </a:r>
                      <a:endParaRPr lang="en-US" sz="2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94626" marR="149713" marT="149713" marB="14971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S3 calls KMS for every object</a:t>
                      </a:r>
                    </a:p>
                  </a:txBody>
                  <a:tcPr marL="194626" marR="149713" marT="149713" marB="1497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Higher KMS cost, slower encryption</a:t>
                      </a:r>
                    </a:p>
                  </a:txBody>
                  <a:tcPr marL="194626" marR="149713" marT="149713" marB="1497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869903"/>
                  </a:ext>
                </a:extLst>
              </a:tr>
              <a:tr h="1030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cap="none" spc="0">
                          <a:solidFill>
                            <a:schemeClr val="tx1"/>
                          </a:solidFill>
                        </a:rPr>
                        <a:t>DSSE-KMS</a:t>
                      </a:r>
                      <a:endParaRPr lang="en-US" sz="2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94626" marR="149713" marT="149713" marB="14971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Not supported</a:t>
                      </a:r>
                    </a:p>
                  </a:txBody>
                  <a:tcPr marL="194626" marR="149713" marT="149713" marB="1497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 Bucket Key cannot be used</a:t>
                      </a:r>
                    </a:p>
                  </a:txBody>
                  <a:tcPr marL="194626" marR="149713" marT="149713" marB="1497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16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810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1360</Words>
  <Application>Microsoft Office PowerPoint</Application>
  <PresentationFormat>Widescreen</PresentationFormat>
  <Paragraphs>141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Amazon S3– Security</vt:lpstr>
      <vt:lpstr>1.SSE-S3 </vt:lpstr>
      <vt:lpstr>How It Works </vt:lpstr>
      <vt:lpstr> Advantages &amp; Limitations  </vt:lpstr>
      <vt:lpstr>Use Cases </vt:lpstr>
      <vt:lpstr>Summary Table</vt:lpstr>
      <vt:lpstr>2. SSE-KMS</vt:lpstr>
      <vt:lpstr>How It Works </vt:lpstr>
      <vt:lpstr>Key Management </vt:lpstr>
      <vt:lpstr> Advantages &amp; Disadvantages  </vt:lpstr>
      <vt:lpstr>Use Cases </vt:lpstr>
      <vt:lpstr>3. DSSE-KMS </vt:lpstr>
      <vt:lpstr>How It Works </vt:lpstr>
      <vt:lpstr>Why Two Layers? </vt:lpstr>
      <vt:lpstr> Advantages &amp; Disadvantages  </vt:lpstr>
      <vt:lpstr>Use Cases</vt:lpstr>
      <vt:lpstr>PowerPoint Presentation</vt:lpstr>
      <vt:lpstr>Amazon S3 Bucket Key </vt:lpstr>
      <vt:lpstr>How It Works </vt:lpstr>
      <vt:lpstr>Cost &amp; Performance Benefits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Ullah</dc:creator>
  <cp:lastModifiedBy>Adnan Ullah</cp:lastModifiedBy>
  <cp:revision>3</cp:revision>
  <dcterms:created xsi:type="dcterms:W3CDTF">2025-10-24T06:02:22Z</dcterms:created>
  <dcterms:modified xsi:type="dcterms:W3CDTF">2025-10-24T12:49:24Z</dcterms:modified>
</cp:coreProperties>
</file>