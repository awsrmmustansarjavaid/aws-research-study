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238F1E-0E42-4856-B338-C0049154DDD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00C9788-2F38-46B3-81FF-29136DD1BB4D}">
      <dgm:prSet/>
      <dgm:spPr/>
      <dgm:t>
        <a:bodyPr/>
        <a:lstStyle/>
        <a:p>
          <a:r>
            <a:rPr lang="en-US" b="1"/>
            <a:t>What Are They?</a:t>
          </a:r>
          <a:endParaRPr lang="en-US"/>
        </a:p>
      </dgm:t>
    </dgm:pt>
    <dgm:pt modelId="{CF72BBE4-8487-428B-A08B-6A267F1F230D}" type="parTrans" cxnId="{B4B12405-7E06-4E6E-8DE9-762F4D963639}">
      <dgm:prSet/>
      <dgm:spPr/>
      <dgm:t>
        <a:bodyPr/>
        <a:lstStyle/>
        <a:p>
          <a:endParaRPr lang="en-US"/>
        </a:p>
      </dgm:t>
    </dgm:pt>
    <dgm:pt modelId="{0BBF8B08-70E3-4D3F-9D28-83BF3F036C7F}" type="sibTrans" cxnId="{B4B12405-7E06-4E6E-8DE9-762F4D963639}">
      <dgm:prSet/>
      <dgm:spPr/>
      <dgm:t>
        <a:bodyPr/>
        <a:lstStyle/>
        <a:p>
          <a:endParaRPr lang="en-US"/>
        </a:p>
      </dgm:t>
    </dgm:pt>
    <dgm:pt modelId="{153CB80C-3445-43BF-AC34-33E3F688A72B}">
      <dgm:prSet/>
      <dgm:spPr/>
      <dgm:t>
        <a:bodyPr/>
        <a:lstStyle/>
        <a:p>
          <a:r>
            <a:rPr lang="en-US"/>
            <a:t>EC2 instances that run on hardware dedicated to your AWS account</a:t>
          </a:r>
        </a:p>
      </dgm:t>
    </dgm:pt>
    <dgm:pt modelId="{B0D79A97-5349-4309-B00F-43D7EEA8E40E}" type="parTrans" cxnId="{C42E4B53-D16C-4F6B-B4E3-31E095CD79AC}">
      <dgm:prSet/>
      <dgm:spPr/>
      <dgm:t>
        <a:bodyPr/>
        <a:lstStyle/>
        <a:p>
          <a:endParaRPr lang="en-US"/>
        </a:p>
      </dgm:t>
    </dgm:pt>
    <dgm:pt modelId="{D9070A31-A559-4888-8A0F-034CF40AC047}" type="sibTrans" cxnId="{C42E4B53-D16C-4F6B-B4E3-31E095CD79AC}">
      <dgm:prSet/>
      <dgm:spPr/>
      <dgm:t>
        <a:bodyPr/>
        <a:lstStyle/>
        <a:p>
          <a:endParaRPr lang="en-US"/>
        </a:p>
      </dgm:t>
    </dgm:pt>
    <dgm:pt modelId="{50BC804A-1864-4DD5-BB3F-60CD6F5B1CCE}">
      <dgm:prSet/>
      <dgm:spPr/>
      <dgm:t>
        <a:bodyPr/>
        <a:lstStyle/>
        <a:p>
          <a:r>
            <a:rPr lang="en-US"/>
            <a:t>However, other instances within your account may share the same physical host</a:t>
          </a:r>
        </a:p>
      </dgm:t>
    </dgm:pt>
    <dgm:pt modelId="{58523A89-2133-4196-9FA1-C0D6642AA26B}" type="parTrans" cxnId="{74E6C0E1-D58A-414E-B987-4F08E36C1B61}">
      <dgm:prSet/>
      <dgm:spPr/>
      <dgm:t>
        <a:bodyPr/>
        <a:lstStyle/>
        <a:p>
          <a:endParaRPr lang="en-US"/>
        </a:p>
      </dgm:t>
    </dgm:pt>
    <dgm:pt modelId="{DB1C107D-956E-469F-B09D-C993584A36AB}" type="sibTrans" cxnId="{74E6C0E1-D58A-414E-B987-4F08E36C1B61}">
      <dgm:prSet/>
      <dgm:spPr/>
      <dgm:t>
        <a:bodyPr/>
        <a:lstStyle/>
        <a:p>
          <a:endParaRPr lang="en-US"/>
        </a:p>
      </dgm:t>
    </dgm:pt>
    <dgm:pt modelId="{1C3172D7-9314-4DAE-B1B2-0CA522C7ACF7}">
      <dgm:prSet/>
      <dgm:spPr/>
      <dgm:t>
        <a:bodyPr/>
        <a:lstStyle/>
        <a:p>
          <a:r>
            <a:rPr lang="en-US" b="1" dirty="0"/>
            <a:t>Key Features</a:t>
          </a:r>
        </a:p>
      </dgm:t>
    </dgm:pt>
    <dgm:pt modelId="{DDD01D3B-D88F-4270-A930-EE443EABBF5A}" type="parTrans" cxnId="{A49B83EE-9FC7-410D-82EC-356A013A7310}">
      <dgm:prSet/>
      <dgm:spPr/>
      <dgm:t>
        <a:bodyPr/>
        <a:lstStyle/>
        <a:p>
          <a:endParaRPr lang="en-US"/>
        </a:p>
      </dgm:t>
    </dgm:pt>
    <dgm:pt modelId="{9EAC0D62-C3B7-412E-81A7-CA37D47BDB1E}" type="sibTrans" cxnId="{A49B83EE-9FC7-410D-82EC-356A013A7310}">
      <dgm:prSet/>
      <dgm:spPr/>
      <dgm:t>
        <a:bodyPr/>
        <a:lstStyle/>
        <a:p>
          <a:endParaRPr lang="en-US"/>
        </a:p>
      </dgm:t>
    </dgm:pt>
    <dgm:pt modelId="{4A4DE1EF-68AE-4872-ABCF-094EFF23B158}">
      <dgm:prSet/>
      <dgm:spPr/>
      <dgm:t>
        <a:bodyPr/>
        <a:lstStyle/>
        <a:p>
          <a:r>
            <a:rPr lang="en-US"/>
            <a:t>Isolated at the hardware level from other AWS customers</a:t>
          </a:r>
        </a:p>
      </dgm:t>
    </dgm:pt>
    <dgm:pt modelId="{96C93329-2AE9-42B2-81BA-284DBB9404B4}" type="parTrans" cxnId="{EE970AE9-6769-4983-9815-8F2FED8E5259}">
      <dgm:prSet/>
      <dgm:spPr/>
      <dgm:t>
        <a:bodyPr/>
        <a:lstStyle/>
        <a:p>
          <a:endParaRPr lang="en-US"/>
        </a:p>
      </dgm:t>
    </dgm:pt>
    <dgm:pt modelId="{ACE84A1E-0AFE-4684-932C-EFE3245BC6FA}" type="sibTrans" cxnId="{EE970AE9-6769-4983-9815-8F2FED8E5259}">
      <dgm:prSet/>
      <dgm:spPr/>
      <dgm:t>
        <a:bodyPr/>
        <a:lstStyle/>
        <a:p>
          <a:endParaRPr lang="en-US"/>
        </a:p>
      </dgm:t>
    </dgm:pt>
    <dgm:pt modelId="{37E37A17-9BB2-4BE3-B4F7-56D85F28964F}">
      <dgm:prSet/>
      <dgm:spPr/>
      <dgm:t>
        <a:bodyPr/>
        <a:lstStyle/>
        <a:p>
          <a:r>
            <a:rPr lang="en-US"/>
            <a:t>You don’t control where the instance is placed</a:t>
          </a:r>
        </a:p>
      </dgm:t>
    </dgm:pt>
    <dgm:pt modelId="{4A281298-5502-41B5-93FD-4D5B8696A6E1}" type="parTrans" cxnId="{CF40B4EA-F1C3-4BCB-A99D-55D9489C5729}">
      <dgm:prSet/>
      <dgm:spPr/>
      <dgm:t>
        <a:bodyPr/>
        <a:lstStyle/>
        <a:p>
          <a:endParaRPr lang="en-US"/>
        </a:p>
      </dgm:t>
    </dgm:pt>
    <dgm:pt modelId="{B1BC3885-69DF-438F-97A7-36F23C6608ED}" type="sibTrans" cxnId="{CF40B4EA-F1C3-4BCB-A99D-55D9489C5729}">
      <dgm:prSet/>
      <dgm:spPr/>
      <dgm:t>
        <a:bodyPr/>
        <a:lstStyle/>
        <a:p>
          <a:endParaRPr lang="en-US"/>
        </a:p>
      </dgm:t>
    </dgm:pt>
    <dgm:pt modelId="{50ED57A7-FAF1-4918-B09E-529B8E3C2A21}">
      <dgm:prSet/>
      <dgm:spPr/>
      <dgm:t>
        <a:bodyPr/>
        <a:lstStyle/>
        <a:p>
          <a:r>
            <a:rPr lang="en-US"/>
            <a:t>If you stop/start the instance, placement may change</a:t>
          </a:r>
        </a:p>
      </dgm:t>
    </dgm:pt>
    <dgm:pt modelId="{AC5E79B8-2CAA-41B7-B46D-B7927C834A18}" type="parTrans" cxnId="{A5670DE6-4EB0-4980-A68F-4595BD1A87A5}">
      <dgm:prSet/>
      <dgm:spPr/>
      <dgm:t>
        <a:bodyPr/>
        <a:lstStyle/>
        <a:p>
          <a:endParaRPr lang="en-US"/>
        </a:p>
      </dgm:t>
    </dgm:pt>
    <dgm:pt modelId="{EE940A4C-E919-477D-A737-1FF6FA35F0AE}" type="sibTrans" cxnId="{A5670DE6-4EB0-4980-A68F-4595BD1A87A5}">
      <dgm:prSet/>
      <dgm:spPr/>
      <dgm:t>
        <a:bodyPr/>
        <a:lstStyle/>
        <a:p>
          <a:endParaRPr lang="en-US"/>
        </a:p>
      </dgm:t>
    </dgm:pt>
    <dgm:pt modelId="{9762F4FF-2E87-4F34-A31E-9B1BBC51FA40}" type="pres">
      <dgm:prSet presAssocID="{02238F1E-0E42-4856-B338-C0049154DDDF}" presName="vert0" presStyleCnt="0">
        <dgm:presLayoutVars>
          <dgm:dir/>
          <dgm:animOne val="branch"/>
          <dgm:animLvl val="lvl"/>
        </dgm:presLayoutVars>
      </dgm:prSet>
      <dgm:spPr/>
    </dgm:pt>
    <dgm:pt modelId="{A45D5AC7-B967-4223-9124-9C4A34DAB7B8}" type="pres">
      <dgm:prSet presAssocID="{300C9788-2F38-46B3-81FF-29136DD1BB4D}" presName="thickLine" presStyleLbl="alignNode1" presStyleIdx="0" presStyleCnt="7"/>
      <dgm:spPr/>
    </dgm:pt>
    <dgm:pt modelId="{A531BC3F-BA82-405F-97FB-8D42BC054EDB}" type="pres">
      <dgm:prSet presAssocID="{300C9788-2F38-46B3-81FF-29136DD1BB4D}" presName="horz1" presStyleCnt="0"/>
      <dgm:spPr/>
    </dgm:pt>
    <dgm:pt modelId="{17D791F6-8A8C-44E4-A176-68B9C8921DB5}" type="pres">
      <dgm:prSet presAssocID="{300C9788-2F38-46B3-81FF-29136DD1BB4D}" presName="tx1" presStyleLbl="revTx" presStyleIdx="0" presStyleCnt="7"/>
      <dgm:spPr/>
    </dgm:pt>
    <dgm:pt modelId="{66998CD6-5603-49ED-965F-0192738E1B0A}" type="pres">
      <dgm:prSet presAssocID="{300C9788-2F38-46B3-81FF-29136DD1BB4D}" presName="vert1" presStyleCnt="0"/>
      <dgm:spPr/>
    </dgm:pt>
    <dgm:pt modelId="{8531E42C-5FA8-47EE-9601-B182932F2368}" type="pres">
      <dgm:prSet presAssocID="{153CB80C-3445-43BF-AC34-33E3F688A72B}" presName="thickLine" presStyleLbl="alignNode1" presStyleIdx="1" presStyleCnt="7"/>
      <dgm:spPr/>
    </dgm:pt>
    <dgm:pt modelId="{A2372189-BFEE-40B7-BF78-FF96F83DC996}" type="pres">
      <dgm:prSet presAssocID="{153CB80C-3445-43BF-AC34-33E3F688A72B}" presName="horz1" presStyleCnt="0"/>
      <dgm:spPr/>
    </dgm:pt>
    <dgm:pt modelId="{905AF35D-E399-4EF2-A5CE-E0D63F231354}" type="pres">
      <dgm:prSet presAssocID="{153CB80C-3445-43BF-AC34-33E3F688A72B}" presName="tx1" presStyleLbl="revTx" presStyleIdx="1" presStyleCnt="7"/>
      <dgm:spPr/>
    </dgm:pt>
    <dgm:pt modelId="{48765E74-8051-4173-8643-DE5C9836EA76}" type="pres">
      <dgm:prSet presAssocID="{153CB80C-3445-43BF-AC34-33E3F688A72B}" presName="vert1" presStyleCnt="0"/>
      <dgm:spPr/>
    </dgm:pt>
    <dgm:pt modelId="{2ADC1B31-63F1-4749-9BBE-569B1B90E9AE}" type="pres">
      <dgm:prSet presAssocID="{50BC804A-1864-4DD5-BB3F-60CD6F5B1CCE}" presName="thickLine" presStyleLbl="alignNode1" presStyleIdx="2" presStyleCnt="7"/>
      <dgm:spPr/>
    </dgm:pt>
    <dgm:pt modelId="{D62F52BA-2BE0-440E-A7C7-C8DAC84024D1}" type="pres">
      <dgm:prSet presAssocID="{50BC804A-1864-4DD5-BB3F-60CD6F5B1CCE}" presName="horz1" presStyleCnt="0"/>
      <dgm:spPr/>
    </dgm:pt>
    <dgm:pt modelId="{8FB2C64F-2899-4E2B-8458-A017801A4171}" type="pres">
      <dgm:prSet presAssocID="{50BC804A-1864-4DD5-BB3F-60CD6F5B1CCE}" presName="tx1" presStyleLbl="revTx" presStyleIdx="2" presStyleCnt="7"/>
      <dgm:spPr/>
    </dgm:pt>
    <dgm:pt modelId="{C4D40BCB-D6D4-41F9-9B38-6DD852B5755A}" type="pres">
      <dgm:prSet presAssocID="{50BC804A-1864-4DD5-BB3F-60CD6F5B1CCE}" presName="vert1" presStyleCnt="0"/>
      <dgm:spPr/>
    </dgm:pt>
    <dgm:pt modelId="{284E9A56-E4C3-42B0-BBC5-F4932A458CBE}" type="pres">
      <dgm:prSet presAssocID="{1C3172D7-9314-4DAE-B1B2-0CA522C7ACF7}" presName="thickLine" presStyleLbl="alignNode1" presStyleIdx="3" presStyleCnt="7"/>
      <dgm:spPr/>
    </dgm:pt>
    <dgm:pt modelId="{6556D5F0-6870-4532-8C1A-F89A8F3AFB43}" type="pres">
      <dgm:prSet presAssocID="{1C3172D7-9314-4DAE-B1B2-0CA522C7ACF7}" presName="horz1" presStyleCnt="0"/>
      <dgm:spPr/>
    </dgm:pt>
    <dgm:pt modelId="{3ACBAB9B-C850-4D34-B9D5-03F9ECACDE67}" type="pres">
      <dgm:prSet presAssocID="{1C3172D7-9314-4DAE-B1B2-0CA522C7ACF7}" presName="tx1" presStyleLbl="revTx" presStyleIdx="3" presStyleCnt="7"/>
      <dgm:spPr/>
    </dgm:pt>
    <dgm:pt modelId="{F9FFA58F-6BE6-408F-8F42-1F528913789C}" type="pres">
      <dgm:prSet presAssocID="{1C3172D7-9314-4DAE-B1B2-0CA522C7ACF7}" presName="vert1" presStyleCnt="0"/>
      <dgm:spPr/>
    </dgm:pt>
    <dgm:pt modelId="{E0F3BC65-6F80-48C6-81FC-12CDB68654F5}" type="pres">
      <dgm:prSet presAssocID="{4A4DE1EF-68AE-4872-ABCF-094EFF23B158}" presName="thickLine" presStyleLbl="alignNode1" presStyleIdx="4" presStyleCnt="7"/>
      <dgm:spPr/>
    </dgm:pt>
    <dgm:pt modelId="{9D06BBFF-292D-499C-9079-7E872DFB7B88}" type="pres">
      <dgm:prSet presAssocID="{4A4DE1EF-68AE-4872-ABCF-094EFF23B158}" presName="horz1" presStyleCnt="0"/>
      <dgm:spPr/>
    </dgm:pt>
    <dgm:pt modelId="{4716520E-B25A-485E-B29C-8ED461008030}" type="pres">
      <dgm:prSet presAssocID="{4A4DE1EF-68AE-4872-ABCF-094EFF23B158}" presName="tx1" presStyleLbl="revTx" presStyleIdx="4" presStyleCnt="7"/>
      <dgm:spPr/>
    </dgm:pt>
    <dgm:pt modelId="{97440502-06FD-4A0C-9CEB-D3E481325986}" type="pres">
      <dgm:prSet presAssocID="{4A4DE1EF-68AE-4872-ABCF-094EFF23B158}" presName="vert1" presStyleCnt="0"/>
      <dgm:spPr/>
    </dgm:pt>
    <dgm:pt modelId="{99AC1C38-FBDB-4D08-93EB-C840ECA69CD5}" type="pres">
      <dgm:prSet presAssocID="{37E37A17-9BB2-4BE3-B4F7-56D85F28964F}" presName="thickLine" presStyleLbl="alignNode1" presStyleIdx="5" presStyleCnt="7"/>
      <dgm:spPr/>
    </dgm:pt>
    <dgm:pt modelId="{84C08965-10DB-4FDA-A56C-6E30F43E9474}" type="pres">
      <dgm:prSet presAssocID="{37E37A17-9BB2-4BE3-B4F7-56D85F28964F}" presName="horz1" presStyleCnt="0"/>
      <dgm:spPr/>
    </dgm:pt>
    <dgm:pt modelId="{926D9B08-779D-4893-9400-AC80D81C8080}" type="pres">
      <dgm:prSet presAssocID="{37E37A17-9BB2-4BE3-B4F7-56D85F28964F}" presName="tx1" presStyleLbl="revTx" presStyleIdx="5" presStyleCnt="7"/>
      <dgm:spPr/>
    </dgm:pt>
    <dgm:pt modelId="{92093AE9-D4EB-437F-94DE-5E0231D8C879}" type="pres">
      <dgm:prSet presAssocID="{37E37A17-9BB2-4BE3-B4F7-56D85F28964F}" presName="vert1" presStyleCnt="0"/>
      <dgm:spPr/>
    </dgm:pt>
    <dgm:pt modelId="{2F4FCBCA-FBFE-47DE-AA87-6EEEA0D5B149}" type="pres">
      <dgm:prSet presAssocID="{50ED57A7-FAF1-4918-B09E-529B8E3C2A21}" presName="thickLine" presStyleLbl="alignNode1" presStyleIdx="6" presStyleCnt="7"/>
      <dgm:spPr/>
    </dgm:pt>
    <dgm:pt modelId="{9BA2E5BA-60F0-4485-915D-F67BA98170D6}" type="pres">
      <dgm:prSet presAssocID="{50ED57A7-FAF1-4918-B09E-529B8E3C2A21}" presName="horz1" presStyleCnt="0"/>
      <dgm:spPr/>
    </dgm:pt>
    <dgm:pt modelId="{8DF0CB43-A74B-43C3-ADE2-360245F5EFF1}" type="pres">
      <dgm:prSet presAssocID="{50ED57A7-FAF1-4918-B09E-529B8E3C2A21}" presName="tx1" presStyleLbl="revTx" presStyleIdx="6" presStyleCnt="7"/>
      <dgm:spPr/>
    </dgm:pt>
    <dgm:pt modelId="{2E13384D-04F5-4BCC-B2E6-CC639964009E}" type="pres">
      <dgm:prSet presAssocID="{50ED57A7-FAF1-4918-B09E-529B8E3C2A21}" presName="vert1" presStyleCnt="0"/>
      <dgm:spPr/>
    </dgm:pt>
  </dgm:ptLst>
  <dgm:cxnLst>
    <dgm:cxn modelId="{B4B12405-7E06-4E6E-8DE9-762F4D963639}" srcId="{02238F1E-0E42-4856-B338-C0049154DDDF}" destId="{300C9788-2F38-46B3-81FF-29136DD1BB4D}" srcOrd="0" destOrd="0" parTransId="{CF72BBE4-8487-428B-A08B-6A267F1F230D}" sibTransId="{0BBF8B08-70E3-4D3F-9D28-83BF3F036C7F}"/>
    <dgm:cxn modelId="{2044DA1A-6A39-4921-850C-673BBC21127A}" type="presOf" srcId="{37E37A17-9BB2-4BE3-B4F7-56D85F28964F}" destId="{926D9B08-779D-4893-9400-AC80D81C8080}" srcOrd="0" destOrd="0" presId="urn:microsoft.com/office/officeart/2008/layout/LinedList"/>
    <dgm:cxn modelId="{65101926-16EB-4963-B48B-373F21572A0F}" type="presOf" srcId="{50BC804A-1864-4DD5-BB3F-60CD6F5B1CCE}" destId="{8FB2C64F-2899-4E2B-8458-A017801A4171}" srcOrd="0" destOrd="0" presId="urn:microsoft.com/office/officeart/2008/layout/LinedList"/>
    <dgm:cxn modelId="{04F4A12F-0523-4EDD-B105-032554D1601B}" type="presOf" srcId="{1C3172D7-9314-4DAE-B1B2-0CA522C7ACF7}" destId="{3ACBAB9B-C850-4D34-B9D5-03F9ECACDE67}" srcOrd="0" destOrd="0" presId="urn:microsoft.com/office/officeart/2008/layout/LinedList"/>
    <dgm:cxn modelId="{BBC5896C-D24A-4F4F-BA9A-4ADE91FD7A89}" type="presOf" srcId="{02238F1E-0E42-4856-B338-C0049154DDDF}" destId="{9762F4FF-2E87-4F34-A31E-9B1BBC51FA40}" srcOrd="0" destOrd="0" presId="urn:microsoft.com/office/officeart/2008/layout/LinedList"/>
    <dgm:cxn modelId="{C42E4B53-D16C-4F6B-B4E3-31E095CD79AC}" srcId="{02238F1E-0E42-4856-B338-C0049154DDDF}" destId="{153CB80C-3445-43BF-AC34-33E3F688A72B}" srcOrd="1" destOrd="0" parTransId="{B0D79A97-5349-4309-B00F-43D7EEA8E40E}" sibTransId="{D9070A31-A559-4888-8A0F-034CF40AC047}"/>
    <dgm:cxn modelId="{6B01287B-2953-4964-A010-F7FB58DE565D}" type="presOf" srcId="{50ED57A7-FAF1-4918-B09E-529B8E3C2A21}" destId="{8DF0CB43-A74B-43C3-ADE2-360245F5EFF1}" srcOrd="0" destOrd="0" presId="urn:microsoft.com/office/officeart/2008/layout/LinedList"/>
    <dgm:cxn modelId="{0439F481-13F1-4CE9-81CA-D418095A4C9A}" type="presOf" srcId="{153CB80C-3445-43BF-AC34-33E3F688A72B}" destId="{905AF35D-E399-4EF2-A5CE-E0D63F231354}" srcOrd="0" destOrd="0" presId="urn:microsoft.com/office/officeart/2008/layout/LinedList"/>
    <dgm:cxn modelId="{123506A0-5420-4959-82F2-C3781D13EF3B}" type="presOf" srcId="{4A4DE1EF-68AE-4872-ABCF-094EFF23B158}" destId="{4716520E-B25A-485E-B29C-8ED461008030}" srcOrd="0" destOrd="0" presId="urn:microsoft.com/office/officeart/2008/layout/LinedList"/>
    <dgm:cxn modelId="{E9D21CAC-918C-40AD-9912-572744047882}" type="presOf" srcId="{300C9788-2F38-46B3-81FF-29136DD1BB4D}" destId="{17D791F6-8A8C-44E4-A176-68B9C8921DB5}" srcOrd="0" destOrd="0" presId="urn:microsoft.com/office/officeart/2008/layout/LinedList"/>
    <dgm:cxn modelId="{74E6C0E1-D58A-414E-B987-4F08E36C1B61}" srcId="{02238F1E-0E42-4856-B338-C0049154DDDF}" destId="{50BC804A-1864-4DD5-BB3F-60CD6F5B1CCE}" srcOrd="2" destOrd="0" parTransId="{58523A89-2133-4196-9FA1-C0D6642AA26B}" sibTransId="{DB1C107D-956E-469F-B09D-C993584A36AB}"/>
    <dgm:cxn modelId="{A5670DE6-4EB0-4980-A68F-4595BD1A87A5}" srcId="{02238F1E-0E42-4856-B338-C0049154DDDF}" destId="{50ED57A7-FAF1-4918-B09E-529B8E3C2A21}" srcOrd="6" destOrd="0" parTransId="{AC5E79B8-2CAA-41B7-B46D-B7927C834A18}" sibTransId="{EE940A4C-E919-477D-A737-1FF6FA35F0AE}"/>
    <dgm:cxn modelId="{EE970AE9-6769-4983-9815-8F2FED8E5259}" srcId="{02238F1E-0E42-4856-B338-C0049154DDDF}" destId="{4A4DE1EF-68AE-4872-ABCF-094EFF23B158}" srcOrd="4" destOrd="0" parTransId="{96C93329-2AE9-42B2-81BA-284DBB9404B4}" sibTransId="{ACE84A1E-0AFE-4684-932C-EFE3245BC6FA}"/>
    <dgm:cxn modelId="{CF40B4EA-F1C3-4BCB-A99D-55D9489C5729}" srcId="{02238F1E-0E42-4856-B338-C0049154DDDF}" destId="{37E37A17-9BB2-4BE3-B4F7-56D85F28964F}" srcOrd="5" destOrd="0" parTransId="{4A281298-5502-41B5-93FD-4D5B8696A6E1}" sibTransId="{B1BC3885-69DF-438F-97A7-36F23C6608ED}"/>
    <dgm:cxn modelId="{A49B83EE-9FC7-410D-82EC-356A013A7310}" srcId="{02238F1E-0E42-4856-B338-C0049154DDDF}" destId="{1C3172D7-9314-4DAE-B1B2-0CA522C7ACF7}" srcOrd="3" destOrd="0" parTransId="{DDD01D3B-D88F-4270-A930-EE443EABBF5A}" sibTransId="{9EAC0D62-C3B7-412E-81A7-CA37D47BDB1E}"/>
    <dgm:cxn modelId="{F9B2D928-D9E0-449E-9D4D-6A13A5E5473C}" type="presParOf" srcId="{9762F4FF-2E87-4F34-A31E-9B1BBC51FA40}" destId="{A45D5AC7-B967-4223-9124-9C4A34DAB7B8}" srcOrd="0" destOrd="0" presId="urn:microsoft.com/office/officeart/2008/layout/LinedList"/>
    <dgm:cxn modelId="{EB3701B5-BD0B-4BCE-A204-13B04E209BFC}" type="presParOf" srcId="{9762F4FF-2E87-4F34-A31E-9B1BBC51FA40}" destId="{A531BC3F-BA82-405F-97FB-8D42BC054EDB}" srcOrd="1" destOrd="0" presId="urn:microsoft.com/office/officeart/2008/layout/LinedList"/>
    <dgm:cxn modelId="{310E4362-FB14-4487-9473-DD053ACF4D89}" type="presParOf" srcId="{A531BC3F-BA82-405F-97FB-8D42BC054EDB}" destId="{17D791F6-8A8C-44E4-A176-68B9C8921DB5}" srcOrd="0" destOrd="0" presId="urn:microsoft.com/office/officeart/2008/layout/LinedList"/>
    <dgm:cxn modelId="{27031219-AD59-4CFE-97E1-67A19A867A7E}" type="presParOf" srcId="{A531BC3F-BA82-405F-97FB-8D42BC054EDB}" destId="{66998CD6-5603-49ED-965F-0192738E1B0A}" srcOrd="1" destOrd="0" presId="urn:microsoft.com/office/officeart/2008/layout/LinedList"/>
    <dgm:cxn modelId="{EFCE3963-C065-460E-8ADB-C658734D8790}" type="presParOf" srcId="{9762F4FF-2E87-4F34-A31E-9B1BBC51FA40}" destId="{8531E42C-5FA8-47EE-9601-B182932F2368}" srcOrd="2" destOrd="0" presId="urn:microsoft.com/office/officeart/2008/layout/LinedList"/>
    <dgm:cxn modelId="{D7294EF0-50F6-4B8F-B223-842ACA6BED09}" type="presParOf" srcId="{9762F4FF-2E87-4F34-A31E-9B1BBC51FA40}" destId="{A2372189-BFEE-40B7-BF78-FF96F83DC996}" srcOrd="3" destOrd="0" presId="urn:microsoft.com/office/officeart/2008/layout/LinedList"/>
    <dgm:cxn modelId="{5C328405-2018-4330-B2E8-2853FD76D89E}" type="presParOf" srcId="{A2372189-BFEE-40B7-BF78-FF96F83DC996}" destId="{905AF35D-E399-4EF2-A5CE-E0D63F231354}" srcOrd="0" destOrd="0" presId="urn:microsoft.com/office/officeart/2008/layout/LinedList"/>
    <dgm:cxn modelId="{57C5AB70-55F1-479F-87ED-DEE3F128C6A0}" type="presParOf" srcId="{A2372189-BFEE-40B7-BF78-FF96F83DC996}" destId="{48765E74-8051-4173-8643-DE5C9836EA76}" srcOrd="1" destOrd="0" presId="urn:microsoft.com/office/officeart/2008/layout/LinedList"/>
    <dgm:cxn modelId="{8FCB10D1-97A4-4D88-9E3A-A064920C7501}" type="presParOf" srcId="{9762F4FF-2E87-4F34-A31E-9B1BBC51FA40}" destId="{2ADC1B31-63F1-4749-9BBE-569B1B90E9AE}" srcOrd="4" destOrd="0" presId="urn:microsoft.com/office/officeart/2008/layout/LinedList"/>
    <dgm:cxn modelId="{F829A56F-2163-40C9-9418-725199ABD949}" type="presParOf" srcId="{9762F4FF-2E87-4F34-A31E-9B1BBC51FA40}" destId="{D62F52BA-2BE0-440E-A7C7-C8DAC84024D1}" srcOrd="5" destOrd="0" presId="urn:microsoft.com/office/officeart/2008/layout/LinedList"/>
    <dgm:cxn modelId="{C5731299-EA47-42E2-987D-44C1803C170D}" type="presParOf" srcId="{D62F52BA-2BE0-440E-A7C7-C8DAC84024D1}" destId="{8FB2C64F-2899-4E2B-8458-A017801A4171}" srcOrd="0" destOrd="0" presId="urn:microsoft.com/office/officeart/2008/layout/LinedList"/>
    <dgm:cxn modelId="{D0360D39-90BB-4E1E-9D29-6B05AA94956C}" type="presParOf" srcId="{D62F52BA-2BE0-440E-A7C7-C8DAC84024D1}" destId="{C4D40BCB-D6D4-41F9-9B38-6DD852B5755A}" srcOrd="1" destOrd="0" presId="urn:microsoft.com/office/officeart/2008/layout/LinedList"/>
    <dgm:cxn modelId="{02721DAE-056B-4096-A3E8-485C60AF514A}" type="presParOf" srcId="{9762F4FF-2E87-4F34-A31E-9B1BBC51FA40}" destId="{284E9A56-E4C3-42B0-BBC5-F4932A458CBE}" srcOrd="6" destOrd="0" presId="urn:microsoft.com/office/officeart/2008/layout/LinedList"/>
    <dgm:cxn modelId="{8A0283CC-4FBB-4584-964A-391AEBD98CB4}" type="presParOf" srcId="{9762F4FF-2E87-4F34-A31E-9B1BBC51FA40}" destId="{6556D5F0-6870-4532-8C1A-F89A8F3AFB43}" srcOrd="7" destOrd="0" presId="urn:microsoft.com/office/officeart/2008/layout/LinedList"/>
    <dgm:cxn modelId="{9AC88CF1-77BD-42B4-A474-0455D351F295}" type="presParOf" srcId="{6556D5F0-6870-4532-8C1A-F89A8F3AFB43}" destId="{3ACBAB9B-C850-4D34-B9D5-03F9ECACDE67}" srcOrd="0" destOrd="0" presId="urn:microsoft.com/office/officeart/2008/layout/LinedList"/>
    <dgm:cxn modelId="{6BCFC34E-046A-4BD5-9C2C-0C2B40795475}" type="presParOf" srcId="{6556D5F0-6870-4532-8C1A-F89A8F3AFB43}" destId="{F9FFA58F-6BE6-408F-8F42-1F528913789C}" srcOrd="1" destOrd="0" presId="urn:microsoft.com/office/officeart/2008/layout/LinedList"/>
    <dgm:cxn modelId="{A3EC66EF-35E2-4534-901E-1945CC069C14}" type="presParOf" srcId="{9762F4FF-2E87-4F34-A31E-9B1BBC51FA40}" destId="{E0F3BC65-6F80-48C6-81FC-12CDB68654F5}" srcOrd="8" destOrd="0" presId="urn:microsoft.com/office/officeart/2008/layout/LinedList"/>
    <dgm:cxn modelId="{5F42B5EB-8C37-4A12-AB84-6186B2055229}" type="presParOf" srcId="{9762F4FF-2E87-4F34-A31E-9B1BBC51FA40}" destId="{9D06BBFF-292D-499C-9079-7E872DFB7B88}" srcOrd="9" destOrd="0" presId="urn:microsoft.com/office/officeart/2008/layout/LinedList"/>
    <dgm:cxn modelId="{48BA7444-768F-425B-B052-C4EEA85B37C3}" type="presParOf" srcId="{9D06BBFF-292D-499C-9079-7E872DFB7B88}" destId="{4716520E-B25A-485E-B29C-8ED461008030}" srcOrd="0" destOrd="0" presId="urn:microsoft.com/office/officeart/2008/layout/LinedList"/>
    <dgm:cxn modelId="{A7012CB1-4489-4DD6-BEC6-C6522F5734F3}" type="presParOf" srcId="{9D06BBFF-292D-499C-9079-7E872DFB7B88}" destId="{97440502-06FD-4A0C-9CEB-D3E481325986}" srcOrd="1" destOrd="0" presId="urn:microsoft.com/office/officeart/2008/layout/LinedList"/>
    <dgm:cxn modelId="{CB38565A-2D81-4DD0-BAD8-9398CAE76D21}" type="presParOf" srcId="{9762F4FF-2E87-4F34-A31E-9B1BBC51FA40}" destId="{99AC1C38-FBDB-4D08-93EB-C840ECA69CD5}" srcOrd="10" destOrd="0" presId="urn:microsoft.com/office/officeart/2008/layout/LinedList"/>
    <dgm:cxn modelId="{AA4E1697-8F35-4DD8-9BBA-C716071C7F76}" type="presParOf" srcId="{9762F4FF-2E87-4F34-A31E-9B1BBC51FA40}" destId="{84C08965-10DB-4FDA-A56C-6E30F43E9474}" srcOrd="11" destOrd="0" presId="urn:microsoft.com/office/officeart/2008/layout/LinedList"/>
    <dgm:cxn modelId="{54B8F8DE-B6AD-4D2F-B559-09D0BE3CAC3E}" type="presParOf" srcId="{84C08965-10DB-4FDA-A56C-6E30F43E9474}" destId="{926D9B08-779D-4893-9400-AC80D81C8080}" srcOrd="0" destOrd="0" presId="urn:microsoft.com/office/officeart/2008/layout/LinedList"/>
    <dgm:cxn modelId="{08DAE726-4352-4748-8250-681B759FEEAD}" type="presParOf" srcId="{84C08965-10DB-4FDA-A56C-6E30F43E9474}" destId="{92093AE9-D4EB-437F-94DE-5E0231D8C879}" srcOrd="1" destOrd="0" presId="urn:microsoft.com/office/officeart/2008/layout/LinedList"/>
    <dgm:cxn modelId="{70723AD4-6918-426F-A537-3C98ECCFF76F}" type="presParOf" srcId="{9762F4FF-2E87-4F34-A31E-9B1BBC51FA40}" destId="{2F4FCBCA-FBFE-47DE-AA87-6EEEA0D5B149}" srcOrd="12" destOrd="0" presId="urn:microsoft.com/office/officeart/2008/layout/LinedList"/>
    <dgm:cxn modelId="{04F800A3-F290-43C3-9ADC-2FAC6FBD8FEE}" type="presParOf" srcId="{9762F4FF-2E87-4F34-A31E-9B1BBC51FA40}" destId="{9BA2E5BA-60F0-4485-915D-F67BA98170D6}" srcOrd="13" destOrd="0" presId="urn:microsoft.com/office/officeart/2008/layout/LinedList"/>
    <dgm:cxn modelId="{196BFC47-471B-4927-9304-2A1B23F9FA40}" type="presParOf" srcId="{9BA2E5BA-60F0-4485-915D-F67BA98170D6}" destId="{8DF0CB43-A74B-43C3-ADE2-360245F5EFF1}" srcOrd="0" destOrd="0" presId="urn:microsoft.com/office/officeart/2008/layout/LinedList"/>
    <dgm:cxn modelId="{DDE33455-2641-4C60-A312-207416C8729A}" type="presParOf" srcId="{9BA2E5BA-60F0-4485-915D-F67BA98170D6}" destId="{2E13384D-04F5-4BCC-B2E6-CC639964009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5D5AC7-B967-4223-9124-9C4A34DAB7B8}">
      <dsp:nvSpPr>
        <dsp:cNvPr id="0" name=""/>
        <dsp:cNvSpPr/>
      </dsp:nvSpPr>
      <dsp:spPr>
        <a:xfrm>
          <a:off x="0" y="706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D791F6-8A8C-44E4-A176-68B9C8921DB5}">
      <dsp:nvSpPr>
        <dsp:cNvPr id="0" name=""/>
        <dsp:cNvSpPr/>
      </dsp:nvSpPr>
      <dsp:spPr>
        <a:xfrm>
          <a:off x="0" y="706"/>
          <a:ext cx="6949440" cy="826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What Are They?</a:t>
          </a:r>
          <a:endParaRPr lang="en-US" sz="2300" kern="1200"/>
        </a:p>
      </dsp:txBody>
      <dsp:txXfrm>
        <a:off x="0" y="706"/>
        <a:ext cx="6949440" cy="826460"/>
      </dsp:txXfrm>
    </dsp:sp>
    <dsp:sp modelId="{8531E42C-5FA8-47EE-9601-B182932F2368}">
      <dsp:nvSpPr>
        <dsp:cNvPr id="0" name=""/>
        <dsp:cNvSpPr/>
      </dsp:nvSpPr>
      <dsp:spPr>
        <a:xfrm>
          <a:off x="0" y="827167"/>
          <a:ext cx="6949440" cy="0"/>
        </a:xfrm>
        <a:prstGeom prst="line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AF35D-E399-4EF2-A5CE-E0D63F231354}">
      <dsp:nvSpPr>
        <dsp:cNvPr id="0" name=""/>
        <dsp:cNvSpPr/>
      </dsp:nvSpPr>
      <dsp:spPr>
        <a:xfrm>
          <a:off x="0" y="827167"/>
          <a:ext cx="6949440" cy="826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EC2 instances that run on hardware dedicated to your AWS account</a:t>
          </a:r>
        </a:p>
      </dsp:txBody>
      <dsp:txXfrm>
        <a:off x="0" y="827167"/>
        <a:ext cx="6949440" cy="826460"/>
      </dsp:txXfrm>
    </dsp:sp>
    <dsp:sp modelId="{2ADC1B31-63F1-4749-9BBE-569B1B90E9AE}">
      <dsp:nvSpPr>
        <dsp:cNvPr id="0" name=""/>
        <dsp:cNvSpPr/>
      </dsp:nvSpPr>
      <dsp:spPr>
        <a:xfrm>
          <a:off x="0" y="1653627"/>
          <a:ext cx="6949440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2C64F-2899-4E2B-8458-A017801A4171}">
      <dsp:nvSpPr>
        <dsp:cNvPr id="0" name=""/>
        <dsp:cNvSpPr/>
      </dsp:nvSpPr>
      <dsp:spPr>
        <a:xfrm>
          <a:off x="0" y="1653627"/>
          <a:ext cx="6949440" cy="826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However, other instances within your account may share the same physical host</a:t>
          </a:r>
        </a:p>
      </dsp:txBody>
      <dsp:txXfrm>
        <a:off x="0" y="1653627"/>
        <a:ext cx="6949440" cy="826460"/>
      </dsp:txXfrm>
    </dsp:sp>
    <dsp:sp modelId="{284E9A56-E4C3-42B0-BBC5-F4932A458CBE}">
      <dsp:nvSpPr>
        <dsp:cNvPr id="0" name=""/>
        <dsp:cNvSpPr/>
      </dsp:nvSpPr>
      <dsp:spPr>
        <a:xfrm>
          <a:off x="0" y="2480088"/>
          <a:ext cx="6949440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CBAB9B-C850-4D34-B9D5-03F9ECACDE67}">
      <dsp:nvSpPr>
        <dsp:cNvPr id="0" name=""/>
        <dsp:cNvSpPr/>
      </dsp:nvSpPr>
      <dsp:spPr>
        <a:xfrm>
          <a:off x="0" y="2480088"/>
          <a:ext cx="6949440" cy="826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Key Features</a:t>
          </a:r>
        </a:p>
      </dsp:txBody>
      <dsp:txXfrm>
        <a:off x="0" y="2480088"/>
        <a:ext cx="6949440" cy="826460"/>
      </dsp:txXfrm>
    </dsp:sp>
    <dsp:sp modelId="{E0F3BC65-6F80-48C6-81FC-12CDB68654F5}">
      <dsp:nvSpPr>
        <dsp:cNvPr id="0" name=""/>
        <dsp:cNvSpPr/>
      </dsp:nvSpPr>
      <dsp:spPr>
        <a:xfrm>
          <a:off x="0" y="3306549"/>
          <a:ext cx="6949440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16520E-B25A-485E-B29C-8ED461008030}">
      <dsp:nvSpPr>
        <dsp:cNvPr id="0" name=""/>
        <dsp:cNvSpPr/>
      </dsp:nvSpPr>
      <dsp:spPr>
        <a:xfrm>
          <a:off x="0" y="3306549"/>
          <a:ext cx="6949440" cy="826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Isolated at the hardware level from other AWS customers</a:t>
          </a:r>
        </a:p>
      </dsp:txBody>
      <dsp:txXfrm>
        <a:off x="0" y="3306549"/>
        <a:ext cx="6949440" cy="826460"/>
      </dsp:txXfrm>
    </dsp:sp>
    <dsp:sp modelId="{99AC1C38-FBDB-4D08-93EB-C840ECA69CD5}">
      <dsp:nvSpPr>
        <dsp:cNvPr id="0" name=""/>
        <dsp:cNvSpPr/>
      </dsp:nvSpPr>
      <dsp:spPr>
        <a:xfrm>
          <a:off x="0" y="4133010"/>
          <a:ext cx="6949440" cy="0"/>
        </a:xfrm>
        <a:prstGeom prst="line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D9B08-779D-4893-9400-AC80D81C8080}">
      <dsp:nvSpPr>
        <dsp:cNvPr id="0" name=""/>
        <dsp:cNvSpPr/>
      </dsp:nvSpPr>
      <dsp:spPr>
        <a:xfrm>
          <a:off x="0" y="4133010"/>
          <a:ext cx="6949440" cy="826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You don’t control where the instance is placed</a:t>
          </a:r>
        </a:p>
      </dsp:txBody>
      <dsp:txXfrm>
        <a:off x="0" y="4133010"/>
        <a:ext cx="6949440" cy="826460"/>
      </dsp:txXfrm>
    </dsp:sp>
    <dsp:sp modelId="{2F4FCBCA-FBFE-47DE-AA87-6EEEA0D5B149}">
      <dsp:nvSpPr>
        <dsp:cNvPr id="0" name=""/>
        <dsp:cNvSpPr/>
      </dsp:nvSpPr>
      <dsp:spPr>
        <a:xfrm>
          <a:off x="0" y="4959470"/>
          <a:ext cx="6949440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F0CB43-A74B-43C3-ADE2-360245F5EFF1}">
      <dsp:nvSpPr>
        <dsp:cNvPr id="0" name=""/>
        <dsp:cNvSpPr/>
      </dsp:nvSpPr>
      <dsp:spPr>
        <a:xfrm>
          <a:off x="0" y="4959470"/>
          <a:ext cx="6949440" cy="826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If you stop/start the instance, placement may change</a:t>
          </a:r>
        </a:p>
      </dsp:txBody>
      <dsp:txXfrm>
        <a:off x="0" y="4959470"/>
        <a:ext cx="6949440" cy="826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1D208-7893-4633-5C1B-74CE413A8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FC62B-59A3-C7CB-2A09-7EAF53FD5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00806-0E9C-2527-03F1-8EA165576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6AD9-4AAA-4AE8-B1A5-F1111413B05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3DA47-29D3-439E-B487-CF8983E81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1A9F6-C042-907D-B596-27EE84D4B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1B64-F3DB-4756-8D32-1FF7B1EB8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7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4820B-911C-2FA7-10CE-D0A96B549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CFF1E-F5F0-8CF2-AD5A-B4E3D3BC2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C6C63-49EF-9B19-0EB8-33A05972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6AD9-4AAA-4AE8-B1A5-F1111413B05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8B69F-8C21-1540-6406-1AED53918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54609-7B67-82E5-6578-9524DE8CF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1B64-F3DB-4756-8D32-1FF7B1EB8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3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25470-3F61-F2B8-B28D-D2331B35C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118DD-B94B-9D44-BB75-D6845EA4B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81144-2B90-C7B2-FD5C-D3DFB4303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6AD9-4AAA-4AE8-B1A5-F1111413B05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8E18D-9542-D96F-6458-A9FA4FF94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14317-D7F4-8296-8E69-751FFB8B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1B64-F3DB-4756-8D32-1FF7B1EB8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97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0B177-E2E6-4FD0-652A-80DFA8492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268CE-C604-A0B1-3351-83334ECFF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0CA1B-5C0A-E575-C8DE-AA3375881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F58F0-6778-81A1-34DB-E6E65411E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6AD9-4AAA-4AE8-B1A5-F1111413B05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04A0E-B015-827D-60CE-7263EC07C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7116B-B16E-2754-A98D-A7AB5855D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1B64-F3DB-4756-8D32-1FF7B1EB8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181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212F2-A1D6-78B4-0B68-825611F56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82735-A93A-83E8-F6FD-4EAAD01FA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0FC672-A4CD-4781-C9DE-2166F7872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DB73D4-EC18-A3D4-EC02-644C6B8EDB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41C93-E864-1DAB-EFDE-15DB888020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7ADAF2-6E7C-0DC3-1D06-C0B5A301F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6AD9-4AAA-4AE8-B1A5-F1111413B05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8D4B31-31FB-D41B-F709-09C88F52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535376-0C98-E2BA-95CC-A340E0046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1B64-F3DB-4756-8D32-1FF7B1EB8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11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91A8E-9575-C8FE-3547-2F5DF8A6B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331984-1F82-3029-A277-60DBEFBA4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6AD9-4AAA-4AE8-B1A5-F1111413B05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8BF9E-7DC1-474E-322A-79CB5610A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A92B7-E65C-4B3A-875F-F3C362EE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1B64-F3DB-4756-8D32-1FF7B1EB8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350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96B22B-B645-91DF-F026-1C93A1D9F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6AD9-4AAA-4AE8-B1A5-F1111413B05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145C50-392E-0267-71C8-31C900315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3141D-A795-AF29-616F-B08213E3C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1B64-F3DB-4756-8D32-1FF7B1EB8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53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306E-7130-17E8-3555-A95DFFA27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34B1C-986B-D04A-B922-E951A2EC3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997A3-0F4F-D439-695E-B272361C7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6384F-2815-F6A3-37FD-39373D8E1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6AD9-4AAA-4AE8-B1A5-F1111413B05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D4AC2-7358-6F2B-DD3E-F8F50B9DE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E9CB2-C76F-537A-A59E-08D1B4C13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1B64-F3DB-4756-8D32-1FF7B1EB8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77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DE1C0-0706-65C6-209C-40F9F0D5F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8B84AE-EEEF-7B87-48AA-AB367EEC27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9D6BC-01C3-7E57-EB5F-2FEC45134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F8329-6D8F-A299-0C43-7781C1C09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6AD9-4AAA-4AE8-B1A5-F1111413B05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4C8D3-B339-FE92-9BC4-C5C0E2772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F84D5-6A29-5041-4626-B8703EDED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1B64-F3DB-4756-8D32-1FF7B1EB8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376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F7240-53A7-DCBB-D8E6-2B6F7A4F2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E423C-C377-0340-52E0-51CE7D933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E322E-B600-BFA4-F103-49828E03C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6AD9-4AAA-4AE8-B1A5-F1111413B05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1AEB0-7490-CD88-7ADC-9513CB2AA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73D4B-B569-059E-A5A5-C698E46F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1B64-F3DB-4756-8D32-1FF7B1EB8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444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DE3338-3150-B8BB-FAF8-F053B2DE9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CE080-C214-573C-44A1-26E93E960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A6667-6ACE-1211-2045-E63156BCB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6AD9-4AAA-4AE8-B1A5-F1111413B05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FEEF0-B34E-DAD8-5DE0-0FB2D60D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14D15-9EAC-AB0F-DD8D-866C5640A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1B64-F3DB-4756-8D32-1FF7B1EB8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07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79FEE-1E5A-F1E6-F762-A961B965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2EBF0-4A73-C9D0-AE9E-D9908E5D8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CD939-4ADB-E901-C751-F03B0A844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A76AD9-4AAA-4AE8-B1A5-F1111413B05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ABE4C-012D-4CBC-F105-4E3197D5D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7F1D5-0C6E-14E6-3142-1C0CD40DC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C1B64-F3DB-4756-8D32-1FF7B1EB8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075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digital balance scale using circles">
            <a:extLst>
              <a:ext uri="{FF2B5EF4-FFF2-40B4-BE49-F238E27FC236}">
                <a16:creationId xmlns:a16="http://schemas.microsoft.com/office/drawing/2014/main" id="{0638A435-2D35-B51C-0067-4BF7396504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b="702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680DD5-84A7-E392-1A8B-3C0EAC010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914402"/>
            <a:ext cx="10515600" cy="2985923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EC2 Instances Purchasing Options</a:t>
            </a:r>
          </a:p>
        </p:txBody>
      </p:sp>
    </p:spTree>
    <p:extLst>
      <p:ext uri="{BB962C8B-B14F-4D97-AF65-F5344CB8AC3E}">
        <p14:creationId xmlns:p14="http://schemas.microsoft.com/office/powerpoint/2010/main" val="3324193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680ED4-36F9-CDB0-3F79-9F7616F2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pPr algn="just"/>
            <a:r>
              <a:rPr lang="en-US" sz="3400" dirty="0"/>
              <a:t>Amazon EC2 – On-Demand Instances</a:t>
            </a:r>
            <a:br>
              <a:rPr lang="en-US" sz="3400" dirty="0"/>
            </a:br>
            <a:endParaRPr lang="en-US" sz="3400" dirty="0"/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0E870FCC-EE84-A52F-7BFE-9364F93431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26" r="37014" b="1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43AA3-A17D-992C-D356-487EB6336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r>
              <a:rPr lang="en-US" sz="1800" dirty="0"/>
              <a:t>Key Points:</a:t>
            </a:r>
          </a:p>
          <a:p>
            <a:r>
              <a:rPr lang="en-US" sz="1800" dirty="0"/>
              <a:t>Pay-as-you-go pricing model.</a:t>
            </a:r>
          </a:p>
          <a:p>
            <a:r>
              <a:rPr lang="en-US" sz="1800" dirty="0"/>
              <a:t>Billing:</a:t>
            </a:r>
          </a:p>
          <a:p>
            <a:r>
              <a:rPr lang="en-US" sz="1800" dirty="0"/>
              <a:t>Linux/Windows: Charged per second (after 1st minute).</a:t>
            </a:r>
          </a:p>
          <a:p>
            <a:r>
              <a:rPr lang="en-US" sz="1800" dirty="0"/>
              <a:t>Other OS (e.g., RHEL, SUSE): Charged per hour.</a:t>
            </a:r>
          </a:p>
          <a:p>
            <a:r>
              <a:rPr lang="en-US" sz="1800" dirty="0"/>
              <a:t>No upfront payment required.</a:t>
            </a:r>
          </a:p>
          <a:p>
            <a:r>
              <a:rPr lang="en-US" sz="1800" dirty="0"/>
              <a:t>No long-term commitment.</a:t>
            </a:r>
          </a:p>
          <a:p>
            <a:r>
              <a:rPr lang="en-US" sz="1800" dirty="0"/>
              <a:t>Highest hourly cost among EC2 options.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17813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1F062-C110-7901-9802-332FC853F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1900" dirty="0">
                <a:solidFill>
                  <a:schemeClr val="tx1">
                    <a:alpha val="80000"/>
                  </a:schemeClr>
                </a:solidFill>
              </a:rPr>
              <a:t>When to Use On-Demand Instances?</a:t>
            </a:r>
          </a:p>
          <a:p>
            <a:r>
              <a:rPr lang="en-US" sz="1900" dirty="0">
                <a:solidFill>
                  <a:schemeClr val="tx1">
                    <a:alpha val="80000"/>
                  </a:schemeClr>
                </a:solidFill>
              </a:rPr>
              <a:t>For short-term, unpredictable workloads.</a:t>
            </a:r>
          </a:p>
          <a:p>
            <a:endParaRPr lang="en-US" sz="19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 dirty="0">
                <a:solidFill>
                  <a:schemeClr val="tx1">
                    <a:alpha val="80000"/>
                  </a:schemeClr>
                </a:solidFill>
              </a:rPr>
              <a:t>For testing or development environments.</a:t>
            </a:r>
          </a:p>
          <a:p>
            <a:endParaRPr lang="en-US" sz="19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 dirty="0">
                <a:solidFill>
                  <a:schemeClr val="tx1">
                    <a:alpha val="80000"/>
                  </a:schemeClr>
                </a:solidFill>
              </a:rPr>
              <a:t>When you are new to AWS and still learning how your app behaves.</a:t>
            </a:r>
          </a:p>
          <a:p>
            <a:endParaRPr lang="en-US" sz="19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 dirty="0">
                <a:solidFill>
                  <a:schemeClr val="tx1">
                    <a:alpha val="80000"/>
                  </a:schemeClr>
                </a:solidFill>
              </a:rPr>
              <a:t>When you can't tolerate interruptions.</a:t>
            </a:r>
          </a:p>
          <a:p>
            <a:endParaRPr lang="en-US" sz="19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 dirty="0">
                <a:solidFill>
                  <a:schemeClr val="tx1">
                    <a:alpha val="80000"/>
                  </a:schemeClr>
                </a:solidFill>
              </a:rPr>
              <a:t> Example Use Case:</a:t>
            </a:r>
          </a:p>
          <a:p>
            <a:r>
              <a:rPr lang="en-US" sz="1900" dirty="0">
                <a:solidFill>
                  <a:schemeClr val="tx1">
                    <a:alpha val="80000"/>
                  </a:schemeClr>
                </a:solidFill>
              </a:rPr>
              <a:t>A developer wants to test a new web application for 3 days before launching it. </a:t>
            </a:r>
          </a:p>
          <a:p>
            <a:r>
              <a:rPr lang="en-US" sz="1900" dirty="0">
                <a:solidFill>
                  <a:schemeClr val="tx1">
                    <a:alpha val="80000"/>
                  </a:schemeClr>
                </a:solidFill>
              </a:rPr>
              <a:t>Since the usage is short and uncertain, On-Demand is perfect.</a:t>
            </a:r>
          </a:p>
          <a:p>
            <a:endParaRPr lang="en-US" sz="19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766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F022CE-AB33-1EF8-7947-112CF58D3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300">
                <a:solidFill>
                  <a:schemeClr val="tx2"/>
                </a:solidFill>
              </a:rPr>
              <a:t>Amazon EC2 – Reserved Instances (RIs)</a:t>
            </a:r>
            <a:br>
              <a:rPr lang="en-US" sz="3300">
                <a:solidFill>
                  <a:schemeClr val="tx2"/>
                </a:solidFill>
              </a:rPr>
            </a:br>
            <a:endParaRPr lang="en-US" sz="33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EC8B7-2110-BE4C-4142-6897BB9DC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Key Features:</a:t>
            </a:r>
          </a:p>
          <a:p>
            <a:r>
              <a:rPr lang="en-US" sz="1800" dirty="0">
                <a:solidFill>
                  <a:schemeClr val="tx2"/>
                </a:solidFill>
              </a:rPr>
              <a:t> Save up to 72% compared to On-Demand pricing.</a:t>
            </a:r>
          </a:p>
          <a:p>
            <a:r>
              <a:rPr lang="en-US" sz="1800" dirty="0">
                <a:solidFill>
                  <a:schemeClr val="tx2"/>
                </a:solidFill>
              </a:rPr>
              <a:t> You reserve a specific configuration:</a:t>
            </a:r>
          </a:p>
          <a:p>
            <a:r>
              <a:rPr lang="en-US" sz="1800" dirty="0">
                <a:solidFill>
                  <a:schemeClr val="tx2"/>
                </a:solidFill>
              </a:rPr>
              <a:t>Instance Type, Region, Tenancy (shared/dedicated), and OS.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 Commitment period:</a:t>
            </a:r>
          </a:p>
          <a:p>
            <a:r>
              <a:rPr lang="en-US" sz="1800" dirty="0">
                <a:solidFill>
                  <a:schemeClr val="tx2"/>
                </a:solidFill>
              </a:rPr>
              <a:t>1 Year – some discount</a:t>
            </a:r>
          </a:p>
          <a:p>
            <a:r>
              <a:rPr lang="en-US" sz="1800" dirty="0">
                <a:solidFill>
                  <a:schemeClr val="tx2"/>
                </a:solidFill>
              </a:rPr>
              <a:t>3 Years – highest discount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CBAEBD-A363-4331-D41C-EF0AD232E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874972"/>
              </p:ext>
            </p:extLst>
          </p:nvPr>
        </p:nvGraphicFramePr>
        <p:xfrm>
          <a:off x="7708392" y="2499388"/>
          <a:ext cx="4142233" cy="2782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1849">
                  <a:extLst>
                    <a:ext uri="{9D8B030D-6E8A-4147-A177-3AD203B41FA5}">
                      <a16:colId xmlns:a16="http://schemas.microsoft.com/office/drawing/2014/main" val="447054067"/>
                    </a:ext>
                  </a:extLst>
                </a:gridCol>
                <a:gridCol w="2040384">
                  <a:extLst>
                    <a:ext uri="{9D8B030D-6E8A-4147-A177-3AD203B41FA5}">
                      <a16:colId xmlns:a16="http://schemas.microsoft.com/office/drawing/2014/main" val="2003916811"/>
                    </a:ext>
                  </a:extLst>
                </a:gridCol>
              </a:tblGrid>
              <a:tr h="983957">
                <a:tc>
                  <a:txBody>
                    <a:bodyPr/>
                    <a:lstStyle/>
                    <a:p>
                      <a:r>
                        <a:rPr lang="en-US" sz="2700" dirty="0"/>
                        <a:t>Option </a:t>
                      </a:r>
                    </a:p>
                  </a:txBody>
                  <a:tcPr marL="135383" marR="135383" marT="67692" marB="67692"/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Discount Level</a:t>
                      </a:r>
                    </a:p>
                  </a:txBody>
                  <a:tcPr marL="135383" marR="135383" marT="67692" marB="67692"/>
                </a:tc>
                <a:extLst>
                  <a:ext uri="{0D108BD9-81ED-4DB2-BD59-A6C34878D82A}">
                    <a16:rowId xmlns:a16="http://schemas.microsoft.com/office/drawing/2014/main" val="1514076528"/>
                  </a:ext>
                </a:extLst>
              </a:tr>
              <a:tr h="1798812">
                <a:tc>
                  <a:txBody>
                    <a:bodyPr/>
                    <a:lstStyle/>
                    <a:p>
                      <a:r>
                        <a:rPr lang="en-US" sz="2700" dirty="0"/>
                        <a:t>No Upfront      </a:t>
                      </a:r>
                    </a:p>
                    <a:p>
                      <a:r>
                        <a:rPr lang="en-US" sz="2700" dirty="0"/>
                        <a:t>Partial Upfront</a:t>
                      </a:r>
                    </a:p>
                    <a:p>
                      <a:r>
                        <a:rPr lang="en-US" sz="2700" dirty="0"/>
                        <a:t>All Upfront</a:t>
                      </a:r>
                    </a:p>
                  </a:txBody>
                  <a:tcPr marL="135383" marR="135383" marT="67692" marB="67692"/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+              </a:t>
                      </a:r>
                    </a:p>
                    <a:p>
                      <a:r>
                        <a:rPr lang="en-US" sz="2700" dirty="0"/>
                        <a:t>++             </a:t>
                      </a:r>
                    </a:p>
                    <a:p>
                      <a:r>
                        <a:rPr lang="en-US" sz="2700" dirty="0"/>
                        <a:t>+++</a:t>
                      </a:r>
                    </a:p>
                  </a:txBody>
                  <a:tcPr marL="135383" marR="135383" marT="67692" marB="67692"/>
                </a:tc>
                <a:extLst>
                  <a:ext uri="{0D108BD9-81ED-4DB2-BD59-A6C34878D82A}">
                    <a16:rowId xmlns:a16="http://schemas.microsoft.com/office/drawing/2014/main" val="1564772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639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90CE1-8484-D6B5-6A3F-BB9EA6342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en-US" sz="1400" dirty="0"/>
          </a:p>
          <a:p>
            <a:r>
              <a:rPr lang="en-US" sz="1400" dirty="0"/>
              <a:t>Scope Options:</a:t>
            </a:r>
          </a:p>
          <a:p>
            <a:r>
              <a:rPr lang="en-US" sz="1400" dirty="0"/>
              <a:t>Zonal: Capacity reserved in a specific Availability Zone.</a:t>
            </a:r>
          </a:p>
          <a:p>
            <a:r>
              <a:rPr lang="en-US" sz="1400" dirty="0"/>
              <a:t>Regional: Flexible across AZs in a region (no capacity reservation).</a:t>
            </a:r>
          </a:p>
          <a:p>
            <a:r>
              <a:rPr lang="en-US" sz="1400" dirty="0"/>
              <a:t> Best Use Case:</a:t>
            </a:r>
          </a:p>
          <a:p>
            <a:r>
              <a:rPr lang="en-US" sz="1400" dirty="0"/>
              <a:t>Steady-state, long-running applications</a:t>
            </a:r>
          </a:p>
          <a:p>
            <a:r>
              <a:rPr lang="en-US" sz="1400" dirty="0"/>
              <a:t>(e.g., databases, internal tools, production servers)</a:t>
            </a:r>
          </a:p>
          <a:p>
            <a:r>
              <a:rPr lang="en-US" sz="1400" dirty="0"/>
              <a:t>Convertible Reserved Instances:</a:t>
            </a:r>
          </a:p>
          <a:p>
            <a:r>
              <a:rPr lang="en-US" sz="1400" dirty="0"/>
              <a:t> Flexible: Can change instance type, family, OS, scope, tenancy</a:t>
            </a:r>
          </a:p>
          <a:p>
            <a:r>
              <a:rPr lang="en-US" sz="1400" dirty="0"/>
              <a:t>Save up to 66%</a:t>
            </a:r>
          </a:p>
          <a:p>
            <a:r>
              <a:rPr lang="en-US" sz="1400" dirty="0"/>
              <a:t>Great if your needs might evolve over time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3646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ite calculator">
            <a:extLst>
              <a:ext uri="{FF2B5EF4-FFF2-40B4-BE49-F238E27FC236}">
                <a16:creationId xmlns:a16="http://schemas.microsoft.com/office/drawing/2014/main" id="{32536EF7-3118-4D13-4AC6-412D453E48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7" r="39049" b="-1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25223-BC65-8514-7DD3-6E3BCC9A7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anchor="t">
            <a:normAutofit/>
          </a:bodyPr>
          <a:lstStyle/>
          <a:p>
            <a:r>
              <a:rPr lang="en-US" sz="2000"/>
              <a:t>Example Use Case:</a:t>
            </a:r>
          </a:p>
          <a:p>
            <a:r>
              <a:rPr lang="en-US" sz="2000"/>
              <a:t>Your company runs a web application 24/7. You reserve an EC2 instance for 3 </a:t>
            </a:r>
          </a:p>
          <a:p>
            <a:r>
              <a:rPr lang="en-US" sz="2000"/>
              <a:t>years with All Upfront payment saving a large percentage on compute cost.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24683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ACA6F80-D392-A64E-3CF8-F28F1CCE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62384-7D25-13EE-038D-17A6B6430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40"/>
            <a:ext cx="4779572" cy="2067705"/>
          </a:xfrm>
        </p:spPr>
        <p:txBody>
          <a:bodyPr anchor="t">
            <a:normAutofit/>
          </a:bodyPr>
          <a:lstStyle/>
          <a:p>
            <a:r>
              <a:rPr lang="en-US" dirty="0"/>
              <a:t>Amazon EC2 – Savings Plans</a:t>
            </a:r>
          </a:p>
        </p:txBody>
      </p:sp>
      <p:pic>
        <p:nvPicPr>
          <p:cNvPr id="7" name="Graphic 6" descr="Euro">
            <a:extLst>
              <a:ext uri="{FF2B5EF4-FFF2-40B4-BE49-F238E27FC236}">
                <a16:creationId xmlns:a16="http://schemas.microsoft.com/office/drawing/2014/main" id="{2E48D4BD-0B99-510C-D869-2C0812235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2976281"/>
            <a:ext cx="3333077" cy="333307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15F84-39BF-A6AF-59FB-55987063E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0551" y="548638"/>
            <a:ext cx="5546770" cy="5760721"/>
          </a:xfrm>
        </p:spPr>
        <p:txBody>
          <a:bodyPr anchor="t">
            <a:normAutofit/>
          </a:bodyPr>
          <a:lstStyle/>
          <a:p>
            <a:r>
              <a:rPr lang="en-US" sz="1800" b="1" dirty="0"/>
              <a:t>What Are Savings Plans?</a:t>
            </a:r>
            <a:endParaRPr lang="en-US" sz="1800" dirty="0"/>
          </a:p>
          <a:p>
            <a:r>
              <a:rPr lang="en-US" sz="1800" dirty="0"/>
              <a:t>Flexible pricing model for EC2</a:t>
            </a:r>
          </a:p>
          <a:p>
            <a:r>
              <a:rPr lang="en-US" sz="1800" dirty="0"/>
              <a:t>Up to </a:t>
            </a:r>
            <a:r>
              <a:rPr lang="en-US" sz="1800" b="1" dirty="0"/>
              <a:t>72% discount</a:t>
            </a:r>
            <a:r>
              <a:rPr lang="en-US" sz="1800" dirty="0"/>
              <a:t> over On-Demand</a:t>
            </a:r>
          </a:p>
          <a:p>
            <a:r>
              <a:rPr lang="en-US" sz="1800" dirty="0"/>
              <a:t>Commitment required: </a:t>
            </a:r>
            <a:r>
              <a:rPr lang="en-US" sz="1800" b="1" dirty="0"/>
              <a:t>1 or 3 years</a:t>
            </a:r>
            <a:endParaRPr lang="en-US" sz="1800" dirty="0"/>
          </a:p>
          <a:p>
            <a:r>
              <a:rPr lang="en-US" sz="1800" b="1" dirty="0"/>
              <a:t>How It Works</a:t>
            </a:r>
          </a:p>
          <a:p>
            <a:r>
              <a:rPr lang="en-US" sz="1800" dirty="0"/>
              <a:t>You </a:t>
            </a:r>
            <a:r>
              <a:rPr lang="en-US" sz="1800" b="1" dirty="0"/>
              <a:t>commit</a:t>
            </a:r>
            <a:r>
              <a:rPr lang="en-US" sz="1800" dirty="0"/>
              <a:t> to a specific usage amount</a:t>
            </a:r>
            <a:br>
              <a:rPr lang="en-US" sz="1800" dirty="0"/>
            </a:br>
            <a:r>
              <a:rPr lang="en-US" sz="1800" i="1" dirty="0"/>
              <a:t>e.g., $10/hour for 1 or 3 years</a:t>
            </a:r>
            <a:endParaRPr lang="en-US" sz="1800" dirty="0"/>
          </a:p>
          <a:p>
            <a:r>
              <a:rPr lang="en-US" sz="1800" b="1" dirty="0"/>
              <a:t>All usage</a:t>
            </a:r>
            <a:r>
              <a:rPr lang="en-US" sz="1800" dirty="0"/>
              <a:t> within that limit gets discounted</a:t>
            </a:r>
          </a:p>
          <a:p>
            <a:r>
              <a:rPr lang="en-US" sz="1800" dirty="0"/>
              <a:t>Extra usage = Billed </a:t>
            </a:r>
            <a:r>
              <a:rPr lang="en-US" sz="1800" b="1" dirty="0"/>
              <a:t>On-Demand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93915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C79EF7-A710-15BD-51D8-D097884E11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4549891"/>
              </p:ext>
            </p:extLst>
          </p:nvPr>
        </p:nvGraphicFramePr>
        <p:xfrm>
          <a:off x="643467" y="1574189"/>
          <a:ext cx="10905067" cy="3709624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443872">
                  <a:extLst>
                    <a:ext uri="{9D8B030D-6E8A-4147-A177-3AD203B41FA5}">
                      <a16:colId xmlns:a16="http://schemas.microsoft.com/office/drawing/2014/main" val="930740707"/>
                    </a:ext>
                  </a:extLst>
                </a:gridCol>
                <a:gridCol w="2389361">
                  <a:extLst>
                    <a:ext uri="{9D8B030D-6E8A-4147-A177-3AD203B41FA5}">
                      <a16:colId xmlns:a16="http://schemas.microsoft.com/office/drawing/2014/main" val="3179399975"/>
                    </a:ext>
                  </a:extLst>
                </a:gridCol>
                <a:gridCol w="3927769">
                  <a:extLst>
                    <a:ext uri="{9D8B030D-6E8A-4147-A177-3AD203B41FA5}">
                      <a16:colId xmlns:a16="http://schemas.microsoft.com/office/drawing/2014/main" val="1569298825"/>
                    </a:ext>
                  </a:extLst>
                </a:gridCol>
                <a:gridCol w="2144065">
                  <a:extLst>
                    <a:ext uri="{9D8B030D-6E8A-4147-A177-3AD203B41FA5}">
                      <a16:colId xmlns:a16="http://schemas.microsoft.com/office/drawing/2014/main" val="913095090"/>
                    </a:ext>
                  </a:extLst>
                </a:gridCol>
              </a:tblGrid>
              <a:tr h="1232665">
                <a:tc>
                  <a:txBody>
                    <a:bodyPr/>
                    <a:lstStyle/>
                    <a:p>
                      <a:r>
                        <a:rPr lang="en-US" sz="2700" cap="none" spc="0" dirty="0">
                          <a:solidFill>
                            <a:schemeClr val="tx1"/>
                          </a:solidFill>
                        </a:rPr>
                        <a:t>Usage/hour</a:t>
                      </a:r>
                    </a:p>
                  </a:txBody>
                  <a:tcPr marL="226764" marR="245039" marT="174434" marB="1744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 cap="none" spc="0" dirty="0">
                          <a:solidFill>
                            <a:schemeClr val="tx1"/>
                          </a:solidFill>
                        </a:rPr>
                        <a:t>Discounted</a:t>
                      </a:r>
                    </a:p>
                  </a:txBody>
                  <a:tcPr marL="226764" marR="245039" marT="174434" marB="1744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On-Demand Charged</a:t>
                      </a:r>
                    </a:p>
                  </a:txBody>
                  <a:tcPr marL="226764" marR="245039" marT="174434" marB="1744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Total You Pay</a:t>
                      </a:r>
                    </a:p>
                  </a:txBody>
                  <a:tcPr marL="226764" marR="245039" marT="174434" marB="1744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435534"/>
                  </a:ext>
                </a:extLst>
              </a:tr>
              <a:tr h="825653">
                <a:tc>
                  <a:txBody>
                    <a:bodyPr/>
                    <a:lstStyle/>
                    <a:p>
                      <a:r>
                        <a:rPr lang="en-US" sz="2700" cap="none" spc="0" dirty="0">
                          <a:solidFill>
                            <a:schemeClr val="tx1"/>
                          </a:solidFill>
                        </a:rPr>
                        <a:t>$10</a:t>
                      </a:r>
                    </a:p>
                  </a:txBody>
                  <a:tcPr marL="226764" marR="245039" marT="174434" marB="1744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 cap="none" spc="0" dirty="0">
                          <a:solidFill>
                            <a:schemeClr val="tx1"/>
                          </a:solidFill>
                        </a:rPr>
                        <a:t>$10</a:t>
                      </a:r>
                    </a:p>
                  </a:txBody>
                  <a:tcPr marL="226764" marR="245039" marT="174434" marB="1744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$0</a:t>
                      </a:r>
                    </a:p>
                  </a:txBody>
                  <a:tcPr marL="226764" marR="245039" marT="174434" marB="1744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$10</a:t>
                      </a:r>
                    </a:p>
                  </a:txBody>
                  <a:tcPr marL="226764" marR="245039" marT="174434" marB="1744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798174"/>
                  </a:ext>
                </a:extLst>
              </a:tr>
              <a:tr h="825653">
                <a:tc>
                  <a:txBody>
                    <a:bodyPr/>
                    <a:lstStyle/>
                    <a:p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$7</a:t>
                      </a:r>
                    </a:p>
                  </a:txBody>
                  <a:tcPr marL="226764" marR="245039" marT="174434" marB="1744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 cap="none" spc="0" dirty="0">
                          <a:solidFill>
                            <a:schemeClr val="tx1"/>
                          </a:solidFill>
                        </a:rPr>
                        <a:t>$7</a:t>
                      </a:r>
                    </a:p>
                  </a:txBody>
                  <a:tcPr marL="226764" marR="245039" marT="174434" marB="1744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 cap="none" spc="0" dirty="0">
                          <a:solidFill>
                            <a:schemeClr val="tx1"/>
                          </a:solidFill>
                        </a:rPr>
                        <a:t>$0 (but $3 unused)</a:t>
                      </a:r>
                    </a:p>
                  </a:txBody>
                  <a:tcPr marL="226764" marR="245039" marT="174434" marB="1744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$10</a:t>
                      </a:r>
                    </a:p>
                  </a:txBody>
                  <a:tcPr marL="226764" marR="245039" marT="174434" marB="1744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415747"/>
                  </a:ext>
                </a:extLst>
              </a:tr>
              <a:tr h="825653">
                <a:tc>
                  <a:txBody>
                    <a:bodyPr/>
                    <a:lstStyle/>
                    <a:p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$14</a:t>
                      </a:r>
                    </a:p>
                  </a:txBody>
                  <a:tcPr marL="226764" marR="245039" marT="174434" marB="1744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$10</a:t>
                      </a:r>
                    </a:p>
                  </a:txBody>
                  <a:tcPr marL="226764" marR="245039" marT="174434" marB="1744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 cap="none" spc="0" dirty="0">
                          <a:solidFill>
                            <a:schemeClr val="tx1"/>
                          </a:solidFill>
                        </a:rPr>
                        <a:t>$4</a:t>
                      </a:r>
                    </a:p>
                  </a:txBody>
                  <a:tcPr marL="226764" marR="245039" marT="174434" marB="1744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 cap="none" spc="0" dirty="0">
                          <a:solidFill>
                            <a:schemeClr val="tx1"/>
                          </a:solidFill>
                        </a:rPr>
                        <a:t>$14</a:t>
                      </a:r>
                    </a:p>
                  </a:txBody>
                  <a:tcPr marL="226764" marR="245039" marT="174434" marB="1744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57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325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13846-C685-2D40-0FD3-5BD95F56C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Flexibility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D1739-44F7-47B5-E5B2-872AFA721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Savings Plans allow flexibility in: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A6B106-7A35-012F-152C-130628ADE9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737541"/>
              </p:ext>
            </p:extLst>
          </p:nvPr>
        </p:nvGraphicFramePr>
        <p:xfrm>
          <a:off x="918587" y="253825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07883915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9753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682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Instance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m5.large → m5.2xlarge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283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OS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Linux, Windows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887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Tenancy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Default, Dedicated, Host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9547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B355916-6CCC-8DD3-A3C3-9E840527B94B}"/>
              </a:ext>
            </a:extLst>
          </p:cNvPr>
          <p:cNvSpPr txBox="1"/>
          <p:nvPr/>
        </p:nvSpPr>
        <p:spPr>
          <a:xfrm>
            <a:off x="1564751" y="4492474"/>
            <a:ext cx="60200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Locked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Instance </a:t>
            </a:r>
            <a:r>
              <a:rPr lang="en-US" b="1" dirty="0"/>
              <a:t>Family</a:t>
            </a:r>
            <a:r>
              <a:rPr lang="en-US" dirty="0"/>
              <a:t> (e.g., M5)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AWS </a:t>
            </a:r>
            <a:r>
              <a:rPr lang="en-US" b="1" dirty="0"/>
              <a:t>Region</a:t>
            </a:r>
            <a:r>
              <a:rPr lang="en-US" dirty="0"/>
              <a:t> (e.g., us-east-1)</a:t>
            </a:r>
          </a:p>
        </p:txBody>
      </p:sp>
    </p:spTree>
    <p:extLst>
      <p:ext uri="{BB962C8B-B14F-4D97-AF65-F5344CB8AC3E}">
        <p14:creationId xmlns:p14="http://schemas.microsoft.com/office/powerpoint/2010/main" val="4283508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19B6B50E-FA3B-F1D1-AF5F-9CFE736CC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60481-AC11-6FAC-085C-B9F953C3E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fontAlgn="base">
              <a:spcAft>
                <a:spcPct val="0"/>
              </a:spcAft>
            </a:pPr>
            <a:endParaRPr lang="en-US" sz="2000" dirty="0">
              <a:latin typeface="+mj-lt"/>
            </a:endParaRPr>
          </a:p>
          <a:p>
            <a:pPr fontAlgn="base">
              <a:spcAft>
                <a:spcPct val="0"/>
              </a:spcAft>
            </a:pPr>
            <a:r>
              <a:rPr lang="en-US" sz="2000" dirty="0">
                <a:latin typeface="+mj-lt"/>
              </a:rPr>
              <a:t>Best Use Case</a:t>
            </a:r>
          </a:p>
          <a:p>
            <a:pPr fontAlgn="base">
              <a:spcAft>
                <a:spcPct val="0"/>
              </a:spcAft>
            </a:pPr>
            <a:r>
              <a:rPr lang="en-US" sz="2000" dirty="0">
                <a:latin typeface="+mj-lt"/>
              </a:rPr>
              <a:t>You run consistent workloads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Want freedom to change instance sizes or OS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Prefer flexibility over rigidity of Ris</a:t>
            </a:r>
          </a:p>
          <a:p>
            <a:pPr fontAlgn="base">
              <a:spcAft>
                <a:spcPct val="0"/>
              </a:spcAft>
            </a:pPr>
            <a:r>
              <a:rPr lang="en-US" altLang="en-US" sz="2000" dirty="0">
                <a:latin typeface="+mj-lt"/>
              </a:rPr>
              <a:t>Example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2000" dirty="0">
                <a:latin typeface="+mj-lt"/>
              </a:rPr>
              <a:t>You're hosting web apps &amp; analytics in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us-east-1</a:t>
            </a:r>
            <a:br>
              <a:rPr lang="en-US" altLang="en-US" sz="2000" dirty="0">
                <a:latin typeface="+mj-lt"/>
              </a:rPr>
            </a:br>
            <a:r>
              <a:rPr lang="en-US" altLang="en-US" sz="2000" dirty="0">
                <a:latin typeface="+mj-lt"/>
              </a:rPr>
              <a:t>Choose a Savings Plan: $20/hour for 3 years</a:t>
            </a:r>
            <a:br>
              <a:rPr lang="en-US" altLang="en-US" sz="2000" dirty="0">
                <a:latin typeface="+mj-lt"/>
              </a:rPr>
            </a:br>
            <a:r>
              <a:rPr lang="en-US" altLang="en-US" sz="2000" dirty="0">
                <a:latin typeface="+mj-lt"/>
              </a:rPr>
              <a:t> You switch between m5.large, m5.2xlarge</a:t>
            </a:r>
            <a:br>
              <a:rPr lang="en-US" altLang="en-US" sz="2000" dirty="0">
                <a:latin typeface="+mj-lt"/>
              </a:rPr>
            </a:br>
            <a:r>
              <a:rPr lang="en-US" altLang="en-US" sz="2000" dirty="0">
                <a:latin typeface="+mj-lt"/>
              </a:rPr>
              <a:t>Still get discounted rates — no reconfiguration!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06205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B976F3-8EC5-8560-D16A-287333C55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6802" y="603504"/>
            <a:ext cx="5577902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4-EC2 Spot Instances</a:t>
            </a: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2B97DD49-15BE-7F49-017A-43C23382F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1102440"/>
            <a:ext cx="4681506" cy="468150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E164FC4-FDFD-C1E3-23E0-D5B175B56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6802" y="2212848"/>
            <a:ext cx="5577902" cy="4096512"/>
          </a:xfrm>
        </p:spPr>
        <p:txBody>
          <a:bodyPr>
            <a:normAutofit/>
          </a:bodyPr>
          <a:lstStyle/>
          <a:p>
            <a:r>
              <a:rPr lang="en-US" sz="1800" b="1"/>
              <a:t>What Are They?</a:t>
            </a:r>
            <a:br>
              <a:rPr lang="en-US" sz="1800"/>
            </a:br>
            <a:r>
              <a:rPr lang="en-US" sz="1800"/>
              <a:t>EC2 Spot Instances let you use </a:t>
            </a:r>
            <a:r>
              <a:rPr lang="en-US" sz="1800" b="1"/>
              <a:t>unused EC2 capacity</a:t>
            </a:r>
            <a:r>
              <a:rPr lang="en-US" sz="1800"/>
              <a:t> at </a:t>
            </a:r>
            <a:r>
              <a:rPr lang="en-US" sz="1800" b="1"/>
              <a:t>up to 90% discount</a:t>
            </a:r>
            <a:r>
              <a:rPr lang="en-US" sz="1800"/>
              <a:t> compared to On-Demand prices.</a:t>
            </a:r>
          </a:p>
          <a:p>
            <a:r>
              <a:rPr lang="en-US" sz="1800" b="1"/>
              <a:t>Key Points</a:t>
            </a:r>
          </a:p>
          <a:p>
            <a:r>
              <a:rPr lang="en-US" sz="1800"/>
              <a:t> </a:t>
            </a:r>
            <a:r>
              <a:rPr lang="en-US" sz="1800" b="1"/>
              <a:t>Cheapest EC2 option</a:t>
            </a:r>
            <a:r>
              <a:rPr lang="en-US" sz="1800"/>
              <a:t> — but not reliable</a:t>
            </a:r>
          </a:p>
          <a:p>
            <a:r>
              <a:rPr lang="en-US" sz="1800"/>
              <a:t> AWS </a:t>
            </a:r>
            <a:r>
              <a:rPr lang="en-US" sz="1800" b="1"/>
              <a:t>can terminate</a:t>
            </a:r>
            <a:r>
              <a:rPr lang="en-US" sz="1800"/>
              <a:t> (reclaim) your instance </a:t>
            </a:r>
            <a:r>
              <a:rPr lang="en-US" sz="1800" b="1"/>
              <a:t>any time</a:t>
            </a:r>
            <a:endParaRPr lang="en-US" sz="1800"/>
          </a:p>
          <a:p>
            <a:r>
              <a:rPr lang="en-US" sz="1800"/>
              <a:t>Your instance runs </a:t>
            </a:r>
            <a:r>
              <a:rPr lang="en-US" sz="1800" b="1"/>
              <a:t>only if your bid ≥ current spot price</a:t>
            </a:r>
            <a:endParaRPr lang="en-US" sz="180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1366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D0802-5B45-A0E2-2D20-FF9AD33C5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000"/>
              <a:t>Best for jobs that can handle interruptions:</a:t>
            </a:r>
          </a:p>
          <a:p>
            <a:r>
              <a:rPr lang="en-US" sz="2000"/>
              <a:t>Batch processing</a:t>
            </a:r>
          </a:p>
          <a:p>
            <a:r>
              <a:rPr lang="en-US" sz="2000"/>
              <a:t>AI model training</a:t>
            </a:r>
          </a:p>
          <a:p>
            <a:r>
              <a:rPr lang="en-US" sz="2000"/>
              <a:t>Image/Video rendering</a:t>
            </a:r>
          </a:p>
          <a:p>
            <a:r>
              <a:rPr lang="en-US" sz="2000"/>
              <a:t>Not Recommended For:</a:t>
            </a:r>
          </a:p>
          <a:p>
            <a:r>
              <a:rPr lang="en-US" sz="2000"/>
              <a:t> Critical systems</a:t>
            </a:r>
          </a:p>
          <a:p>
            <a:r>
              <a:rPr lang="en-US" sz="2000"/>
              <a:t> Databases</a:t>
            </a:r>
          </a:p>
          <a:p>
            <a:r>
              <a:rPr lang="en-US" sz="2000"/>
              <a:t> Web servers requiring high availability</a:t>
            </a:r>
          </a:p>
          <a:p>
            <a:r>
              <a:rPr lang="en-US" sz="2000"/>
              <a:t>Example:</a:t>
            </a:r>
          </a:p>
          <a:p>
            <a:r>
              <a:rPr lang="en-US" sz="2000"/>
              <a:t>You run a video processing job that takes 2 hours but can restart if interrupted — Spot is ideal.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105666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ACA6F80-D392-A64E-3CF8-F28F1CCE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6ACEF-76C3-7FF2-B033-EC34AE6BB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40"/>
            <a:ext cx="4779572" cy="2067705"/>
          </a:xfrm>
        </p:spPr>
        <p:txBody>
          <a:bodyPr anchor="t">
            <a:normAutofit/>
          </a:bodyPr>
          <a:lstStyle/>
          <a:p>
            <a:r>
              <a:rPr lang="en-US" b="1"/>
              <a:t>EC2 Dedicated Hosts</a:t>
            </a:r>
            <a:br>
              <a:rPr lang="en-US" b="1"/>
            </a:br>
            <a:endParaRPr lang="en-US" dirty="0"/>
          </a:p>
        </p:txBody>
      </p:sp>
      <p:pic>
        <p:nvPicPr>
          <p:cNvPr id="14" name="Graphic 13" descr="Cloud Computing">
            <a:extLst>
              <a:ext uri="{FF2B5EF4-FFF2-40B4-BE49-F238E27FC236}">
                <a16:creationId xmlns:a16="http://schemas.microsoft.com/office/drawing/2014/main" id="{EA2478B0-507B-0D78-DA9C-6112E7755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2976281"/>
            <a:ext cx="3333077" cy="3333077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F341C11-F127-24E8-E2B1-5FD3EDA6A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0551" y="548638"/>
            <a:ext cx="5546770" cy="5760721"/>
          </a:xfrm>
        </p:spPr>
        <p:txBody>
          <a:bodyPr anchor="t">
            <a:normAutofit/>
          </a:bodyPr>
          <a:lstStyle/>
          <a:p>
            <a:r>
              <a:rPr lang="en-US" sz="1800" dirty="0"/>
              <a:t> </a:t>
            </a:r>
            <a:r>
              <a:rPr lang="en-US" sz="1800" b="1" dirty="0"/>
              <a:t>What Is It?</a:t>
            </a:r>
            <a:br>
              <a:rPr lang="en-US" sz="1800" dirty="0"/>
            </a:br>
            <a:r>
              <a:rPr lang="en-US" sz="1800" dirty="0"/>
              <a:t>A </a:t>
            </a:r>
            <a:r>
              <a:rPr lang="en-US" sz="1800" b="1" dirty="0"/>
              <a:t>physical server</a:t>
            </a:r>
            <a:r>
              <a:rPr lang="en-US" sz="1800" dirty="0"/>
              <a:t> fully dedicated to your AWS account.</a:t>
            </a:r>
            <a:br>
              <a:rPr lang="en-US" sz="1800" dirty="0"/>
            </a:br>
            <a:r>
              <a:rPr lang="en-US" sz="1800" dirty="0"/>
              <a:t>You control instance placement on that hardware.</a:t>
            </a:r>
          </a:p>
          <a:p>
            <a:r>
              <a:rPr lang="en-US" sz="1800" b="1" dirty="0"/>
              <a:t>Why Use It?</a:t>
            </a:r>
          </a:p>
          <a:p>
            <a:r>
              <a:rPr lang="en-US" sz="1800" dirty="0"/>
              <a:t> For </a:t>
            </a:r>
            <a:r>
              <a:rPr lang="en-US" sz="1800" b="1" dirty="0"/>
              <a:t>compliance needs</a:t>
            </a:r>
            <a:r>
              <a:rPr lang="en-US" sz="1800" dirty="0"/>
              <a:t> (e.g., finance, healthcare)</a:t>
            </a:r>
          </a:p>
          <a:p>
            <a:r>
              <a:rPr lang="en-US" sz="1800" dirty="0"/>
              <a:t> When you need to use your </a:t>
            </a:r>
            <a:r>
              <a:rPr lang="en-US" sz="1800" b="1" dirty="0"/>
              <a:t>own software licenses</a:t>
            </a:r>
            <a:br>
              <a:rPr lang="en-US" sz="1800" dirty="0"/>
            </a:br>
            <a:r>
              <a:rPr lang="en-US" sz="1800" dirty="0"/>
              <a:t>(BYOL – Bring Your Own License)</a:t>
            </a:r>
          </a:p>
          <a:p>
            <a:r>
              <a:rPr lang="en-US" sz="1800" dirty="0"/>
              <a:t> Helpful for software licensed </a:t>
            </a:r>
            <a:r>
              <a:rPr lang="en-US" sz="1800" b="1" dirty="0"/>
              <a:t>per core, per socket, or per VM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39488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49662-96BA-A983-1330-43DD286C9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1300" b="1" dirty="0"/>
              <a:t>Pricing Options</a:t>
            </a:r>
          </a:p>
          <a:p>
            <a:r>
              <a:rPr lang="en-US" sz="2400" b="1" dirty="0"/>
              <a:t>On-Demand</a:t>
            </a:r>
            <a:r>
              <a:rPr lang="en-US" sz="2400" dirty="0"/>
              <a:t> – Pay per second</a:t>
            </a:r>
          </a:p>
          <a:p>
            <a:r>
              <a:rPr lang="en-US" sz="2400" b="1" dirty="0"/>
              <a:t>Reserved Host</a:t>
            </a:r>
            <a:r>
              <a:rPr lang="en-US" sz="2400" dirty="0"/>
              <a:t> – 1 or 3 years with:</a:t>
            </a:r>
          </a:p>
          <a:p>
            <a:pPr lvl="1"/>
            <a:r>
              <a:rPr lang="en-US" dirty="0"/>
              <a:t>No Upfront</a:t>
            </a:r>
          </a:p>
          <a:p>
            <a:pPr lvl="1"/>
            <a:r>
              <a:rPr lang="en-US" dirty="0"/>
              <a:t>Partial Upfront</a:t>
            </a:r>
          </a:p>
          <a:p>
            <a:pPr lvl="1"/>
            <a:r>
              <a:rPr lang="en-US" dirty="0"/>
              <a:t>All Upfront</a:t>
            </a:r>
          </a:p>
          <a:p>
            <a:r>
              <a:rPr lang="en-US" sz="2400" b="1" dirty="0"/>
              <a:t>Key Points</a:t>
            </a:r>
          </a:p>
          <a:p>
            <a:r>
              <a:rPr lang="en-US" sz="2400" dirty="0"/>
              <a:t> </a:t>
            </a:r>
            <a:r>
              <a:rPr lang="en-US" sz="2400" b="1" dirty="0"/>
              <a:t>Most expensive</a:t>
            </a:r>
            <a:r>
              <a:rPr lang="en-US" sz="2400" dirty="0"/>
              <a:t> EC2 option</a:t>
            </a:r>
          </a:p>
          <a:p>
            <a:r>
              <a:rPr lang="en-US" sz="2400" dirty="0"/>
              <a:t> Ideal for complex licensing or strict audit/regulatory requirements</a:t>
            </a:r>
          </a:p>
          <a:p>
            <a:r>
              <a:rPr lang="en-US" sz="2400" b="1" dirty="0"/>
              <a:t>Example:</a:t>
            </a:r>
          </a:p>
          <a:p>
            <a:r>
              <a:rPr lang="en-US" sz="2400" dirty="0"/>
              <a:t>A bank wants to run Windows Server on AWS using their </a:t>
            </a:r>
            <a:r>
              <a:rPr lang="en-US" sz="2400" b="1" dirty="0"/>
              <a:t>existing per-core license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EC2 Dedicated Host is the best choice.</a:t>
            </a:r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74202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77A54E-3BD8-67F4-9D0A-62079E424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 b="1"/>
              <a:t>EC2 Dedicated Instances </a:t>
            </a:r>
            <a:endParaRPr lang="en-US" sz="4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9A6FC3-8E42-6ED0-89B1-5DD7FF1303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6842185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2226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8B9BD-97A7-E287-463E-7B17C5446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b="1" dirty="0"/>
              <a:t>Important Distinction</a:t>
            </a:r>
          </a:p>
          <a:p>
            <a:r>
              <a:rPr lang="en-US" dirty="0"/>
              <a:t> Hardware is not shared with other AWS customers</a:t>
            </a:r>
          </a:p>
          <a:p>
            <a:r>
              <a:rPr lang="en-US" dirty="0"/>
              <a:t> But can be shared within your account (unlike Dedicated Hosts)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You need hardware-level isolation for compliance but don’t need full host control</a:t>
            </a:r>
            <a:br>
              <a:rPr lang="en-US" dirty="0"/>
            </a:br>
            <a:r>
              <a:rPr lang="en-US" dirty="0"/>
              <a:t> Use Dedicated Instances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302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245029-1FB2-436D-4386-66387878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US" b="1"/>
              <a:t>EC2 Capacity Reservations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4CB88-2EA1-55FF-D35C-CA566FB28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/>
          </a:bodyPr>
          <a:lstStyle/>
          <a:p>
            <a:r>
              <a:rPr lang="en-US" b="1"/>
              <a:t>What It Is:</a:t>
            </a:r>
          </a:p>
          <a:p>
            <a:r>
              <a:rPr lang="en-US"/>
              <a:t>EC2 Capacity Reservation lets you </a:t>
            </a:r>
            <a:r>
              <a:rPr lang="en-US" b="1"/>
              <a:t>reserve Amazon EC2 capacity</a:t>
            </a:r>
            <a:r>
              <a:rPr lang="en-US"/>
              <a:t> (virtual servers) in a </a:t>
            </a:r>
            <a:r>
              <a:rPr lang="en-US" b="1"/>
              <a:t>specific Availability Zone (AZ)</a:t>
            </a:r>
            <a:r>
              <a:rPr lang="en-US"/>
              <a:t> — so it's always available when needed.</a:t>
            </a:r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0598D0-9367-1EA5-7A87-00464DD4A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78078"/>
              </p:ext>
            </p:extLst>
          </p:nvPr>
        </p:nvGraphicFramePr>
        <p:xfrm>
          <a:off x="6541053" y="734280"/>
          <a:ext cx="4777382" cy="5216735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1985179">
                  <a:extLst>
                    <a:ext uri="{9D8B030D-6E8A-4147-A177-3AD203B41FA5}">
                      <a16:colId xmlns:a16="http://schemas.microsoft.com/office/drawing/2014/main" val="1115085888"/>
                    </a:ext>
                  </a:extLst>
                </a:gridCol>
                <a:gridCol w="2792203">
                  <a:extLst>
                    <a:ext uri="{9D8B030D-6E8A-4147-A177-3AD203B41FA5}">
                      <a16:colId xmlns:a16="http://schemas.microsoft.com/office/drawing/2014/main" val="1008662617"/>
                    </a:ext>
                  </a:extLst>
                </a:gridCol>
              </a:tblGrid>
              <a:tr h="456845"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124228" marR="95560" marT="95560" marB="9556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124228" marR="95560" marT="95560" marB="9556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91740"/>
                  </a:ext>
                </a:extLst>
              </a:tr>
              <a:tr h="681158">
                <a:tc>
                  <a:txBody>
                    <a:bodyPr/>
                    <a:lstStyle/>
                    <a:p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Guaranteed Capacity</a:t>
                      </a:r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4228" marR="95560" marT="95560" marB="9556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Always have instance capacity available in your chosen AZ</a:t>
                      </a:r>
                    </a:p>
                  </a:txBody>
                  <a:tcPr marL="124228" marR="95560" marT="95560" marB="9556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869866"/>
                  </a:ext>
                </a:extLst>
              </a:tr>
              <a:tr h="905472">
                <a:tc>
                  <a:txBody>
                    <a:bodyPr/>
                    <a:lstStyle/>
                    <a:p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No Time Commitment</a:t>
                      </a:r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4228" marR="95560" marT="95560" marB="9556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You can create or cancel anytime — unlike Reserved Instances</a:t>
                      </a:r>
                    </a:p>
                  </a:txBody>
                  <a:tcPr marL="124228" marR="95560" marT="95560" marB="9556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715335"/>
                  </a:ext>
                </a:extLst>
              </a:tr>
              <a:tr h="905472">
                <a:tc>
                  <a:txBody>
                    <a:bodyPr/>
                    <a:lstStyle/>
                    <a:p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No Discount</a:t>
                      </a:r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4228" marR="95560" marT="95560" marB="9556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You pay </a:t>
                      </a: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On-Demand pricing</a:t>
                      </a: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, even if you don't use the instance</a:t>
                      </a:r>
                    </a:p>
                  </a:txBody>
                  <a:tcPr marL="124228" marR="95560" marT="95560" marB="9556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09464"/>
                  </a:ext>
                </a:extLst>
              </a:tr>
              <a:tr h="905472">
                <a:tc>
                  <a:txBody>
                    <a:bodyPr/>
                    <a:lstStyle/>
                    <a:p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Billing</a:t>
                      </a:r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4228" marR="95560" marT="95560" marB="9556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Charged as long as reservation exists, whether the instance runs or not</a:t>
                      </a:r>
                    </a:p>
                  </a:txBody>
                  <a:tcPr marL="124228" marR="95560" marT="95560" marB="9556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104753"/>
                  </a:ext>
                </a:extLst>
              </a:tr>
              <a:tr h="681158">
                <a:tc>
                  <a:txBody>
                    <a:bodyPr/>
                    <a:lstStyle/>
                    <a:p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Can Combine with Savings</a:t>
                      </a:r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4228" marR="95560" marT="95560" marB="9556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Use </a:t>
                      </a: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Savings Plans or RIs</a:t>
                      </a: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 for billing discounts</a:t>
                      </a:r>
                    </a:p>
                  </a:txBody>
                  <a:tcPr marL="124228" marR="95560" marT="95560" marB="9556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016067"/>
                  </a:ext>
                </a:extLst>
              </a:tr>
              <a:tr h="681158">
                <a:tc>
                  <a:txBody>
                    <a:bodyPr/>
                    <a:lstStyle/>
                    <a:p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Launch Later</a:t>
                      </a:r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4228" marR="95560" marT="95560" marB="9556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Reserve capacity now, launch the instance when ready</a:t>
                      </a:r>
                    </a:p>
                  </a:txBody>
                  <a:tcPr marL="124228" marR="95560" marT="95560" marB="9556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222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993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22A4C-A992-537E-F127-1A2C6857E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400" b="1" dirty="0"/>
              <a:t>When to Use It (Use Cases):</a:t>
            </a:r>
          </a:p>
          <a:p>
            <a:r>
              <a:rPr lang="en-US" sz="2400" dirty="0"/>
              <a:t>Critical applications that </a:t>
            </a:r>
            <a:r>
              <a:rPr lang="en-US" sz="2400" b="1" dirty="0"/>
              <a:t>must run in a specific AZ</a:t>
            </a:r>
            <a:endParaRPr lang="en-US" sz="2400" dirty="0"/>
          </a:p>
          <a:p>
            <a:r>
              <a:rPr lang="en-US" sz="2400" b="1" dirty="0"/>
              <a:t>Disaster recovery setups</a:t>
            </a:r>
            <a:r>
              <a:rPr lang="en-US" sz="2400" dirty="0"/>
              <a:t> requiring guaranteed capacity</a:t>
            </a:r>
          </a:p>
          <a:p>
            <a:r>
              <a:rPr lang="en-US" sz="2400" dirty="0"/>
              <a:t>Temporary workloads that </a:t>
            </a:r>
            <a:r>
              <a:rPr lang="en-US" sz="2400" b="1" dirty="0"/>
              <a:t>can't afford “instance not available” errors</a:t>
            </a:r>
            <a:endParaRPr lang="en-US" sz="2400" dirty="0"/>
          </a:p>
          <a:p>
            <a:r>
              <a:rPr lang="en-US" sz="2400" b="1" dirty="0"/>
              <a:t>Example:</a:t>
            </a:r>
          </a:p>
          <a:p>
            <a:r>
              <a:rPr lang="en-US" sz="2400" dirty="0"/>
              <a:t>You have a business-critical event every Friday at 6 PM. You want to guarantee EC2 instance availability in </a:t>
            </a:r>
            <a:r>
              <a:rPr lang="en-US" sz="2400" b="1" dirty="0"/>
              <a:t>us-east-1a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👉 Use Capacity Reservation to ensure </a:t>
            </a:r>
            <a:r>
              <a:rPr lang="en-US" sz="2400" b="1" dirty="0"/>
              <a:t>your preferred instance type</a:t>
            </a:r>
            <a:r>
              <a:rPr lang="en-US" sz="2400" dirty="0"/>
              <a:t> is always available at that time.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59985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63D77-B7C6-66BF-097D-7CA38DBC4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US"/>
              <a:t>Which purchasing option is right for me?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2D84B03-686F-084C-00DF-75FAC02037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9368093"/>
              </p:ext>
            </p:extLst>
          </p:nvPr>
        </p:nvGraphicFramePr>
        <p:xfrm>
          <a:off x="699006" y="1881051"/>
          <a:ext cx="10772322" cy="4414355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3537013">
                  <a:extLst>
                    <a:ext uri="{9D8B030D-6E8A-4147-A177-3AD203B41FA5}">
                      <a16:colId xmlns:a16="http://schemas.microsoft.com/office/drawing/2014/main" val="3947034914"/>
                    </a:ext>
                  </a:extLst>
                </a:gridCol>
                <a:gridCol w="3590175">
                  <a:extLst>
                    <a:ext uri="{9D8B030D-6E8A-4147-A177-3AD203B41FA5}">
                      <a16:colId xmlns:a16="http://schemas.microsoft.com/office/drawing/2014/main" val="2050248939"/>
                    </a:ext>
                  </a:extLst>
                </a:gridCol>
                <a:gridCol w="3645134">
                  <a:extLst>
                    <a:ext uri="{9D8B030D-6E8A-4147-A177-3AD203B41FA5}">
                      <a16:colId xmlns:a16="http://schemas.microsoft.com/office/drawing/2014/main" val="366344634"/>
                    </a:ext>
                  </a:extLst>
                </a:gridCol>
              </a:tblGrid>
              <a:tr h="443309"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Option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754" marR="93657" marT="93657" marB="9365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Analogy (Hotel)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754" marR="93657" marT="93657" marB="936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When to Use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754" marR="93657" marT="93657" marB="936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569418"/>
                  </a:ext>
                </a:extLst>
              </a:tr>
              <a:tr h="661841"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On-Demand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754" marR="93657" marT="93657" marB="9365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Just walk into the hotel and book a room anytime — pay full price</a:t>
                      </a:r>
                    </a:p>
                  </a:txBody>
                  <a:tcPr marL="121754" marR="93657" marT="93657" marB="936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For short-term or unpredictable workloads</a:t>
                      </a:r>
                    </a:p>
                  </a:txBody>
                  <a:tcPr marL="121754" marR="93657" marT="93657" marB="936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763498"/>
                  </a:ext>
                </a:extLst>
              </a:tr>
              <a:tr h="661841"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Reserved Instances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754" marR="93657" marT="93657" marB="9365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Book in advance for a long stay — get big discounts</a:t>
                      </a:r>
                    </a:p>
                  </a:txBody>
                  <a:tcPr marL="121754" marR="93657" marT="93657" marB="936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For steady workloads (e.g., databases, servers)</a:t>
                      </a:r>
                    </a:p>
                  </a:txBody>
                  <a:tcPr marL="121754" marR="93657" marT="93657" marB="936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990623"/>
                  </a:ext>
                </a:extLst>
              </a:tr>
              <a:tr h="661841"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Savings Plans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754" marR="93657" marT="93657" marB="9365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Pay a fixed amount per hour — use any room (King, Suite, etc.)</a:t>
                      </a:r>
                    </a:p>
                  </a:txBody>
                  <a:tcPr marL="121754" marR="93657" marT="93657" marB="936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For consistent usage, but need flexibility (instance types)</a:t>
                      </a:r>
                    </a:p>
                  </a:txBody>
                  <a:tcPr marL="121754" marR="93657" marT="93657" marB="936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5501691"/>
                  </a:ext>
                </a:extLst>
              </a:tr>
              <a:tr h="661841"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Spot Instances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754" marR="93657" marT="93657" marB="9365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Bid on empty rooms — stay as long as no one outbids you</a:t>
                      </a:r>
                    </a:p>
                  </a:txBody>
                  <a:tcPr marL="121754" marR="93657" marT="93657" marB="936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For non-critical, interruptible tasks (batch jobs)</a:t>
                      </a:r>
                    </a:p>
                  </a:txBody>
                  <a:tcPr marL="121754" marR="93657" marT="93657" marB="936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418107"/>
                  </a:ext>
                </a:extLst>
              </a:tr>
              <a:tr h="661841"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Dedicated Hosts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754" marR="93657" marT="93657" marB="9365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You book the whole hotel building for your exclusive use</a:t>
                      </a:r>
                    </a:p>
                  </a:txBody>
                  <a:tcPr marL="121754" marR="93657" marT="93657" marB="936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For strict licensing/compliance needs (BYOL)</a:t>
                      </a:r>
                    </a:p>
                  </a:txBody>
                  <a:tcPr marL="121754" marR="93657" marT="93657" marB="936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579902"/>
                  </a:ext>
                </a:extLst>
              </a:tr>
              <a:tr h="661841"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Capacity Reservations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754" marR="93657" marT="93657" marB="9365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You reserve a room and pay for it even if you don’t use it</a:t>
                      </a:r>
                    </a:p>
                  </a:txBody>
                  <a:tcPr marL="121754" marR="93657" marT="93657" marB="936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For guaranteed capacity in a specific Availability Zone</a:t>
                      </a:r>
                    </a:p>
                  </a:txBody>
                  <a:tcPr marL="121754" marR="93657" marT="93657" marB="936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638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5785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1245</Words>
  <Application>Microsoft Office PowerPoint</Application>
  <PresentationFormat>Widescreen</PresentationFormat>
  <Paragraphs>186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Office Theme</vt:lpstr>
      <vt:lpstr>EC2 Instances Purchasing Options</vt:lpstr>
      <vt:lpstr>Amazon EC2 – On-Demand Instances </vt:lpstr>
      <vt:lpstr>PowerPoint Presentation</vt:lpstr>
      <vt:lpstr>Amazon EC2 – Reserved Instances (RIs) </vt:lpstr>
      <vt:lpstr>PowerPoint Presentation</vt:lpstr>
      <vt:lpstr>PowerPoint Presentation</vt:lpstr>
      <vt:lpstr>Amazon EC2 – Savings Plans</vt:lpstr>
      <vt:lpstr>PowerPoint Presentation</vt:lpstr>
      <vt:lpstr>Flexibility Features</vt:lpstr>
      <vt:lpstr>PowerPoint Presentation</vt:lpstr>
      <vt:lpstr>4-EC2 Spot Instances</vt:lpstr>
      <vt:lpstr>PowerPoint Presentation</vt:lpstr>
      <vt:lpstr>EC2 Dedicated Hosts </vt:lpstr>
      <vt:lpstr>PowerPoint Presentation</vt:lpstr>
      <vt:lpstr>EC2 Dedicated Instances </vt:lpstr>
      <vt:lpstr>PowerPoint Presentation</vt:lpstr>
      <vt:lpstr>EC2 Capacity Reservations</vt:lpstr>
      <vt:lpstr>PowerPoint Presentation</vt:lpstr>
      <vt:lpstr>Which purchasing option is right for me?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2</cp:revision>
  <dcterms:created xsi:type="dcterms:W3CDTF">2025-06-28T23:23:08Z</dcterms:created>
  <dcterms:modified xsi:type="dcterms:W3CDTF">2025-09-24T09:42:00Z</dcterms:modified>
</cp:coreProperties>
</file>