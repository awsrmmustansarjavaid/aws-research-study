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BBC1-E12D-6ACF-94AD-A04AB9C3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0DFCA-F8F4-2AEB-3F88-73BEA2BDA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9820-39B5-9D44-D05F-EE51C9A2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0C0AE-7637-93FF-EB2A-9EADEB61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C75F-ED60-C735-A918-DB76F5D0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3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B46A-3360-D5D6-5CA9-2419370B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C0D1-F890-DB4B-2880-B456E902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EAA0-22A5-EA6A-0B9E-911F4AA8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305C-6A18-FBF4-75EA-93FE5B39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E8CAB-98E4-70EA-000A-27FDD673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3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A805-B730-F519-5E21-688E2D92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EF69F-8295-423A-5BC4-EE7189E3A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19332-D005-1E79-3E5C-EEEC068A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6332-A541-8742-9976-522CEFB6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C47FB-D386-6CAE-8E00-02886F05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5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062A-E683-8CAE-37CF-CE070EA5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CFED-3B6B-AC90-61F5-922AB7537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84200-9A49-DBB9-B389-1599F93FF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10A86-7AB2-8D13-7723-D0E38466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47F49-CFD5-A45C-34FC-B00FDAFA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BAE6C-4813-5AAE-A947-482A4DD4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8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8606-269E-6864-2728-FC2521154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85B80-ABBA-0FEE-C8C3-A82A512DC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7C0D6-8065-FB4B-AC38-46F838C38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0232F-A202-5445-20F3-62C7C01B6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2C8B8-5711-9DC2-038B-DC6D689F8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B0F08-F7D8-C333-F525-6C813545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C88AB-4C23-0ED4-127F-54BB1E66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3A07-8250-71A8-457F-949D3371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2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16A9-C39C-897C-6DF5-20D5F96E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BE8AE-3B4D-A8C3-0B7C-3752FEBB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4974E-4042-A263-2AE6-ACB7174A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C4923-4F24-56B7-971B-DE515D28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E59E9-0285-7C38-37C3-EE00EB5A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52F74-4CC3-1FFE-B696-B2752F01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66B41-5586-A017-7474-0E22BEF0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C77C-D798-03EF-D1E1-39EE1826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1C93B-4F24-227B-8791-234767CC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C20D-CC32-D8FD-200A-DA1694B5F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BDFB8-1AEE-F266-FC9B-CCDDF147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937B2-E41E-60D4-04FF-ECCFFD10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F15B6-93DB-CEB1-2B14-23A48621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CB59-E283-8D80-D4AE-ACF23FEE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177D2-4F1A-BA2B-0575-1E740204A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25098-2053-5A23-D6C5-A3FF02143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D7CC-B3C7-3368-A33A-3411ADA2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7B22D-B8DA-66B5-785F-136DB4EE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A4127-2E7E-8364-28F9-58FD19D6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1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CFE7-90AA-8AA1-57DA-403549CC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B284A-DFB1-E4CF-221C-DFFC5F8B3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33869-4C6A-1F28-AF65-434EAAF8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FC0AE-327C-A478-05E6-DCB2654C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DBC78-7185-C8D1-9D7F-B659EA8B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092DA-5442-0308-E080-E3D032CEE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A68B1-2EA6-8826-13CE-B94100B11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89FE7-F879-FDF0-348D-C28250AD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9EFCD-AAAC-26C9-634E-7844D861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411B1-1C77-F23A-3F9E-B7450188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5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F3D02-1910-1C43-1E7B-B462A0EF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91914-BC8F-8D0E-C978-1DECB675D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B583-56AC-45E5-9C3C-B72A9A058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9852A-1970-44FB-A1E5-72BDCF8DE87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FD5FF-1DD3-75DE-3F3B-871EBF40D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B9D2F-263E-F59A-45A0-0B48DA403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D0371-D607-4776-BEAB-0FB4E7DBB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10FEF04-9FA2-4DD8-EC29-60D92C72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844" y="-4329"/>
            <a:ext cx="7020159" cy="6869586"/>
            <a:chOff x="5171844" y="-11586"/>
            <a:chExt cx="7020159" cy="68695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4A5D8B-34EC-D352-BE87-4809E4CE4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11AD96-CCBD-9812-0D19-0E7C7A79E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F89D92-20DD-C8E9-DF7A-988B09642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F78F10-63E0-611E-AC78-66E24EA30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0532EA-C967-F3BF-FB4F-D2A366BF1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8028" y="1536179"/>
            <a:ext cx="4987793" cy="2135125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NAT Gateway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17" name="Picture 16" descr="The facade of blue walls with holes">
            <a:extLst>
              <a:ext uri="{FF2B5EF4-FFF2-40B4-BE49-F238E27FC236}">
                <a16:creationId xmlns:a16="http://schemas.microsoft.com/office/drawing/2014/main" id="{0B5C0611-806B-3603-C9CE-C9110A38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64" r="17138" b="-2"/>
          <a:stretch>
            <a:fillRect/>
          </a:stretch>
        </p:blipFill>
        <p:spPr>
          <a:xfrm>
            <a:off x="20" y="-7622"/>
            <a:ext cx="5171828" cy="686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5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old and silver sphere balancing on a platform">
            <a:extLst>
              <a:ext uri="{FF2B5EF4-FFF2-40B4-BE49-F238E27FC236}">
                <a16:creationId xmlns:a16="http://schemas.microsoft.com/office/drawing/2014/main" id="{B10497BD-68E3-6677-0B26-50662832D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833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BED8B-66AA-EA0B-3349-05F679F8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/>
              <a:t>What it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77D3B-0A7B-7AF4-E2B5-690F371D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1400"/>
              <a:t>AWS-managed NAT service (no manual setup like NAT Instance).</a:t>
            </a:r>
          </a:p>
          <a:p>
            <a:r>
              <a:rPr lang="en-US" sz="1400"/>
              <a:t>Provides high availability, scalability, and no administration overhead.</a:t>
            </a:r>
          </a:p>
          <a:p>
            <a:r>
              <a:rPr lang="en-US" sz="1400" b="1"/>
              <a:t>Key Features</a:t>
            </a:r>
          </a:p>
          <a:p>
            <a:pPr marL="228600" lvl="1">
              <a:spcBef>
                <a:spcPts val="1000"/>
              </a:spcBef>
            </a:pPr>
            <a:r>
              <a:rPr lang="en-US" sz="1400" b="1"/>
              <a:t>AWS Managed:</a:t>
            </a:r>
            <a:r>
              <a:rPr lang="en-US" sz="1400"/>
              <a:t> No need to patch, configure, or disable source/dest checks.</a:t>
            </a:r>
          </a:p>
          <a:p>
            <a:r>
              <a:rPr lang="en-US" sz="1400" b="1"/>
              <a:t>High Bandwidth:</a:t>
            </a:r>
            <a:endParaRPr lang="en-US" sz="1400"/>
          </a:p>
          <a:p>
            <a:pPr marL="228600" lvl="1">
              <a:spcBef>
                <a:spcPts val="1000"/>
              </a:spcBef>
            </a:pPr>
            <a:r>
              <a:rPr lang="en-US" sz="1400"/>
              <a:t>Starts at 5 Gbps.</a:t>
            </a:r>
          </a:p>
          <a:p>
            <a:pPr marL="228600" lvl="1">
              <a:spcBef>
                <a:spcPts val="1000"/>
              </a:spcBef>
            </a:pPr>
            <a:r>
              <a:rPr lang="en-US" sz="1400"/>
              <a:t>Scales automatically up to 100 Gbps.</a:t>
            </a:r>
          </a:p>
          <a:p>
            <a:r>
              <a:rPr lang="en-US" sz="1400" b="1"/>
              <a:t>High Availability:</a:t>
            </a:r>
            <a:r>
              <a:rPr lang="en-US" sz="1400"/>
              <a:t> Built to be redundant in the Availability Zone.</a:t>
            </a:r>
          </a:p>
          <a:p>
            <a:r>
              <a:rPr lang="en-US" sz="1400" b="1"/>
              <a:t>Elastic IP:</a:t>
            </a:r>
            <a:r>
              <a:rPr lang="en-US" sz="1400"/>
              <a:t> NATGW requires an Elastic IP at creation.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39851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313F-20B1-9D08-D5B1-F323BC4E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/>
              <a:t>Subnet Restriction:</a:t>
            </a:r>
            <a:endParaRPr lang="en-US" sz="1500"/>
          </a:p>
          <a:p>
            <a:pPr lvl="1"/>
            <a:r>
              <a:rPr lang="en-US" sz="1500"/>
              <a:t>NATGW is deployed in a Public Subnet.</a:t>
            </a:r>
          </a:p>
          <a:p>
            <a:pPr lvl="1"/>
            <a:r>
              <a:rPr lang="en-US" sz="1500"/>
              <a:t>EC2 instances in Private Subnets route traffic to it.</a:t>
            </a:r>
          </a:p>
          <a:p>
            <a:pPr lvl="1"/>
            <a:r>
              <a:rPr lang="en-US" sz="1500"/>
              <a:t>EC2s in the same subnet as NATGW cannot use it.</a:t>
            </a:r>
          </a:p>
          <a:p>
            <a:pPr marL="0" indent="0">
              <a:buNone/>
            </a:pPr>
            <a:r>
              <a:rPr lang="en-US" sz="1500" b="1"/>
              <a:t>Internet Access Path:</a:t>
            </a:r>
            <a:endParaRPr lang="en-US" sz="1500"/>
          </a:p>
          <a:p>
            <a:pPr lvl="1"/>
            <a:r>
              <a:rPr lang="en-US" sz="1500"/>
              <a:t>Private Subnet → NATGW → Internet Gateway (IGW).</a:t>
            </a:r>
          </a:p>
          <a:p>
            <a:pPr marL="0" indent="0">
              <a:buNone/>
            </a:pPr>
            <a:r>
              <a:rPr lang="en-US" sz="1500" b="1"/>
              <a:t>Cost</a:t>
            </a:r>
          </a:p>
          <a:p>
            <a:r>
              <a:rPr lang="en-US" sz="1500"/>
              <a:t>Pay per hour + per GB processed (usage-based pricing).</a:t>
            </a:r>
          </a:p>
          <a:p>
            <a:r>
              <a:rPr lang="en-US" sz="1500"/>
              <a:t>More expensive than NAT Instance, but less admin overhead.</a:t>
            </a:r>
          </a:p>
          <a:p>
            <a:pPr marL="0" indent="0">
              <a:buNone/>
            </a:pPr>
            <a:r>
              <a:rPr lang="en-US" sz="1500" b="1"/>
              <a:t>Security</a:t>
            </a:r>
          </a:p>
          <a:p>
            <a:r>
              <a:rPr lang="en-US" sz="1500"/>
              <a:t>No Security Groups required.</a:t>
            </a:r>
          </a:p>
          <a:p>
            <a:r>
              <a:rPr lang="en-US" sz="1500"/>
              <a:t>Security is handled automatically by AWS networking layer.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3816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61363-28D2-BD38-60ED-D24F7ACC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b="1"/>
              <a:t>NAT Gateway – High Availability</a:t>
            </a:r>
            <a:br>
              <a:rPr lang="en-US" b="1"/>
            </a:b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FF95FCD-FF28-F757-DF9A-F4FD890E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 1. Resiliency within One AZ</a:t>
            </a:r>
          </a:p>
          <a:p>
            <a:r>
              <a:rPr lang="en-US" sz="2000"/>
              <a:t>A NAT Gateway is highly available and redundant inside a single AZ.</a:t>
            </a:r>
          </a:p>
          <a:p>
            <a:r>
              <a:rPr lang="en-US" sz="2000"/>
              <a:t>AWS ensures no single point of failure within that AZ.</a:t>
            </a:r>
          </a:p>
          <a:p>
            <a:pPr marL="0" indent="0">
              <a:buNone/>
            </a:pPr>
            <a:r>
              <a:rPr lang="en-US" sz="2000" b="1"/>
              <a:t>2. </a:t>
            </a:r>
            <a:r>
              <a:rPr lang="en-US" sz="2000"/>
              <a:t>Multi-AZ Setup (Best Practice)</a:t>
            </a:r>
          </a:p>
          <a:p>
            <a:r>
              <a:rPr lang="en-US" sz="2000"/>
              <a:t>If your workloads run in multiple AZs, create one NAT Gateway per AZ.</a:t>
            </a:r>
          </a:p>
          <a:p>
            <a:r>
              <a:rPr lang="en-US" sz="2000"/>
              <a:t>Each private subnet in an AZ must route to the NAT Gateway in the same AZ.</a:t>
            </a:r>
          </a:p>
          <a:p>
            <a:r>
              <a:rPr lang="en-US" sz="2000"/>
              <a:t>Avoid cross-AZ routing → it increases cost and latency.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4317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ABFE-5AA3-5E93-D7BB-64BAB3B5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b="1"/>
              <a:t>3. Why No Cross-AZ Failover?</a:t>
            </a:r>
          </a:p>
          <a:p>
            <a:r>
              <a:rPr lang="en-US" sz="1500"/>
              <a:t>If an AZ goes down, the EC2 instances in that AZ are also down.</a:t>
            </a:r>
          </a:p>
          <a:p>
            <a:r>
              <a:rPr lang="en-US" sz="1500"/>
              <a:t>Since the instances are unavailable, NAT failover is not required.</a:t>
            </a:r>
          </a:p>
          <a:p>
            <a:r>
              <a:rPr lang="en-US" sz="1500"/>
              <a:t>Other AZs continue using their own NATGW normally.</a:t>
            </a:r>
          </a:p>
          <a:p>
            <a:pPr marL="0" indent="0">
              <a:buNone/>
            </a:pPr>
            <a:r>
              <a:rPr lang="en-US" sz="1500" b="1"/>
              <a:t>4. Example</a:t>
            </a:r>
          </a:p>
          <a:p>
            <a:r>
              <a:rPr lang="en-US" sz="1500"/>
              <a:t>Imagine a Region with 2 AZs:</a:t>
            </a:r>
          </a:p>
          <a:p>
            <a:r>
              <a:rPr lang="en-US" sz="1500"/>
              <a:t>AZ-A → NATGW-A → Internet</a:t>
            </a:r>
          </a:p>
          <a:p>
            <a:r>
              <a:rPr lang="en-US" sz="1500"/>
              <a:t>AZ-B → NATGW-B → Internet</a:t>
            </a:r>
          </a:p>
          <a:p>
            <a:r>
              <a:rPr lang="en-US" sz="1500"/>
              <a:t>If AZ-A fails → both EC2 and NATGW in AZ-A are unavailable.</a:t>
            </a:r>
            <a:br>
              <a:rPr lang="en-US" sz="1500"/>
            </a:br>
            <a:r>
              <a:rPr lang="en-US" sz="1500"/>
              <a:t>AZ-B workloads and NATGW continue working without any issue.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9735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343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NAT Gateway</vt:lpstr>
      <vt:lpstr>What it is</vt:lpstr>
      <vt:lpstr>PowerPoint Presentation</vt:lpstr>
      <vt:lpstr>NAT Gateway – High Availability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2025-09-12T07:47:22Z</dcterms:created>
  <dcterms:modified xsi:type="dcterms:W3CDTF">2025-09-12T08:18:41Z</dcterms:modified>
</cp:coreProperties>
</file>