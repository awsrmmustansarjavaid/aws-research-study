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2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3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9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7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2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5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8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2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5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6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39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9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DA8FA-9DCB-0A51-2BE8-81233FE3D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434438"/>
            <a:ext cx="2983229" cy="2612976"/>
          </a:xfrm>
        </p:spPr>
        <p:txBody>
          <a:bodyPr anchor="t"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Amazon S3 Replication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3D8E2-4767-6549-621F-712A871D1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130979"/>
            <a:ext cx="2983229" cy="1160231"/>
          </a:xfrm>
        </p:spPr>
        <p:txBody>
          <a:bodyPr anchor="b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(CRR &amp; SRR)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4004E-800A-0E51-EA74-CE826F39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8" b="13797"/>
          <a:stretch>
            <a:fillRect/>
          </a:stretch>
        </p:blipFill>
        <p:spPr>
          <a:xfrm>
            <a:off x="4229100" y="1348774"/>
            <a:ext cx="7290648" cy="410088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4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C91F2-4766-C395-35E4-FF3BEAD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latin typeface="Arial" panose="020B0604020202020204" pitchFamily="34" charset="0"/>
                <a:cs typeface="Arial" panose="020B0604020202020204" pitchFamily="34" charset="0"/>
              </a:rPr>
              <a:t>What is S3 Replication?</a:t>
            </a:r>
            <a:br>
              <a:rPr lang="en-US" sz="3400"/>
            </a:br>
            <a:endParaRPr lang="en-US" sz="3400" dirty="0"/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56821855-F0A7-9040-ABED-0DA6C51A2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956816"/>
            <a:ext cx="4343400" cy="434340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427A-758D-E12C-808D-146B0D1C5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S3 Replication is a feature that automatically copies objects from one S3 bucket (source) to another S3 bucket (destination).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It helps to maintain backup, disaster recovery, and multi-region data availability.</a:t>
            </a:r>
            <a:b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Replication can be within the same region or across regions.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There are two main types: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SRR – Same Region Replication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CRR – Cross Region Replication</a:t>
            </a:r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2004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08FFF-6739-8922-A580-E49BE4C41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Why Use S3 Replication?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151AA9-73F3-06BE-505D-DB8720BE9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455627"/>
              </p:ext>
            </p:extLst>
          </p:nvPr>
        </p:nvGraphicFramePr>
        <p:xfrm>
          <a:off x="5051651" y="1640469"/>
          <a:ext cx="6479358" cy="4388586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566089">
                  <a:extLst>
                    <a:ext uri="{9D8B030D-6E8A-4147-A177-3AD203B41FA5}">
                      <a16:colId xmlns:a16="http://schemas.microsoft.com/office/drawing/2014/main" val="2185328319"/>
                    </a:ext>
                  </a:extLst>
                </a:gridCol>
                <a:gridCol w="3913269">
                  <a:extLst>
                    <a:ext uri="{9D8B030D-6E8A-4147-A177-3AD203B41FA5}">
                      <a16:colId xmlns:a16="http://schemas.microsoft.com/office/drawing/2014/main" val="2340362910"/>
                    </a:ext>
                  </a:extLst>
                </a:gridCol>
              </a:tblGrid>
              <a:tr h="409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Reason</a:t>
                      </a: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Explanation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97077"/>
                  </a:ext>
                </a:extLst>
              </a:tr>
              <a:tr h="62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Backup &amp; Recovery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Automatically keeps a copy of your data in another bucket or region.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994768"/>
                  </a:ext>
                </a:extLst>
              </a:tr>
              <a:tr h="62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Disaster Recovery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one region or bucket fails, your data is safe in another.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571446"/>
                  </a:ext>
                </a:extLst>
              </a:tr>
              <a:tr h="84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Requirements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 companies need to keep data in specific geographic regions for legal compliance.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044889"/>
                  </a:ext>
                </a:extLst>
              </a:tr>
              <a:tr h="62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Optimization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Reduces latency for users in other regions by storing copies closer to them.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811854"/>
                  </a:ext>
                </a:extLst>
              </a:tr>
              <a:tr h="62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Cross-Account Sharing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Helps copy data between AWS accounts securely.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47087"/>
                  </a:ext>
                </a:extLst>
              </a:tr>
              <a:tr h="62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 &amp; Logs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6386" marR="72981" marT="81835" marB="8183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Developers can replicate production data to test environments safely.</a:t>
                      </a:r>
                    </a:p>
                  </a:txBody>
                  <a:tcPr marL="106386" marR="72981" marT="81835" marB="8183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20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70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369AD-42FD-EB4D-D9FF-C05E9383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  <a:br>
              <a:rPr lang="en-US" sz="3400" dirty="0"/>
            </a:br>
            <a:endParaRPr lang="en-US" sz="3400" dirty="0"/>
          </a:p>
        </p:txBody>
      </p:sp>
      <p:pic>
        <p:nvPicPr>
          <p:cNvPr id="14" name="Picture 13" descr="Multi-colored chairs">
            <a:extLst>
              <a:ext uri="{FF2B5EF4-FFF2-40B4-BE49-F238E27FC236}">
                <a16:creationId xmlns:a16="http://schemas.microsoft.com/office/drawing/2014/main" id="{95D458BF-CA71-ED87-C547-ECA8434A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09" r="18532" b="2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FB327-4821-5565-8718-160AB8C0C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Enable Versioning on both Source and Destination buckets.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Configure a Replication Rule (choose CRR or SRR).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S3 automatically copies new objects uploaded after enabling replication.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Replication happens asynchronously (takes a short delay).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Optionally, use S3 Batch Replication for older data.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9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C4E4D-D1DF-0B8E-7E63-53E90D32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3099816" cy="147781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Types of Replication</a:t>
            </a:r>
            <a:br>
              <a:rPr lang="en-US" sz="3300" dirty="0"/>
            </a:br>
            <a:endParaRPr lang="en-US" sz="3300" dirty="0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E6292125-1D38-022F-9664-D0DCFAF7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52" r="8991" b="-4"/>
          <a:stretch>
            <a:fillRect/>
          </a:stretch>
        </p:blipFill>
        <p:spPr>
          <a:xfrm>
            <a:off x="1" y="2613892"/>
            <a:ext cx="3739895" cy="3689359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3739896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4054-33D4-8AD1-13BE-F20F49F02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537" y="1014984"/>
            <a:ext cx="7205472" cy="52882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Same Region Replication (SRR)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Replication happens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within the same AWS Region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 Cases: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Collecting logs from different applications into one central bucket.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Creating backup copies of critical data.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Replicating data between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environments.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 Bucket: app-logs-prod (us-east-1)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Destination Bucket: app-logs-backup (us-east-1)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new log files from the production bucket automatically copy into the backup bucket.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7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1DD81-3EC5-2BEF-AE05-9D084D29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794760"/>
            <a:ext cx="3975869" cy="205521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latin typeface="Arial" panose="020B0604020202020204" pitchFamily="34" charset="0"/>
                <a:cs typeface="Arial" panose="020B0604020202020204" pitchFamily="34" charset="0"/>
              </a:rPr>
              <a:t>2. Cross Region Replication (CRR)</a:t>
            </a:r>
            <a:br>
              <a:rPr lang="en-US" sz="3400"/>
            </a:br>
            <a:endParaRPr lang="en-US" sz="3400"/>
          </a:p>
        </p:txBody>
      </p:sp>
      <p:pic>
        <p:nvPicPr>
          <p:cNvPr id="22" name="Graphic 21" descr="Syncing Cloud">
            <a:extLst>
              <a:ext uri="{FF2B5EF4-FFF2-40B4-BE49-F238E27FC236}">
                <a16:creationId xmlns:a16="http://schemas.microsoft.com/office/drawing/2014/main" id="{6300C301-52A6-2449-76F1-B57F8E8C7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832104"/>
            <a:ext cx="2596896" cy="25968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B3FB-C7B9-7EEB-FD37-26EF8888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536" y="914399"/>
            <a:ext cx="6056039" cy="5164175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Replication happens 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between different AWS Regions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Use Cases: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Compliance — keeping data in another region due to legal rules.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Reducing latency for users in other regions.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Disaster recovery setup.</a:t>
            </a:r>
          </a:p>
          <a:p>
            <a:pPr>
              <a:lnSpc>
                <a:spcPct val="110000"/>
              </a:lnSpc>
            </a:pP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Source Bucket: media-data-us-east-1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Destination Bucket: media-data-eu-west-1</a:t>
            </a:r>
          </a:p>
          <a:p>
            <a:pPr>
              <a:lnSpc>
                <a:spcPct val="110000"/>
              </a:lnSpc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If the US region goes down, your data still exists safely in Europe.</a:t>
            </a:r>
            <a:b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European users can also download data faster.</a:t>
            </a:r>
          </a:p>
          <a:p>
            <a:pPr>
              <a:lnSpc>
                <a:spcPct val="110000"/>
              </a:lnSpc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B646F3-FFAB-11FA-9A88-F695FA818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88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59403-FC4D-8341-D1D6-511A1D55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/>
              <a:t>Amazon S3 – Replication (Notes)</a:t>
            </a:r>
          </a:p>
        </p:txBody>
      </p:sp>
      <p:pic>
        <p:nvPicPr>
          <p:cNvPr id="15" name="Graphic 14" descr="Sync">
            <a:extLst>
              <a:ext uri="{FF2B5EF4-FFF2-40B4-BE49-F238E27FC236}">
                <a16:creationId xmlns:a16="http://schemas.microsoft.com/office/drawing/2014/main" id="{D4009DA0-F69C-7B15-1210-DD7D97CCD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EB673-6D6B-F694-8A8C-531F86801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After you enable Replication, only new objects are replicated 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Optionally, you can replicate existing objects using S3 Batch Replication 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Replicates existing objects and objects that failed replication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For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DELETE operations: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Can replicate delete markers from source to target (optional setting) 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Deletions with a version ID are not replicated (to avoid malicious deletes)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There is no “chaining” of replication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If bucket 1 has replication into bucket 2, which has replication into bucket 3 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Then objects created in bucket 1 are not replicated to bucket 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0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DD2C9-D67E-87B0-0181-89376CB3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br>
              <a:rPr lang="en-US" sz="3400"/>
            </a:br>
            <a:endParaRPr lang="en-US" sz="3400"/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75E46D7A-DFA7-C65B-611A-8AF9DD7B1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956816"/>
            <a:ext cx="4343400" cy="434340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3EE70-EEDB-405B-140D-FB59F2EE5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Company: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Tech-Stream Media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Goal: Improve data availability and disaster recovery.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Setup: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Main S3 bucket in us-east-1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Backup bucket in eu-west-1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Enabled CRR for replication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the main bucket region goes down, users in Europe still access their files from the backup bucket.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setup also meets EU data residency laws and improves access speed for European users.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38243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556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Amazon S3 Replication  </vt:lpstr>
      <vt:lpstr>What is S3 Replication? </vt:lpstr>
      <vt:lpstr>Why Use S3 Replication?</vt:lpstr>
      <vt:lpstr>How It Works </vt:lpstr>
      <vt:lpstr>Types of Replication </vt:lpstr>
      <vt:lpstr>2. Cross Region Replication (CRR) </vt:lpstr>
      <vt:lpstr>Amazon S3 – Replication (Notes)</vt:lpstr>
      <vt:lpstr>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2</cp:revision>
  <dcterms:created xsi:type="dcterms:W3CDTF">2025-10-22T07:48:16Z</dcterms:created>
  <dcterms:modified xsi:type="dcterms:W3CDTF">2025-10-22T08:56:19Z</dcterms:modified>
</cp:coreProperties>
</file>